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Inter" panose="020B0604020202020204" charset="0"/>
      <p:regular r:id="rId23"/>
    </p:embeddedFont>
    <p:embeddedFont>
      <p:font typeface="Inter Bold" panose="020B0604020202020204" charset="0"/>
      <p:regular r:id="rId24"/>
    </p:embeddedFont>
    <p:embeddedFont>
      <p:font typeface="Montserrat" panose="00000500000000000000" pitchFamily="2" charset="0"/>
      <p:regular r:id="rId25"/>
      <p:bold r:id="rId26"/>
      <p:italic r:id="rId27"/>
      <p:boldItalic r:id="rId28"/>
    </p:embeddedFont>
    <p:embeddedFont>
      <p:font typeface="Montserrat Bold" panose="00000800000000000000" charset="0"/>
      <p:regular r:id="rId29"/>
    </p:embeddedFont>
    <p:embeddedFont>
      <p:font typeface="Montserrat Classic" panose="020B0604020202020204" charset="0"/>
      <p:regular r:id="rId30"/>
    </p:embeddedFont>
    <p:embeddedFont>
      <p:font typeface="Montserrat Classic Bold" panose="020B0604020202020204" charset="0"/>
      <p:regular r:id="rId31"/>
    </p:embeddedFont>
    <p:embeddedFont>
      <p:font typeface="Open Sans Bold" panose="020B0604020202020204" charset="0"/>
      <p:regular r:id="rId32"/>
    </p:embeddedFont>
    <p:embeddedFont>
      <p:font typeface="Poppins Bold"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E4A4F"/>
    <a:srgbClr val="FF57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105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svg"/><Relationship Id="rId18" Type="http://schemas.openxmlformats.org/officeDocument/2006/relationships/image" Target="../media/image38.png"/><Relationship Id="rId3" Type="http://schemas.openxmlformats.org/officeDocument/2006/relationships/image" Target="../media/image23.svg"/><Relationship Id="rId7" Type="http://schemas.openxmlformats.org/officeDocument/2006/relationships/image" Target="../media/image27.svg"/><Relationship Id="rId12" Type="http://schemas.openxmlformats.org/officeDocument/2006/relationships/image" Target="../media/image32.png"/><Relationship Id="rId17" Type="http://schemas.openxmlformats.org/officeDocument/2006/relationships/image" Target="../media/image37.svg"/><Relationship Id="rId2" Type="http://schemas.openxmlformats.org/officeDocument/2006/relationships/image" Target="../media/image22.png"/><Relationship Id="rId16"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1.svg"/><Relationship Id="rId5" Type="http://schemas.openxmlformats.org/officeDocument/2006/relationships/image" Target="../media/image25.svg"/><Relationship Id="rId15" Type="http://schemas.openxmlformats.org/officeDocument/2006/relationships/image" Target="../media/image35.svg"/><Relationship Id="rId10" Type="http://schemas.openxmlformats.org/officeDocument/2006/relationships/image" Target="../media/image30.png"/><Relationship Id="rId19" Type="http://schemas.openxmlformats.org/officeDocument/2006/relationships/image" Target="../media/image39.svg"/><Relationship Id="rId4" Type="http://schemas.openxmlformats.org/officeDocument/2006/relationships/image" Target="../media/image24.png"/><Relationship Id="rId9" Type="http://schemas.openxmlformats.org/officeDocument/2006/relationships/image" Target="../media/image29.svg"/><Relationship Id="rId1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Freeform 2"/>
          <p:cNvSpPr/>
          <p:nvPr/>
        </p:nvSpPr>
        <p:spPr>
          <a:xfrm flipH="1">
            <a:off x="6301242" y="8616642"/>
            <a:ext cx="438008" cy="312180"/>
          </a:xfrm>
          <a:custGeom>
            <a:avLst/>
            <a:gdLst/>
            <a:ahLst/>
            <a:cxnLst/>
            <a:rect l="l" t="t" r="r" b="b"/>
            <a:pathLst>
              <a:path w="438008" h="312180">
                <a:moveTo>
                  <a:pt x="438008" y="0"/>
                </a:moveTo>
                <a:lnTo>
                  <a:pt x="0" y="0"/>
                </a:lnTo>
                <a:lnTo>
                  <a:pt x="0" y="312180"/>
                </a:lnTo>
                <a:lnTo>
                  <a:pt x="438008" y="312180"/>
                </a:lnTo>
                <a:lnTo>
                  <a:pt x="438008"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5025280" y="9100272"/>
            <a:ext cx="7991171" cy="900823"/>
            <a:chOff x="0" y="0"/>
            <a:chExt cx="10654894" cy="1201097"/>
          </a:xfrm>
        </p:grpSpPr>
        <p:sp>
          <p:nvSpPr>
            <p:cNvPr id="4" name="Freeform 4"/>
            <p:cNvSpPr/>
            <p:nvPr/>
          </p:nvSpPr>
          <p:spPr>
            <a:xfrm>
              <a:off x="0" y="0"/>
              <a:ext cx="10654894" cy="1201097"/>
            </a:xfrm>
            <a:custGeom>
              <a:avLst/>
              <a:gdLst/>
              <a:ahLst/>
              <a:cxnLst/>
              <a:rect l="l" t="t" r="r" b="b"/>
              <a:pathLst>
                <a:path w="10654894" h="1201097">
                  <a:moveTo>
                    <a:pt x="0" y="0"/>
                  </a:moveTo>
                  <a:lnTo>
                    <a:pt x="10654894" y="0"/>
                  </a:lnTo>
                  <a:lnTo>
                    <a:pt x="10654894" y="1201097"/>
                  </a:lnTo>
                  <a:lnTo>
                    <a:pt x="0" y="12010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a:off x="9367739" y="336203"/>
              <a:ext cx="741786" cy="528691"/>
            </a:xfrm>
            <a:custGeom>
              <a:avLst/>
              <a:gdLst/>
              <a:ahLst/>
              <a:cxnLst/>
              <a:rect l="l" t="t" r="r" b="b"/>
              <a:pathLst>
                <a:path w="741786" h="528691">
                  <a:moveTo>
                    <a:pt x="0" y="0"/>
                  </a:moveTo>
                  <a:lnTo>
                    <a:pt x="741785" y="0"/>
                  </a:lnTo>
                  <a:lnTo>
                    <a:pt x="741785" y="528691"/>
                  </a:lnTo>
                  <a:lnTo>
                    <a:pt x="0" y="5286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2639854" y="325476"/>
              <a:ext cx="5375186" cy="502520"/>
            </a:xfrm>
            <a:prstGeom prst="rect">
              <a:avLst/>
            </a:prstGeom>
          </p:spPr>
          <p:txBody>
            <a:bodyPr lIns="0" tIns="0" rIns="0" bIns="0" rtlCol="0" anchor="t">
              <a:spAutoFit/>
            </a:bodyPr>
            <a:lstStyle/>
            <a:p>
              <a:pPr algn="ctr">
                <a:lnSpc>
                  <a:spcPts val="3200"/>
                </a:lnSpc>
              </a:pPr>
              <a:r>
                <a:rPr lang="en-US" sz="2286" b="1">
                  <a:solidFill>
                    <a:srgbClr val="FFFFFF"/>
                  </a:solidFill>
                  <a:latin typeface="Open Sans Bold"/>
                  <a:ea typeface="Open Sans Bold"/>
                  <a:cs typeface="Open Sans Bold"/>
                  <a:sym typeface="Open Sans Bold"/>
                </a:rPr>
                <a:t>Get Started</a:t>
              </a:r>
            </a:p>
          </p:txBody>
        </p:sp>
      </p:grpSp>
      <p:sp>
        <p:nvSpPr>
          <p:cNvPr id="7" name="TextBox 7"/>
          <p:cNvSpPr txBox="1"/>
          <p:nvPr/>
        </p:nvSpPr>
        <p:spPr>
          <a:xfrm>
            <a:off x="5914662" y="2731911"/>
            <a:ext cx="5787253" cy="1149317"/>
          </a:xfrm>
          <a:prstGeom prst="rect">
            <a:avLst/>
          </a:prstGeom>
        </p:spPr>
        <p:txBody>
          <a:bodyPr lIns="0" tIns="0" rIns="0" bIns="0" rtlCol="0" anchor="t">
            <a:spAutoFit/>
          </a:bodyPr>
          <a:lstStyle/>
          <a:p>
            <a:pPr algn="r">
              <a:lnSpc>
                <a:spcPts val="8800"/>
              </a:lnSpc>
            </a:pPr>
            <a:r>
              <a:rPr lang="en-US" sz="8000" b="1">
                <a:solidFill>
                  <a:srgbClr val="FFFFFF"/>
                </a:solidFill>
                <a:latin typeface="Montserrat Classic Bold"/>
                <a:ea typeface="Montserrat Classic Bold"/>
                <a:cs typeface="Montserrat Classic Bold"/>
                <a:sym typeface="Montserrat Classic Bold"/>
              </a:rPr>
              <a:t>LESSON 5</a:t>
            </a:r>
          </a:p>
        </p:txBody>
      </p:sp>
      <p:grpSp>
        <p:nvGrpSpPr>
          <p:cNvPr id="8" name="Group 8"/>
          <p:cNvGrpSpPr/>
          <p:nvPr/>
        </p:nvGrpSpPr>
        <p:grpSpPr>
          <a:xfrm>
            <a:off x="2110641" y="4224412"/>
            <a:ext cx="14717778" cy="2927985"/>
            <a:chOff x="0" y="0"/>
            <a:chExt cx="19623704" cy="3903980"/>
          </a:xfrm>
        </p:grpSpPr>
        <p:sp>
          <p:nvSpPr>
            <p:cNvPr id="9" name="TextBox 9"/>
            <p:cNvSpPr txBox="1"/>
            <p:nvPr/>
          </p:nvSpPr>
          <p:spPr>
            <a:xfrm>
              <a:off x="0" y="66675"/>
              <a:ext cx="19623704" cy="3040504"/>
            </a:xfrm>
            <a:prstGeom prst="rect">
              <a:avLst/>
            </a:prstGeom>
          </p:spPr>
          <p:txBody>
            <a:bodyPr lIns="0" tIns="0" rIns="0" bIns="0" rtlCol="0" anchor="t">
              <a:spAutoFit/>
            </a:bodyPr>
            <a:lstStyle/>
            <a:p>
              <a:pPr algn="ctr">
                <a:lnSpc>
                  <a:spcPts val="8800"/>
                </a:lnSpc>
              </a:pPr>
              <a:r>
                <a:rPr lang="en-US" sz="8000" b="1">
                  <a:solidFill>
                    <a:srgbClr val="00B9EF"/>
                  </a:solidFill>
                  <a:latin typeface="Montserrat Classic Bold"/>
                  <a:ea typeface="Montserrat Classic Bold"/>
                  <a:cs typeface="Montserrat Classic Bold"/>
                  <a:sym typeface="Montserrat Classic Bold"/>
                </a:rPr>
                <a:t>LEADERSHIP PRINCIPLE</a:t>
              </a:r>
            </a:p>
            <a:p>
              <a:pPr algn="ctr">
                <a:lnSpc>
                  <a:spcPts val="8800"/>
                </a:lnSpc>
              </a:pPr>
              <a:r>
                <a:rPr lang="en-US" sz="8000">
                  <a:solidFill>
                    <a:srgbClr val="00B9EF"/>
                  </a:solidFill>
                  <a:latin typeface="Montserrat Classic"/>
                  <a:ea typeface="Montserrat Classic"/>
                  <a:cs typeface="Montserrat Classic"/>
                  <a:sym typeface="Montserrat Classic"/>
                </a:rPr>
                <a:t>OWNERSHIP</a:t>
              </a:r>
            </a:p>
          </p:txBody>
        </p:sp>
        <p:sp>
          <p:nvSpPr>
            <p:cNvPr id="10" name="TextBox 10"/>
            <p:cNvSpPr txBox="1"/>
            <p:nvPr/>
          </p:nvSpPr>
          <p:spPr>
            <a:xfrm>
              <a:off x="1623003" y="3364354"/>
              <a:ext cx="15997452" cy="539626"/>
            </a:xfrm>
            <a:prstGeom prst="rect">
              <a:avLst/>
            </a:prstGeom>
          </p:spPr>
          <p:txBody>
            <a:bodyPr lIns="0" tIns="0" rIns="0" bIns="0" rtlCol="0" anchor="t">
              <a:spAutoFit/>
            </a:bodyPr>
            <a:lstStyle/>
            <a:p>
              <a:pPr algn="ctr">
                <a:lnSpc>
                  <a:spcPts val="3079"/>
                </a:lnSpc>
              </a:pPr>
              <a:r>
                <a:rPr lang="en-US" sz="2799" b="1" spc="977">
                  <a:solidFill>
                    <a:srgbClr val="FFFFFF"/>
                  </a:solidFill>
                  <a:latin typeface="Montserrat Classic Bold"/>
                  <a:ea typeface="Montserrat Classic Bold"/>
                  <a:cs typeface="Montserrat Classic Bold"/>
                  <a:sym typeface="Montserrat Classic Bold"/>
                </a:rPr>
                <a:t>BEHAVIORAL INTERVIEW COURSE</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grpSp>
        <p:nvGrpSpPr>
          <p:cNvPr id="2" name="Group 2"/>
          <p:cNvGrpSpPr/>
          <p:nvPr/>
        </p:nvGrpSpPr>
        <p:grpSpPr>
          <a:xfrm>
            <a:off x="299262" y="4539810"/>
            <a:ext cx="2697079" cy="2697079"/>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AA0FF0"/>
            </a:solidFill>
          </p:spPr>
          <p:txBody>
            <a:bodyPr/>
            <a:lstStyle/>
            <a:p>
              <a:endParaRPr lang="en-US"/>
            </a:p>
          </p:txBody>
        </p:sp>
      </p:grpSp>
      <p:sp>
        <p:nvSpPr>
          <p:cNvPr id="4" name="Freeform 4"/>
          <p:cNvSpPr/>
          <p:nvPr/>
        </p:nvSpPr>
        <p:spPr>
          <a:xfrm>
            <a:off x="741202" y="5055410"/>
            <a:ext cx="1813201" cy="1665878"/>
          </a:xfrm>
          <a:custGeom>
            <a:avLst/>
            <a:gdLst/>
            <a:ahLst/>
            <a:cxnLst/>
            <a:rect l="l" t="t" r="r" b="b"/>
            <a:pathLst>
              <a:path w="1813201" h="1665878">
                <a:moveTo>
                  <a:pt x="0" y="0"/>
                </a:moveTo>
                <a:lnTo>
                  <a:pt x="1813200" y="0"/>
                </a:lnTo>
                <a:lnTo>
                  <a:pt x="1813200" y="1665879"/>
                </a:lnTo>
                <a:lnTo>
                  <a:pt x="0" y="16658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1213107">
            <a:off x="2868045" y="3321923"/>
            <a:ext cx="3270377" cy="715395"/>
          </a:xfrm>
          <a:custGeom>
            <a:avLst/>
            <a:gdLst/>
            <a:ahLst/>
            <a:cxnLst/>
            <a:rect l="l" t="t" r="r" b="b"/>
            <a:pathLst>
              <a:path w="3270377" h="715395">
                <a:moveTo>
                  <a:pt x="0" y="0"/>
                </a:moveTo>
                <a:lnTo>
                  <a:pt x="3270377" y="0"/>
                </a:lnTo>
                <a:lnTo>
                  <a:pt x="3270377" y="715395"/>
                </a:lnTo>
                <a:lnTo>
                  <a:pt x="0" y="7153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p:cNvSpPr txBox="1"/>
          <p:nvPr/>
        </p:nvSpPr>
        <p:spPr>
          <a:xfrm>
            <a:off x="7660409" y="2797892"/>
            <a:ext cx="6212677" cy="432435"/>
          </a:xfrm>
          <a:prstGeom prst="rect">
            <a:avLst/>
          </a:prstGeom>
        </p:spPr>
        <p:txBody>
          <a:bodyPr lIns="0" tIns="0" rIns="0" bIns="0" rtlCol="0" anchor="t">
            <a:spAutoFit/>
          </a:bodyPr>
          <a:lstStyle/>
          <a:p>
            <a:pPr algn="l">
              <a:lnSpc>
                <a:spcPts val="3419"/>
              </a:lnSpc>
            </a:pPr>
            <a:r>
              <a:rPr lang="en-US" sz="3000">
                <a:solidFill>
                  <a:srgbClr val="FFFFFF"/>
                </a:solidFill>
                <a:latin typeface="Montserrat"/>
                <a:ea typeface="Montserrat"/>
                <a:cs typeface="Montserrat"/>
                <a:sym typeface="Montserrat"/>
              </a:rPr>
              <a:t>Revise question 3 &amp; 4  lesson 3</a:t>
            </a:r>
          </a:p>
        </p:txBody>
      </p:sp>
      <p:sp>
        <p:nvSpPr>
          <p:cNvPr id="7" name="TextBox 7"/>
          <p:cNvSpPr txBox="1"/>
          <p:nvPr/>
        </p:nvSpPr>
        <p:spPr>
          <a:xfrm>
            <a:off x="7660409" y="5010615"/>
            <a:ext cx="9598891" cy="1744067"/>
          </a:xfrm>
          <a:prstGeom prst="rect">
            <a:avLst/>
          </a:prstGeom>
        </p:spPr>
        <p:txBody>
          <a:bodyPr lIns="0" tIns="0" rIns="0" bIns="0" rtlCol="0" anchor="t">
            <a:spAutoFit/>
          </a:bodyPr>
          <a:lstStyle/>
          <a:p>
            <a:pPr algn="l">
              <a:lnSpc>
                <a:spcPts val="3419"/>
              </a:lnSpc>
            </a:pPr>
            <a:r>
              <a:rPr lang="en-US" sz="3000" dirty="0">
                <a:solidFill>
                  <a:srgbClr val="FFFFFF"/>
                </a:solidFill>
                <a:latin typeface="Montserrat"/>
                <a:ea typeface="Montserrat"/>
                <a:cs typeface="Montserrat"/>
                <a:sym typeface="Montserrat"/>
              </a:rPr>
              <a:t>Tell me about a time when you took on something significant outside your area of responsibility. Why was it important? What was the outcome?</a:t>
            </a:r>
          </a:p>
        </p:txBody>
      </p:sp>
      <p:sp>
        <p:nvSpPr>
          <p:cNvPr id="8" name="TextBox 8"/>
          <p:cNvSpPr txBox="1"/>
          <p:nvPr/>
        </p:nvSpPr>
        <p:spPr>
          <a:xfrm>
            <a:off x="7660409" y="8013138"/>
            <a:ext cx="9733380" cy="1718310"/>
          </a:xfrm>
          <a:prstGeom prst="rect">
            <a:avLst/>
          </a:prstGeom>
        </p:spPr>
        <p:txBody>
          <a:bodyPr lIns="0" tIns="0" rIns="0" bIns="0" rtlCol="0" anchor="t">
            <a:spAutoFit/>
          </a:bodyPr>
          <a:lstStyle/>
          <a:p>
            <a:pPr algn="l">
              <a:lnSpc>
                <a:spcPts val="3419"/>
              </a:lnSpc>
            </a:pPr>
            <a:r>
              <a:rPr lang="en-US" sz="3000" dirty="0">
                <a:solidFill>
                  <a:srgbClr val="FFFFFF"/>
                </a:solidFill>
                <a:latin typeface="Montserrat"/>
                <a:ea typeface="Montserrat"/>
                <a:cs typeface="Montserrat"/>
                <a:sym typeface="Montserrat"/>
              </a:rPr>
              <a:t>Tell me about a time when you took full ownership of a project from start to finish. How did you ensure its success?</a:t>
            </a:r>
          </a:p>
          <a:p>
            <a:pPr algn="l">
              <a:lnSpc>
                <a:spcPts val="3419"/>
              </a:lnSpc>
            </a:pPr>
            <a:endParaRPr lang="en-US" sz="3000" dirty="0">
              <a:solidFill>
                <a:srgbClr val="FFFFFF"/>
              </a:solidFill>
              <a:latin typeface="Montserrat"/>
              <a:ea typeface="Montserrat"/>
              <a:cs typeface="Montserrat"/>
              <a:sym typeface="Montserrat"/>
            </a:endParaRPr>
          </a:p>
        </p:txBody>
      </p:sp>
      <p:sp>
        <p:nvSpPr>
          <p:cNvPr id="9" name="TextBox 9"/>
          <p:cNvSpPr txBox="1"/>
          <p:nvPr/>
        </p:nvSpPr>
        <p:spPr>
          <a:xfrm>
            <a:off x="7660409" y="4599450"/>
            <a:ext cx="2437624" cy="392115"/>
          </a:xfrm>
          <a:prstGeom prst="rect">
            <a:avLst/>
          </a:prstGeom>
        </p:spPr>
        <p:txBody>
          <a:bodyPr lIns="0" tIns="0" rIns="0" bIns="0" rtlCol="0" anchor="t">
            <a:spAutoFit/>
          </a:bodyPr>
          <a:lstStyle/>
          <a:p>
            <a:pPr algn="l">
              <a:lnSpc>
                <a:spcPts val="3077"/>
              </a:lnSpc>
            </a:pPr>
            <a:r>
              <a:rPr lang="en-US" sz="2700">
                <a:solidFill>
                  <a:srgbClr val="FFFFFF"/>
                </a:solidFill>
                <a:latin typeface="Montserrat Classic"/>
                <a:ea typeface="Montserrat Classic"/>
                <a:cs typeface="Montserrat Classic"/>
                <a:sym typeface="Montserrat Classic"/>
              </a:rPr>
              <a:t>QUESTION 1</a:t>
            </a:r>
          </a:p>
        </p:txBody>
      </p:sp>
      <p:sp>
        <p:nvSpPr>
          <p:cNvPr id="10" name="TextBox 10"/>
          <p:cNvSpPr txBox="1"/>
          <p:nvPr/>
        </p:nvSpPr>
        <p:spPr>
          <a:xfrm>
            <a:off x="7660409" y="7548075"/>
            <a:ext cx="2437624" cy="392115"/>
          </a:xfrm>
          <a:prstGeom prst="rect">
            <a:avLst/>
          </a:prstGeom>
        </p:spPr>
        <p:txBody>
          <a:bodyPr lIns="0" tIns="0" rIns="0" bIns="0" rtlCol="0" anchor="t">
            <a:spAutoFit/>
          </a:bodyPr>
          <a:lstStyle/>
          <a:p>
            <a:pPr algn="l">
              <a:lnSpc>
                <a:spcPts val="3077"/>
              </a:lnSpc>
            </a:pPr>
            <a:r>
              <a:rPr lang="en-US" sz="2700">
                <a:solidFill>
                  <a:srgbClr val="FFFFFF"/>
                </a:solidFill>
                <a:latin typeface="Montserrat Classic"/>
                <a:ea typeface="Montserrat Classic"/>
                <a:cs typeface="Montserrat Classic"/>
                <a:sym typeface="Montserrat Classic"/>
              </a:rPr>
              <a:t>QUESTION 2</a:t>
            </a:r>
          </a:p>
        </p:txBody>
      </p:sp>
      <p:sp>
        <p:nvSpPr>
          <p:cNvPr id="11" name="TextBox 11"/>
          <p:cNvSpPr txBox="1"/>
          <p:nvPr/>
        </p:nvSpPr>
        <p:spPr>
          <a:xfrm>
            <a:off x="1472942" y="553294"/>
            <a:ext cx="15342116" cy="1312032"/>
          </a:xfrm>
          <a:prstGeom prst="rect">
            <a:avLst/>
          </a:prstGeom>
        </p:spPr>
        <p:txBody>
          <a:bodyPr lIns="0" tIns="0" rIns="0" bIns="0" rtlCol="0" anchor="t">
            <a:spAutoFit/>
          </a:bodyPr>
          <a:lstStyle/>
          <a:p>
            <a:pPr algn="ctr">
              <a:lnSpc>
                <a:spcPts val="5208"/>
              </a:lnSpc>
            </a:pPr>
            <a:r>
              <a:rPr lang="en-US" sz="4200" b="1">
                <a:solidFill>
                  <a:srgbClr val="00B9EF"/>
                </a:solidFill>
                <a:latin typeface="Montserrat Bold"/>
                <a:ea typeface="Montserrat Bold"/>
                <a:cs typeface="Montserrat Bold"/>
                <a:sym typeface="Montserrat Bold"/>
              </a:rPr>
              <a:t>CONTENTS</a:t>
            </a:r>
          </a:p>
          <a:p>
            <a:pPr algn="ctr">
              <a:lnSpc>
                <a:spcPts val="5208"/>
              </a:lnSpc>
            </a:pPr>
            <a:r>
              <a:rPr lang="en-US" sz="4200" b="1">
                <a:solidFill>
                  <a:srgbClr val="00B9EF"/>
                </a:solidFill>
                <a:latin typeface="Montserrat Bold"/>
                <a:ea typeface="Montserrat Bold"/>
                <a:cs typeface="Montserrat Bold"/>
                <a:sym typeface="Montserrat Bold"/>
              </a:rPr>
              <a:t>LEADERSHIP PRINCIPLE: OWNERSHIP</a:t>
            </a:r>
          </a:p>
        </p:txBody>
      </p:sp>
      <p:sp>
        <p:nvSpPr>
          <p:cNvPr id="12" name="Freeform 12"/>
          <p:cNvSpPr/>
          <p:nvPr/>
        </p:nvSpPr>
        <p:spPr>
          <a:xfrm rot="-94520">
            <a:off x="3158939" y="5539618"/>
            <a:ext cx="3270377" cy="715395"/>
          </a:xfrm>
          <a:custGeom>
            <a:avLst/>
            <a:gdLst/>
            <a:ahLst/>
            <a:cxnLst/>
            <a:rect l="l" t="t" r="r" b="b"/>
            <a:pathLst>
              <a:path w="3270377" h="715395">
                <a:moveTo>
                  <a:pt x="0" y="0"/>
                </a:moveTo>
                <a:lnTo>
                  <a:pt x="3270377" y="0"/>
                </a:lnTo>
                <a:lnTo>
                  <a:pt x="3270377" y="715395"/>
                </a:lnTo>
                <a:lnTo>
                  <a:pt x="0" y="7153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Freeform 13"/>
          <p:cNvSpPr/>
          <p:nvPr/>
        </p:nvSpPr>
        <p:spPr>
          <a:xfrm rot="1569951">
            <a:off x="2986504" y="7858490"/>
            <a:ext cx="3270377" cy="715395"/>
          </a:xfrm>
          <a:custGeom>
            <a:avLst/>
            <a:gdLst/>
            <a:ahLst/>
            <a:cxnLst/>
            <a:rect l="l" t="t" r="r" b="b"/>
            <a:pathLst>
              <a:path w="3270377" h="715395">
                <a:moveTo>
                  <a:pt x="0" y="0"/>
                </a:moveTo>
                <a:lnTo>
                  <a:pt x="3270377" y="0"/>
                </a:lnTo>
                <a:lnTo>
                  <a:pt x="3270377" y="715395"/>
                </a:lnTo>
                <a:lnTo>
                  <a:pt x="0" y="7153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grpSp>
        <p:nvGrpSpPr>
          <p:cNvPr id="2" name="Group 2"/>
          <p:cNvGrpSpPr/>
          <p:nvPr/>
        </p:nvGrpSpPr>
        <p:grpSpPr>
          <a:xfrm>
            <a:off x="3540054" y="4254399"/>
            <a:ext cx="795045" cy="795045"/>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5E8C2"/>
            </a:solidFill>
          </p:spPr>
          <p:txBody>
            <a:bodyPr/>
            <a:lstStyle/>
            <a:p>
              <a:endParaRPr lang="en-US"/>
            </a:p>
          </p:txBody>
        </p:sp>
      </p:grpSp>
      <p:graphicFrame>
        <p:nvGraphicFramePr>
          <p:cNvPr id="4" name="Table 4"/>
          <p:cNvGraphicFramePr>
            <a:graphicFrameLocks noGrp="1"/>
          </p:cNvGraphicFramePr>
          <p:nvPr/>
        </p:nvGraphicFramePr>
        <p:xfrm>
          <a:off x="4566532" y="5851313"/>
          <a:ext cx="12189590" cy="963422"/>
        </p:xfrm>
        <a:graphic>
          <a:graphicData uri="http://schemas.openxmlformats.org/drawingml/2006/table">
            <a:tbl>
              <a:tblPr/>
              <a:tblGrid>
                <a:gridCol w="12189590">
                  <a:extLst>
                    <a:ext uri="{9D8B030D-6E8A-4147-A177-3AD203B41FA5}">
                      <a16:colId xmlns:a16="http://schemas.microsoft.com/office/drawing/2014/main" val="20000"/>
                    </a:ext>
                  </a:extLst>
                </a:gridCol>
              </a:tblGrid>
              <a:tr h="0">
                <a:tc>
                  <a:txBody>
                    <a:bodyPr/>
                    <a:lstStyle/>
                    <a:p>
                      <a:pPr algn="l">
                        <a:lnSpc>
                          <a:spcPts val="4900"/>
                        </a:lnSpc>
                        <a:defRPr/>
                      </a:pPr>
                      <a:r>
                        <a:rPr lang="en-US" sz="3500" b="1">
                          <a:solidFill>
                            <a:srgbClr val="FFFFFF"/>
                          </a:solidFill>
                          <a:latin typeface="Montserrat Bold"/>
                          <a:ea typeface="Montserrat Bold"/>
                          <a:cs typeface="Montserrat Bold"/>
                          <a:sym typeface="Montserrat Bold"/>
                        </a:rPr>
                        <a:t>Are you in the process with any other companies?</a:t>
                      </a:r>
                      <a:endParaRPr lang="en-US" sz="1100"/>
                    </a:p>
                  </a:txBody>
                  <a:tcPr marL="190500" marR="190500" marT="190500" marB="1905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pSp>
        <p:nvGrpSpPr>
          <p:cNvPr id="5" name="Group 5"/>
          <p:cNvGrpSpPr/>
          <p:nvPr/>
        </p:nvGrpSpPr>
        <p:grpSpPr>
          <a:xfrm>
            <a:off x="3540054" y="5977699"/>
            <a:ext cx="795045" cy="795045"/>
            <a:chOff x="0" y="0"/>
            <a:chExt cx="6350000" cy="6350000"/>
          </a:xfrm>
        </p:grpSpPr>
        <p:sp>
          <p:nvSpPr>
            <p:cNvPr id="6" name="Freeform 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5E8C2"/>
            </a:solidFill>
          </p:spPr>
          <p:txBody>
            <a:bodyPr/>
            <a:lstStyle/>
            <a:p>
              <a:endParaRPr lang="en-US"/>
            </a:p>
          </p:txBody>
        </p:sp>
      </p:grpSp>
      <p:sp>
        <p:nvSpPr>
          <p:cNvPr id="7" name="Freeform 7"/>
          <p:cNvSpPr/>
          <p:nvPr/>
        </p:nvSpPr>
        <p:spPr>
          <a:xfrm>
            <a:off x="3614187" y="1028700"/>
            <a:ext cx="2209289" cy="2057400"/>
          </a:xfrm>
          <a:custGeom>
            <a:avLst/>
            <a:gdLst/>
            <a:ahLst/>
            <a:cxnLst/>
            <a:rect l="l" t="t" r="r" b="b"/>
            <a:pathLst>
              <a:path w="2209289" h="2057400">
                <a:moveTo>
                  <a:pt x="0" y="0"/>
                </a:moveTo>
                <a:lnTo>
                  <a:pt x="2209289" y="0"/>
                </a:lnTo>
                <a:lnTo>
                  <a:pt x="2209289"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TextBox 8"/>
          <p:cNvSpPr txBox="1"/>
          <p:nvPr/>
        </p:nvSpPr>
        <p:spPr>
          <a:xfrm>
            <a:off x="4718831" y="4290353"/>
            <a:ext cx="11820339" cy="596901"/>
          </a:xfrm>
          <a:prstGeom prst="rect">
            <a:avLst/>
          </a:prstGeom>
        </p:spPr>
        <p:txBody>
          <a:bodyPr lIns="0" tIns="0" rIns="0" bIns="0" rtlCol="0" anchor="t">
            <a:spAutoFit/>
          </a:bodyPr>
          <a:lstStyle/>
          <a:p>
            <a:pPr algn="l">
              <a:lnSpc>
                <a:spcPts val="4899"/>
              </a:lnSpc>
            </a:pPr>
            <a:r>
              <a:rPr lang="en-US" sz="3499" b="1">
                <a:solidFill>
                  <a:srgbClr val="FFFFFF"/>
                </a:solidFill>
                <a:latin typeface="Montserrat Bold"/>
                <a:ea typeface="Montserrat Bold"/>
                <a:cs typeface="Montserrat Bold"/>
                <a:sym typeface="Montserrat Bold"/>
              </a:rPr>
              <a:t>Where do you see yourself in the next 3 years?</a:t>
            </a:r>
          </a:p>
        </p:txBody>
      </p:sp>
      <p:sp>
        <p:nvSpPr>
          <p:cNvPr id="9" name="TextBox 9"/>
          <p:cNvSpPr txBox="1"/>
          <p:nvPr/>
        </p:nvSpPr>
        <p:spPr>
          <a:xfrm>
            <a:off x="5473488" y="1832824"/>
            <a:ext cx="7899812" cy="596331"/>
          </a:xfrm>
          <a:prstGeom prst="rect">
            <a:avLst/>
          </a:prstGeom>
        </p:spPr>
        <p:txBody>
          <a:bodyPr lIns="0" tIns="0" rIns="0" bIns="0" rtlCol="0" anchor="t">
            <a:spAutoFit/>
          </a:bodyPr>
          <a:lstStyle/>
          <a:p>
            <a:pPr algn="ctr">
              <a:lnSpc>
                <a:spcPts val="4620"/>
              </a:lnSpc>
            </a:pPr>
            <a:r>
              <a:rPr lang="en-US" sz="4200">
                <a:solidFill>
                  <a:srgbClr val="00B9EF"/>
                </a:solidFill>
                <a:latin typeface="Poppins Bold"/>
                <a:ea typeface="Poppins Bold"/>
                <a:cs typeface="Poppins Bold"/>
                <a:sym typeface="Poppins Bold"/>
              </a:rPr>
              <a:t>REVISE QUESTIONS 3 &amp; 4</a:t>
            </a:r>
          </a:p>
        </p:txBody>
      </p:sp>
      <p:sp>
        <p:nvSpPr>
          <p:cNvPr id="10" name="TextBox 10"/>
          <p:cNvSpPr txBox="1"/>
          <p:nvPr/>
        </p:nvSpPr>
        <p:spPr>
          <a:xfrm>
            <a:off x="3540054" y="4337978"/>
            <a:ext cx="795045" cy="608772"/>
          </a:xfrm>
          <a:prstGeom prst="rect">
            <a:avLst/>
          </a:prstGeom>
        </p:spPr>
        <p:txBody>
          <a:bodyPr lIns="0" tIns="0" rIns="0" bIns="0" rtlCol="0" anchor="t">
            <a:spAutoFit/>
          </a:bodyPr>
          <a:lstStyle/>
          <a:p>
            <a:pPr algn="ctr">
              <a:lnSpc>
                <a:spcPts val="4836"/>
              </a:lnSpc>
            </a:pPr>
            <a:r>
              <a:rPr lang="en-US" sz="3900">
                <a:solidFill>
                  <a:srgbClr val="900EED"/>
                </a:solidFill>
                <a:latin typeface="Poppins Bold"/>
                <a:ea typeface="Poppins Bold"/>
                <a:cs typeface="Poppins Bold"/>
                <a:sym typeface="Poppins Bold"/>
              </a:rPr>
              <a:t>3</a:t>
            </a:r>
          </a:p>
        </p:txBody>
      </p:sp>
      <p:sp>
        <p:nvSpPr>
          <p:cNvPr id="11" name="TextBox 11"/>
          <p:cNvSpPr txBox="1"/>
          <p:nvPr/>
        </p:nvSpPr>
        <p:spPr>
          <a:xfrm>
            <a:off x="3540054" y="6061278"/>
            <a:ext cx="795045" cy="608772"/>
          </a:xfrm>
          <a:prstGeom prst="rect">
            <a:avLst/>
          </a:prstGeom>
        </p:spPr>
        <p:txBody>
          <a:bodyPr lIns="0" tIns="0" rIns="0" bIns="0" rtlCol="0" anchor="t">
            <a:spAutoFit/>
          </a:bodyPr>
          <a:lstStyle/>
          <a:p>
            <a:pPr algn="ctr">
              <a:lnSpc>
                <a:spcPts val="4836"/>
              </a:lnSpc>
            </a:pPr>
            <a:r>
              <a:rPr lang="en-US" sz="3900">
                <a:solidFill>
                  <a:srgbClr val="900EED"/>
                </a:solidFill>
                <a:latin typeface="Poppins Bold"/>
                <a:ea typeface="Poppins Bold"/>
                <a:cs typeface="Poppins Bold"/>
                <a:sym typeface="Poppins Bold"/>
              </a:rPr>
              <a:t>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Freeform 2"/>
          <p:cNvSpPr/>
          <p:nvPr/>
        </p:nvSpPr>
        <p:spPr>
          <a:xfrm>
            <a:off x="6287820" y="824942"/>
            <a:ext cx="1314106" cy="2176983"/>
          </a:xfrm>
          <a:custGeom>
            <a:avLst/>
            <a:gdLst/>
            <a:ahLst/>
            <a:cxnLst/>
            <a:rect l="l" t="t" r="r" b="b"/>
            <a:pathLst>
              <a:path w="1314106" h="2176983">
                <a:moveTo>
                  <a:pt x="0" y="0"/>
                </a:moveTo>
                <a:lnTo>
                  <a:pt x="1314106" y="0"/>
                </a:lnTo>
                <a:lnTo>
                  <a:pt x="1314106" y="2176983"/>
                </a:lnTo>
                <a:lnTo>
                  <a:pt x="0" y="21769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5493273" y="1951534"/>
            <a:ext cx="7899812" cy="596331"/>
          </a:xfrm>
          <a:prstGeom prst="rect">
            <a:avLst/>
          </a:prstGeom>
        </p:spPr>
        <p:txBody>
          <a:bodyPr lIns="0" tIns="0" rIns="0" bIns="0" rtlCol="0" anchor="t">
            <a:spAutoFit/>
          </a:bodyPr>
          <a:lstStyle/>
          <a:p>
            <a:pPr algn="ctr">
              <a:lnSpc>
                <a:spcPts val="4620"/>
              </a:lnSpc>
            </a:pPr>
            <a:r>
              <a:rPr lang="en-US" sz="4200">
                <a:solidFill>
                  <a:srgbClr val="00B9EF"/>
                </a:solidFill>
                <a:latin typeface="Poppins Bold"/>
                <a:ea typeface="Poppins Bold"/>
                <a:cs typeface="Poppins Bold"/>
                <a:sym typeface="Poppins Bold"/>
              </a:rPr>
              <a:t>OWNERSHIP?</a:t>
            </a:r>
          </a:p>
        </p:txBody>
      </p:sp>
      <p:sp>
        <p:nvSpPr>
          <p:cNvPr id="4" name="TextBox 4"/>
          <p:cNvSpPr txBox="1"/>
          <p:nvPr/>
        </p:nvSpPr>
        <p:spPr>
          <a:xfrm>
            <a:off x="1028700" y="4291189"/>
            <a:ext cx="16363357" cy="3305175"/>
          </a:xfrm>
          <a:prstGeom prst="rect">
            <a:avLst/>
          </a:prstGeom>
        </p:spPr>
        <p:txBody>
          <a:bodyPr lIns="0" tIns="0" rIns="0" bIns="0" rtlCol="0" anchor="t">
            <a:spAutoFit/>
          </a:bodyPr>
          <a:lstStyle/>
          <a:p>
            <a:pPr algn="ctr">
              <a:lnSpc>
                <a:spcPts val="5250"/>
              </a:lnSpc>
              <a:spcBef>
                <a:spcPct val="0"/>
              </a:spcBef>
            </a:pPr>
            <a:r>
              <a:rPr lang="en-US" sz="3500" spc="182">
                <a:solidFill>
                  <a:srgbClr val="FFFFFF"/>
                </a:solidFill>
                <a:latin typeface="Montserrat"/>
                <a:ea typeface="Montserrat"/>
                <a:cs typeface="Montserrat"/>
                <a:sym typeface="Montserrat"/>
              </a:rPr>
              <a:t> Leaders are owners. They think long term and don’t sacrifice long-term value for short-term results. They act on behalf of the entire company, beyond just their own team. They never say “that’s not my job.” </a:t>
            </a:r>
          </a:p>
          <a:p>
            <a:pPr algn="just">
              <a:lnSpc>
                <a:spcPts val="5250"/>
              </a:lnSpc>
              <a:spcBef>
                <a:spcPct val="0"/>
              </a:spcBef>
            </a:pPr>
            <a:endParaRPr lang="en-US" sz="3500" spc="182">
              <a:solidFill>
                <a:srgbClr val="FFFFFF"/>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grpSp>
        <p:nvGrpSpPr>
          <p:cNvPr id="2" name="Group 2"/>
          <p:cNvGrpSpPr/>
          <p:nvPr/>
        </p:nvGrpSpPr>
        <p:grpSpPr>
          <a:xfrm>
            <a:off x="1386107" y="2274509"/>
            <a:ext cx="795045" cy="795045"/>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5E8C2"/>
            </a:solidFill>
          </p:spPr>
          <p:txBody>
            <a:bodyPr/>
            <a:lstStyle/>
            <a:p>
              <a:endParaRPr lang="en-US"/>
            </a:p>
          </p:txBody>
        </p:sp>
      </p:grpSp>
      <p:sp>
        <p:nvSpPr>
          <p:cNvPr id="4" name="Freeform 4"/>
          <p:cNvSpPr/>
          <p:nvPr/>
        </p:nvSpPr>
        <p:spPr>
          <a:xfrm>
            <a:off x="4784229" y="330603"/>
            <a:ext cx="819801" cy="995343"/>
          </a:xfrm>
          <a:custGeom>
            <a:avLst/>
            <a:gdLst/>
            <a:ahLst/>
            <a:cxnLst/>
            <a:rect l="l" t="t" r="r" b="b"/>
            <a:pathLst>
              <a:path w="819801" h="995343">
                <a:moveTo>
                  <a:pt x="0" y="0"/>
                </a:moveTo>
                <a:lnTo>
                  <a:pt x="819801" y="0"/>
                </a:lnTo>
                <a:lnTo>
                  <a:pt x="819801" y="995343"/>
                </a:lnTo>
                <a:lnTo>
                  <a:pt x="0" y="9953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2065390">
            <a:off x="12207482" y="3774138"/>
            <a:ext cx="1311592" cy="4114800"/>
          </a:xfrm>
          <a:custGeom>
            <a:avLst/>
            <a:gdLst/>
            <a:ahLst/>
            <a:cxnLst/>
            <a:rect l="l" t="t" r="r" b="b"/>
            <a:pathLst>
              <a:path w="1311592" h="4114800">
                <a:moveTo>
                  <a:pt x="0" y="0"/>
                </a:moveTo>
                <a:lnTo>
                  <a:pt x="1311592" y="0"/>
                </a:lnTo>
                <a:lnTo>
                  <a:pt x="131159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p:cNvSpPr txBox="1"/>
          <p:nvPr/>
        </p:nvSpPr>
        <p:spPr>
          <a:xfrm>
            <a:off x="2564885" y="2310462"/>
            <a:ext cx="14694415" cy="1835151"/>
          </a:xfrm>
          <a:prstGeom prst="rect">
            <a:avLst/>
          </a:prstGeom>
        </p:spPr>
        <p:txBody>
          <a:bodyPr lIns="0" tIns="0" rIns="0" bIns="0" rtlCol="0" anchor="t">
            <a:spAutoFit/>
          </a:bodyPr>
          <a:lstStyle/>
          <a:p>
            <a:pPr algn="l">
              <a:lnSpc>
                <a:spcPts val="4899"/>
              </a:lnSpc>
            </a:pPr>
            <a:r>
              <a:rPr lang="en-US" sz="3499" b="1" dirty="0">
                <a:solidFill>
                  <a:srgbClr val="FFFFFF"/>
                </a:solidFill>
                <a:latin typeface="Montserrat Bold"/>
                <a:ea typeface="Montserrat Bold"/>
                <a:cs typeface="Montserrat Bold"/>
                <a:sym typeface="Montserrat Bold"/>
              </a:rPr>
              <a:t>Tell me about a time when you took on something significant outside your area of responsibility. Why was it important? What was the outcome?</a:t>
            </a:r>
          </a:p>
        </p:txBody>
      </p:sp>
      <p:sp>
        <p:nvSpPr>
          <p:cNvPr id="7" name="TextBox 7"/>
          <p:cNvSpPr txBox="1"/>
          <p:nvPr/>
        </p:nvSpPr>
        <p:spPr>
          <a:xfrm>
            <a:off x="5604030" y="549159"/>
            <a:ext cx="7899812" cy="596331"/>
          </a:xfrm>
          <a:prstGeom prst="rect">
            <a:avLst/>
          </a:prstGeom>
        </p:spPr>
        <p:txBody>
          <a:bodyPr lIns="0" tIns="0" rIns="0" bIns="0" rtlCol="0" anchor="t">
            <a:spAutoFit/>
          </a:bodyPr>
          <a:lstStyle/>
          <a:p>
            <a:pPr algn="ctr">
              <a:lnSpc>
                <a:spcPts val="4620"/>
              </a:lnSpc>
            </a:pPr>
            <a:r>
              <a:rPr lang="en-US" sz="4200">
                <a:solidFill>
                  <a:srgbClr val="00B9EF"/>
                </a:solidFill>
                <a:latin typeface="Poppins Bold"/>
                <a:ea typeface="Poppins Bold"/>
                <a:cs typeface="Poppins Bold"/>
                <a:sym typeface="Poppins Bold"/>
              </a:rPr>
              <a:t>ANALYZING QUESTIONS</a:t>
            </a:r>
          </a:p>
        </p:txBody>
      </p:sp>
      <p:sp>
        <p:nvSpPr>
          <p:cNvPr id="8" name="TextBox 8"/>
          <p:cNvSpPr txBox="1"/>
          <p:nvPr/>
        </p:nvSpPr>
        <p:spPr>
          <a:xfrm>
            <a:off x="1386107" y="2358087"/>
            <a:ext cx="795045" cy="608772"/>
          </a:xfrm>
          <a:prstGeom prst="rect">
            <a:avLst/>
          </a:prstGeom>
        </p:spPr>
        <p:txBody>
          <a:bodyPr lIns="0" tIns="0" rIns="0" bIns="0" rtlCol="0" anchor="t">
            <a:spAutoFit/>
          </a:bodyPr>
          <a:lstStyle/>
          <a:p>
            <a:pPr algn="ctr">
              <a:lnSpc>
                <a:spcPts val="4836"/>
              </a:lnSpc>
            </a:pPr>
            <a:r>
              <a:rPr lang="en-US" sz="3900">
                <a:solidFill>
                  <a:srgbClr val="900EED"/>
                </a:solidFill>
                <a:latin typeface="Poppins Bold"/>
                <a:ea typeface="Poppins Bold"/>
                <a:cs typeface="Poppins Bold"/>
                <a:sym typeface="Poppins Bold"/>
              </a:rPr>
              <a:t>3</a:t>
            </a:r>
          </a:p>
        </p:txBody>
      </p:sp>
      <p:sp>
        <p:nvSpPr>
          <p:cNvPr id="9" name="TextBox 9"/>
          <p:cNvSpPr txBox="1"/>
          <p:nvPr/>
        </p:nvSpPr>
        <p:spPr>
          <a:xfrm>
            <a:off x="2547145" y="6889110"/>
            <a:ext cx="8612127" cy="428559"/>
          </a:xfrm>
          <a:prstGeom prst="rect">
            <a:avLst/>
          </a:prstGeom>
        </p:spPr>
        <p:txBody>
          <a:bodyPr lIns="0" tIns="0" rIns="0" bIns="0" rtlCol="0" anchor="t">
            <a:spAutoFit/>
          </a:bodyPr>
          <a:lstStyle/>
          <a:p>
            <a:pPr marL="647700" lvl="1" indent="-323850" algn="l">
              <a:lnSpc>
                <a:spcPts val="3300"/>
              </a:lnSpc>
              <a:spcBef>
                <a:spcPct val="0"/>
              </a:spcBef>
              <a:buFont typeface="Arial"/>
              <a:buChar char="•"/>
            </a:pPr>
            <a:r>
              <a:rPr lang="en-US" sz="3000" dirty="0">
                <a:solidFill>
                  <a:srgbClr val="FFFFFF"/>
                </a:solidFill>
                <a:latin typeface="Montserrat"/>
                <a:ea typeface="Montserrat"/>
                <a:cs typeface="Montserrat"/>
                <a:sym typeface="Montserrat"/>
              </a:rPr>
              <a:t>Demonstrating initiative</a:t>
            </a:r>
          </a:p>
        </p:txBody>
      </p:sp>
      <p:sp>
        <p:nvSpPr>
          <p:cNvPr id="10" name="TextBox 10"/>
          <p:cNvSpPr txBox="1"/>
          <p:nvPr/>
        </p:nvSpPr>
        <p:spPr>
          <a:xfrm>
            <a:off x="2547145" y="7631994"/>
            <a:ext cx="9245244" cy="428559"/>
          </a:xfrm>
          <a:prstGeom prst="rect">
            <a:avLst/>
          </a:prstGeom>
        </p:spPr>
        <p:txBody>
          <a:bodyPr lIns="0" tIns="0" rIns="0" bIns="0" rtlCol="0" anchor="t">
            <a:spAutoFit/>
          </a:bodyPr>
          <a:lstStyle/>
          <a:p>
            <a:pPr marL="647700" lvl="1" indent="-323850" algn="just">
              <a:lnSpc>
                <a:spcPts val="3300"/>
              </a:lnSpc>
              <a:spcBef>
                <a:spcPct val="0"/>
              </a:spcBef>
              <a:buFont typeface="Arial"/>
              <a:buChar char="•"/>
            </a:pPr>
            <a:r>
              <a:rPr lang="en-US" sz="3000" dirty="0">
                <a:solidFill>
                  <a:srgbClr val="FFFFFF"/>
                </a:solidFill>
                <a:latin typeface="Montserrat"/>
                <a:ea typeface="Montserrat"/>
                <a:cs typeface="Montserrat"/>
                <a:sym typeface="Montserrat"/>
              </a:rPr>
              <a:t>Assessing problem-solving Skills</a:t>
            </a:r>
          </a:p>
        </p:txBody>
      </p:sp>
      <p:sp>
        <p:nvSpPr>
          <p:cNvPr id="11" name="TextBox 11"/>
          <p:cNvSpPr txBox="1"/>
          <p:nvPr/>
        </p:nvSpPr>
        <p:spPr>
          <a:xfrm>
            <a:off x="2547145" y="8386306"/>
            <a:ext cx="9245244" cy="428559"/>
          </a:xfrm>
          <a:prstGeom prst="rect">
            <a:avLst/>
          </a:prstGeom>
        </p:spPr>
        <p:txBody>
          <a:bodyPr lIns="0" tIns="0" rIns="0" bIns="0" rtlCol="0" anchor="t">
            <a:spAutoFit/>
          </a:bodyPr>
          <a:lstStyle/>
          <a:p>
            <a:pPr marL="647700" lvl="1" indent="-323850" algn="just">
              <a:lnSpc>
                <a:spcPts val="3300"/>
              </a:lnSpc>
              <a:spcBef>
                <a:spcPct val="0"/>
              </a:spcBef>
              <a:buFont typeface="Arial"/>
              <a:buChar char="•"/>
            </a:pPr>
            <a:r>
              <a:rPr lang="en-US" sz="3000" dirty="0">
                <a:solidFill>
                  <a:srgbClr val="FFFFFF"/>
                </a:solidFill>
                <a:latin typeface="Montserrat"/>
                <a:ea typeface="Montserrat"/>
                <a:cs typeface="Montserrat"/>
                <a:sym typeface="Montserrat"/>
              </a:rPr>
              <a:t>Understanding motivation</a:t>
            </a:r>
          </a:p>
        </p:txBody>
      </p:sp>
      <p:sp>
        <p:nvSpPr>
          <p:cNvPr id="12" name="TextBox 12"/>
          <p:cNvSpPr txBox="1"/>
          <p:nvPr/>
        </p:nvSpPr>
        <p:spPr>
          <a:xfrm>
            <a:off x="2337156" y="8966842"/>
            <a:ext cx="9245244" cy="542925"/>
          </a:xfrm>
          <a:prstGeom prst="rect">
            <a:avLst/>
          </a:prstGeom>
        </p:spPr>
        <p:txBody>
          <a:bodyPr lIns="0" tIns="0" rIns="0" bIns="0" rtlCol="0" anchor="t">
            <a:spAutoFit/>
          </a:bodyPr>
          <a:lstStyle/>
          <a:p>
            <a:pPr marL="647700" lvl="1" indent="-323850" algn="ctr">
              <a:lnSpc>
                <a:spcPts val="4500"/>
              </a:lnSpc>
              <a:spcBef>
                <a:spcPct val="0"/>
              </a:spcBef>
              <a:buFont typeface="Arial"/>
              <a:buChar char="•"/>
            </a:pPr>
            <a:r>
              <a:rPr lang="en-US" sz="3000" spc="156" dirty="0">
                <a:solidFill>
                  <a:srgbClr val="FFFFFF"/>
                </a:solidFill>
                <a:latin typeface="Montserrat"/>
                <a:ea typeface="Montserrat"/>
                <a:cs typeface="Montserrat"/>
                <a:sym typeface="Montserrat"/>
              </a:rPr>
              <a:t>Evaluating teamwork and collaboration</a:t>
            </a:r>
          </a:p>
        </p:txBody>
      </p:sp>
      <p:sp>
        <p:nvSpPr>
          <p:cNvPr id="13" name="TextBox 13"/>
          <p:cNvSpPr txBox="1"/>
          <p:nvPr/>
        </p:nvSpPr>
        <p:spPr>
          <a:xfrm>
            <a:off x="2547145" y="5288613"/>
            <a:ext cx="7270219" cy="542925"/>
          </a:xfrm>
          <a:prstGeom prst="rect">
            <a:avLst/>
          </a:prstGeom>
        </p:spPr>
        <p:txBody>
          <a:bodyPr wrap="square" lIns="0" tIns="0" rIns="0" bIns="0" rtlCol="0" anchor="t">
            <a:spAutoFit/>
          </a:bodyPr>
          <a:lstStyle/>
          <a:p>
            <a:pPr marL="647700" lvl="1" indent="-323850" algn="l">
              <a:lnSpc>
                <a:spcPts val="4500"/>
              </a:lnSpc>
              <a:spcBef>
                <a:spcPct val="0"/>
              </a:spcBef>
              <a:buFont typeface="Arial"/>
              <a:buChar char="•"/>
            </a:pPr>
            <a:r>
              <a:rPr lang="en-US" sz="3000" spc="156" dirty="0">
                <a:solidFill>
                  <a:srgbClr val="FFFFFF"/>
                </a:solidFill>
                <a:latin typeface="Montserrat"/>
                <a:ea typeface="Montserrat"/>
                <a:cs typeface="Montserrat"/>
                <a:sym typeface="Montserrat"/>
              </a:rPr>
              <a:t>Learning and adaptability</a:t>
            </a:r>
          </a:p>
        </p:txBody>
      </p:sp>
      <p:sp>
        <p:nvSpPr>
          <p:cNvPr id="14" name="TextBox 14"/>
          <p:cNvSpPr txBox="1"/>
          <p:nvPr/>
        </p:nvSpPr>
        <p:spPr>
          <a:xfrm>
            <a:off x="2514047" y="6077329"/>
            <a:ext cx="7270219" cy="542925"/>
          </a:xfrm>
          <a:prstGeom prst="rect">
            <a:avLst/>
          </a:prstGeom>
        </p:spPr>
        <p:txBody>
          <a:bodyPr lIns="0" tIns="0" rIns="0" bIns="0" rtlCol="0" anchor="t">
            <a:spAutoFit/>
          </a:bodyPr>
          <a:lstStyle/>
          <a:p>
            <a:pPr marL="647700" lvl="1" indent="-323850" algn="l">
              <a:lnSpc>
                <a:spcPts val="4500"/>
              </a:lnSpc>
              <a:spcBef>
                <a:spcPct val="0"/>
              </a:spcBef>
              <a:buFont typeface="Arial"/>
              <a:buChar char="•"/>
            </a:pPr>
            <a:r>
              <a:rPr lang="en-US" sz="3000" spc="156" dirty="0">
                <a:solidFill>
                  <a:srgbClr val="FFFFFF"/>
                </a:solidFill>
                <a:latin typeface="Montserrat"/>
                <a:ea typeface="Montserrat"/>
                <a:cs typeface="Montserrat"/>
                <a:sym typeface="Montserrat"/>
              </a:rPr>
              <a:t>Impact on the organization</a:t>
            </a:r>
          </a:p>
        </p:txBody>
      </p:sp>
      <p:sp>
        <p:nvSpPr>
          <p:cNvPr id="15" name="TextBox 6">
            <a:extLst>
              <a:ext uri="{FF2B5EF4-FFF2-40B4-BE49-F238E27FC236}">
                <a16:creationId xmlns:a16="http://schemas.microsoft.com/office/drawing/2014/main" id="{A8FA4C24-7207-B4AB-2485-7C0316DC325D}"/>
              </a:ext>
            </a:extLst>
          </p:cNvPr>
          <p:cNvSpPr txBox="1"/>
          <p:nvPr/>
        </p:nvSpPr>
        <p:spPr>
          <a:xfrm>
            <a:off x="11811000" y="2324100"/>
            <a:ext cx="5702815" cy="582147"/>
          </a:xfrm>
          <a:prstGeom prst="rect">
            <a:avLst/>
          </a:prstGeom>
        </p:spPr>
        <p:txBody>
          <a:bodyPr wrap="square" lIns="0" tIns="0" rIns="0" bIns="0" rtlCol="0" anchor="t">
            <a:spAutoFit/>
          </a:bodyPr>
          <a:lstStyle/>
          <a:p>
            <a:pPr algn="l">
              <a:lnSpc>
                <a:spcPts val="4899"/>
              </a:lnSpc>
            </a:pPr>
            <a:r>
              <a:rPr lang="en-US" sz="3499" b="1" dirty="0">
                <a:solidFill>
                  <a:srgbClr val="FF5757"/>
                </a:solidFill>
                <a:latin typeface="Montserrat Bold"/>
                <a:ea typeface="Montserrat Bold"/>
                <a:cs typeface="Montserrat Bold"/>
                <a:sym typeface="Montserrat Bold"/>
              </a:rPr>
              <a:t>something significant </a:t>
            </a:r>
          </a:p>
        </p:txBody>
      </p:sp>
      <p:sp>
        <p:nvSpPr>
          <p:cNvPr id="16" name="TextBox 6">
            <a:extLst>
              <a:ext uri="{FF2B5EF4-FFF2-40B4-BE49-F238E27FC236}">
                <a16:creationId xmlns:a16="http://schemas.microsoft.com/office/drawing/2014/main" id="{35F5BA47-B0BC-2E9F-6D1D-E0ECB5D5C885}"/>
              </a:ext>
            </a:extLst>
          </p:cNvPr>
          <p:cNvSpPr txBox="1"/>
          <p:nvPr/>
        </p:nvSpPr>
        <p:spPr>
          <a:xfrm>
            <a:off x="2575081" y="2933700"/>
            <a:ext cx="8397719" cy="582147"/>
          </a:xfrm>
          <a:prstGeom prst="rect">
            <a:avLst/>
          </a:prstGeom>
        </p:spPr>
        <p:txBody>
          <a:bodyPr wrap="square" lIns="0" tIns="0" rIns="0" bIns="0" rtlCol="0" anchor="t">
            <a:spAutoFit/>
          </a:bodyPr>
          <a:lstStyle/>
          <a:p>
            <a:pPr algn="l">
              <a:lnSpc>
                <a:spcPts val="4899"/>
              </a:lnSpc>
            </a:pPr>
            <a:r>
              <a:rPr lang="en-US" sz="3499" b="1" dirty="0">
                <a:solidFill>
                  <a:srgbClr val="FF5757"/>
                </a:solidFill>
                <a:latin typeface="Montserrat Bold"/>
                <a:ea typeface="Montserrat Bold"/>
                <a:cs typeface="Montserrat Bold"/>
                <a:sym typeface="Montserrat Bold"/>
              </a:rPr>
              <a:t>outside your area of responsibility.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ppt_x"/>
                                          </p:val>
                                        </p:tav>
                                        <p:tav tm="100000">
                                          <p:val>
                                            <p:strVal val="#ppt_x"/>
                                          </p:val>
                                        </p:tav>
                                      </p:tavLst>
                                    </p:anim>
                                    <p:anim calcmode="lin" valueType="num">
                                      <p:cBhvr additive="base">
                                        <p:cTn id="3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additive="base">
                                        <p:cTn id="45" dur="500" fill="hold"/>
                                        <p:tgtEl>
                                          <p:spTgt spid="9"/>
                                        </p:tgtEl>
                                        <p:attrNameLst>
                                          <p:attrName>ppt_x</p:attrName>
                                        </p:attrNameLst>
                                      </p:cBhvr>
                                      <p:tavLst>
                                        <p:tav tm="0">
                                          <p:val>
                                            <p:strVal val="#ppt_x"/>
                                          </p:val>
                                        </p:tav>
                                        <p:tav tm="100000">
                                          <p:val>
                                            <p:strVal val="#ppt_x"/>
                                          </p:val>
                                        </p:tav>
                                      </p:tavLst>
                                    </p:anim>
                                    <p:anim calcmode="lin" valueType="num">
                                      <p:cBhvr additive="base">
                                        <p:cTn id="4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 calcmode="lin" valueType="num">
                                      <p:cBhvr additive="base">
                                        <p:cTn id="51" dur="500" fill="hold"/>
                                        <p:tgtEl>
                                          <p:spTgt spid="10"/>
                                        </p:tgtEl>
                                        <p:attrNameLst>
                                          <p:attrName>ppt_x</p:attrName>
                                        </p:attrNameLst>
                                      </p:cBhvr>
                                      <p:tavLst>
                                        <p:tav tm="0">
                                          <p:val>
                                            <p:strVal val="#ppt_x"/>
                                          </p:val>
                                        </p:tav>
                                        <p:tav tm="100000">
                                          <p:val>
                                            <p:strVal val="#ppt_x"/>
                                          </p:val>
                                        </p:tav>
                                      </p:tavLst>
                                    </p:anim>
                                    <p:anim calcmode="lin" valueType="num">
                                      <p:cBhvr additive="base">
                                        <p:cTn id="5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1"/>
                                        </p:tgtEl>
                                        <p:attrNameLst>
                                          <p:attrName>style.visibility</p:attrName>
                                        </p:attrNameLst>
                                      </p:cBhvr>
                                      <p:to>
                                        <p:strVal val="visible"/>
                                      </p:to>
                                    </p:set>
                                    <p:anim calcmode="lin" valueType="num">
                                      <p:cBhvr additive="base">
                                        <p:cTn id="57" dur="500" fill="hold"/>
                                        <p:tgtEl>
                                          <p:spTgt spid="11"/>
                                        </p:tgtEl>
                                        <p:attrNameLst>
                                          <p:attrName>ppt_x</p:attrName>
                                        </p:attrNameLst>
                                      </p:cBhvr>
                                      <p:tavLst>
                                        <p:tav tm="0">
                                          <p:val>
                                            <p:strVal val="#ppt_x"/>
                                          </p:val>
                                        </p:tav>
                                        <p:tav tm="100000">
                                          <p:val>
                                            <p:strVal val="#ppt_x"/>
                                          </p:val>
                                        </p:tav>
                                      </p:tavLst>
                                    </p:anim>
                                    <p:anim calcmode="lin" valueType="num">
                                      <p:cBhvr additive="base">
                                        <p:cTn id="5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 calcmode="lin" valueType="num">
                                      <p:cBhvr additive="base">
                                        <p:cTn id="63" dur="500" fill="hold"/>
                                        <p:tgtEl>
                                          <p:spTgt spid="12"/>
                                        </p:tgtEl>
                                        <p:attrNameLst>
                                          <p:attrName>ppt_x</p:attrName>
                                        </p:attrNameLst>
                                      </p:cBhvr>
                                      <p:tavLst>
                                        <p:tav tm="0">
                                          <p:val>
                                            <p:strVal val="#ppt_x"/>
                                          </p:val>
                                        </p:tav>
                                        <p:tav tm="100000">
                                          <p:val>
                                            <p:strVal val="#ppt_x"/>
                                          </p:val>
                                        </p:tav>
                                      </p:tavLst>
                                    </p:anim>
                                    <p:anim calcmode="lin" valueType="num">
                                      <p:cBhvr additive="base">
                                        <p:cTn id="6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1" grpId="0"/>
      <p:bldP spid="12" grpId="0"/>
      <p:bldP spid="13" grpId="0"/>
      <p:bldP spid="14" grpId="0"/>
      <p:bldP spid="15"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5346826" y="749584"/>
            <a:ext cx="7899812" cy="596331"/>
          </a:xfrm>
          <a:prstGeom prst="rect">
            <a:avLst/>
          </a:prstGeom>
        </p:spPr>
        <p:txBody>
          <a:bodyPr lIns="0" tIns="0" rIns="0" bIns="0" rtlCol="0" anchor="t">
            <a:spAutoFit/>
          </a:bodyPr>
          <a:lstStyle/>
          <a:p>
            <a:pPr algn="ctr">
              <a:lnSpc>
                <a:spcPts val="4620"/>
              </a:lnSpc>
            </a:pPr>
            <a:r>
              <a:rPr lang="en-US" sz="4200">
                <a:solidFill>
                  <a:srgbClr val="00B9EF"/>
                </a:solidFill>
                <a:latin typeface="Poppins Bold"/>
                <a:ea typeface="Poppins Bold"/>
                <a:cs typeface="Poppins Bold"/>
                <a:sym typeface="Poppins Bold"/>
              </a:rPr>
              <a:t>STRUCTURING ANSWER</a:t>
            </a:r>
          </a:p>
        </p:txBody>
      </p:sp>
      <p:sp>
        <p:nvSpPr>
          <p:cNvPr id="3" name="TextBox 3"/>
          <p:cNvSpPr txBox="1"/>
          <p:nvPr/>
        </p:nvSpPr>
        <p:spPr>
          <a:xfrm>
            <a:off x="6889285" y="4187058"/>
            <a:ext cx="4509431" cy="1295226"/>
          </a:xfrm>
          <a:prstGeom prst="rect">
            <a:avLst/>
          </a:prstGeom>
        </p:spPr>
        <p:txBody>
          <a:bodyPr lIns="0" tIns="0" rIns="0" bIns="0" rtlCol="0" anchor="t">
            <a:spAutoFit/>
          </a:bodyPr>
          <a:lstStyle/>
          <a:p>
            <a:pPr algn="ctr">
              <a:lnSpc>
                <a:spcPts val="4950"/>
              </a:lnSpc>
            </a:pPr>
            <a:r>
              <a:rPr lang="en-US" sz="4500" dirty="0">
                <a:solidFill>
                  <a:srgbClr val="00B9EF"/>
                </a:solidFill>
                <a:latin typeface="Poppins Bold"/>
                <a:ea typeface="Poppins Bold"/>
                <a:cs typeface="Poppins Bold"/>
                <a:sym typeface="Poppins Bold"/>
              </a:rPr>
              <a:t>S</a:t>
            </a:r>
            <a:r>
              <a:rPr lang="en-US" sz="4500" dirty="0">
                <a:solidFill>
                  <a:srgbClr val="CB6CE6"/>
                </a:solidFill>
                <a:latin typeface="Poppins Bold"/>
                <a:ea typeface="Poppins Bold"/>
                <a:cs typeface="Poppins Bold"/>
                <a:sym typeface="Poppins Bold"/>
              </a:rPr>
              <a:t>T</a:t>
            </a:r>
            <a:r>
              <a:rPr lang="en-US" sz="4500" dirty="0">
                <a:solidFill>
                  <a:srgbClr val="95C740"/>
                </a:solidFill>
                <a:latin typeface="Poppins Bold"/>
                <a:ea typeface="Poppins Bold"/>
                <a:cs typeface="Poppins Bold"/>
                <a:sym typeface="Poppins Bold"/>
              </a:rPr>
              <a:t>A</a:t>
            </a:r>
            <a:r>
              <a:rPr lang="en-US" sz="4500" dirty="0">
                <a:solidFill>
                  <a:srgbClr val="FF5757"/>
                </a:solidFill>
                <a:latin typeface="Poppins Bold"/>
                <a:ea typeface="Poppins Bold"/>
                <a:cs typeface="Poppins Bold"/>
                <a:sym typeface="Poppins Bold"/>
              </a:rPr>
              <a:t>R</a:t>
            </a:r>
          </a:p>
          <a:p>
            <a:pPr algn="ctr">
              <a:lnSpc>
                <a:spcPts val="4950"/>
              </a:lnSpc>
            </a:pPr>
            <a:r>
              <a:rPr lang="en-US" sz="4500" dirty="0">
                <a:solidFill>
                  <a:srgbClr val="00B9EF"/>
                </a:solidFill>
                <a:latin typeface="Poppins Bold"/>
                <a:ea typeface="Poppins Bold"/>
                <a:cs typeface="Poppins Bold"/>
                <a:sym typeface="Poppins Bold"/>
              </a:rPr>
              <a:t>TECHNIQUE</a:t>
            </a:r>
          </a:p>
        </p:txBody>
      </p:sp>
      <p:sp>
        <p:nvSpPr>
          <p:cNvPr id="4" name="TextBox 4"/>
          <p:cNvSpPr txBox="1"/>
          <p:nvPr/>
        </p:nvSpPr>
        <p:spPr>
          <a:xfrm>
            <a:off x="399048" y="4168008"/>
            <a:ext cx="4947778" cy="1685660"/>
          </a:xfrm>
          <a:prstGeom prst="rect">
            <a:avLst/>
          </a:prstGeom>
        </p:spPr>
        <p:txBody>
          <a:bodyPr lIns="0" tIns="0" rIns="0" bIns="0" rtlCol="0" anchor="t">
            <a:spAutoFit/>
          </a:bodyPr>
          <a:lstStyle/>
          <a:p>
            <a:pPr algn="ctr">
              <a:lnSpc>
                <a:spcPts val="3300"/>
              </a:lnSpc>
              <a:spcBef>
                <a:spcPct val="0"/>
              </a:spcBef>
            </a:pPr>
            <a:r>
              <a:rPr lang="en-US" sz="3000" dirty="0">
                <a:solidFill>
                  <a:srgbClr val="95C740"/>
                </a:solidFill>
                <a:latin typeface="Montserrat"/>
                <a:ea typeface="Montserrat"/>
                <a:cs typeface="Montserrat"/>
                <a:sym typeface="Montserrat"/>
              </a:rPr>
              <a:t>S = Situation.</a:t>
            </a:r>
            <a:r>
              <a:rPr lang="en-US" sz="3000" dirty="0">
                <a:solidFill>
                  <a:srgbClr val="FFFFFF"/>
                </a:solidFill>
                <a:latin typeface="Montserrat"/>
                <a:ea typeface="Montserrat"/>
                <a:cs typeface="Montserrat"/>
                <a:sym typeface="Montserrat"/>
              </a:rPr>
              <a:t> Introduce  your role and general problem you’re going to take responsibilities  </a:t>
            </a:r>
          </a:p>
        </p:txBody>
      </p:sp>
      <p:sp>
        <p:nvSpPr>
          <p:cNvPr id="5" name="TextBox 5"/>
          <p:cNvSpPr txBox="1"/>
          <p:nvPr/>
        </p:nvSpPr>
        <p:spPr>
          <a:xfrm>
            <a:off x="2124410" y="7558710"/>
            <a:ext cx="5595258" cy="1266627"/>
          </a:xfrm>
          <a:prstGeom prst="rect">
            <a:avLst/>
          </a:prstGeom>
        </p:spPr>
        <p:txBody>
          <a:bodyPr lIns="0" tIns="0" rIns="0" bIns="0" rtlCol="0" anchor="t">
            <a:spAutoFit/>
          </a:bodyPr>
          <a:lstStyle/>
          <a:p>
            <a:pPr algn="ctr">
              <a:lnSpc>
                <a:spcPts val="3300"/>
              </a:lnSpc>
              <a:spcBef>
                <a:spcPct val="0"/>
              </a:spcBef>
            </a:pPr>
            <a:r>
              <a:rPr lang="en-US" sz="3000" dirty="0">
                <a:solidFill>
                  <a:srgbClr val="CB6CE6"/>
                </a:solidFill>
                <a:latin typeface="Montserrat"/>
                <a:ea typeface="Montserrat"/>
                <a:cs typeface="Montserrat"/>
                <a:sym typeface="Montserrat"/>
              </a:rPr>
              <a:t>T = Task: </a:t>
            </a:r>
            <a:r>
              <a:rPr lang="en-US" sz="3000" dirty="0">
                <a:solidFill>
                  <a:srgbClr val="FFFFFF"/>
                </a:solidFill>
                <a:latin typeface="Montserrat"/>
                <a:ea typeface="Montserrat"/>
                <a:cs typeface="Montserrat"/>
                <a:sym typeface="Montserrat"/>
              </a:rPr>
              <a:t>Describe the reasons why you took the task</a:t>
            </a:r>
          </a:p>
        </p:txBody>
      </p:sp>
      <p:sp>
        <p:nvSpPr>
          <p:cNvPr id="6" name="TextBox 6"/>
          <p:cNvSpPr txBox="1"/>
          <p:nvPr/>
        </p:nvSpPr>
        <p:spPr>
          <a:xfrm>
            <a:off x="9838874" y="7558710"/>
            <a:ext cx="5034533" cy="847593"/>
          </a:xfrm>
          <a:prstGeom prst="rect">
            <a:avLst/>
          </a:prstGeom>
        </p:spPr>
        <p:txBody>
          <a:bodyPr lIns="0" tIns="0" rIns="0" bIns="0" rtlCol="0" anchor="t">
            <a:spAutoFit/>
          </a:bodyPr>
          <a:lstStyle/>
          <a:p>
            <a:pPr algn="ctr">
              <a:lnSpc>
                <a:spcPts val="3300"/>
              </a:lnSpc>
              <a:spcBef>
                <a:spcPct val="0"/>
              </a:spcBef>
            </a:pPr>
            <a:r>
              <a:rPr lang="en-US" sz="3000" dirty="0">
                <a:solidFill>
                  <a:srgbClr val="3EDAD8"/>
                </a:solidFill>
                <a:latin typeface="Montserrat"/>
                <a:ea typeface="Montserrat"/>
                <a:cs typeface="Montserrat"/>
                <a:sym typeface="Montserrat"/>
              </a:rPr>
              <a:t>A = Action:</a:t>
            </a:r>
            <a:r>
              <a:rPr lang="en-US" sz="3000" dirty="0">
                <a:solidFill>
                  <a:srgbClr val="FFFFFF"/>
                </a:solidFill>
                <a:latin typeface="Montserrat"/>
                <a:ea typeface="Montserrat"/>
                <a:cs typeface="Montserrat"/>
                <a:sym typeface="Montserrat"/>
              </a:rPr>
              <a:t> Describe how handle it specifically</a:t>
            </a:r>
          </a:p>
        </p:txBody>
      </p:sp>
      <p:sp>
        <p:nvSpPr>
          <p:cNvPr id="7" name="TextBox 7"/>
          <p:cNvSpPr txBox="1"/>
          <p:nvPr/>
        </p:nvSpPr>
        <p:spPr>
          <a:xfrm>
            <a:off x="12402913" y="3748975"/>
            <a:ext cx="5285892" cy="1685660"/>
          </a:xfrm>
          <a:prstGeom prst="rect">
            <a:avLst/>
          </a:prstGeom>
        </p:spPr>
        <p:txBody>
          <a:bodyPr lIns="0" tIns="0" rIns="0" bIns="0" rtlCol="0" anchor="t">
            <a:spAutoFit/>
          </a:bodyPr>
          <a:lstStyle/>
          <a:p>
            <a:pPr algn="ctr">
              <a:lnSpc>
                <a:spcPts val="3300"/>
              </a:lnSpc>
              <a:spcBef>
                <a:spcPct val="0"/>
              </a:spcBef>
            </a:pPr>
            <a:r>
              <a:rPr lang="en-US" sz="3000" dirty="0">
                <a:solidFill>
                  <a:srgbClr val="FF5757"/>
                </a:solidFill>
                <a:latin typeface="Montserrat"/>
                <a:ea typeface="Montserrat"/>
                <a:cs typeface="Montserrat"/>
                <a:sym typeface="Montserrat"/>
              </a:rPr>
              <a:t>R = Result: </a:t>
            </a:r>
            <a:r>
              <a:rPr lang="en-US" sz="3000" dirty="0">
                <a:solidFill>
                  <a:srgbClr val="FFFFFF"/>
                </a:solidFill>
                <a:latin typeface="Montserrat"/>
                <a:ea typeface="Montserrat"/>
                <a:cs typeface="Montserrat"/>
                <a:sym typeface="Montserrat"/>
              </a:rPr>
              <a:t>What were the results, and how did they impact on you and the company</a:t>
            </a:r>
          </a:p>
        </p:txBody>
      </p:sp>
      <p:sp>
        <p:nvSpPr>
          <p:cNvPr id="8" name="Freeform 8"/>
          <p:cNvSpPr/>
          <p:nvPr/>
        </p:nvSpPr>
        <p:spPr>
          <a:xfrm rot="9892788">
            <a:off x="5392860" y="4964537"/>
            <a:ext cx="2078935" cy="628878"/>
          </a:xfrm>
          <a:custGeom>
            <a:avLst/>
            <a:gdLst/>
            <a:ahLst/>
            <a:cxnLst/>
            <a:rect l="l" t="t" r="r" b="b"/>
            <a:pathLst>
              <a:path w="2078935" h="628878">
                <a:moveTo>
                  <a:pt x="0" y="0"/>
                </a:moveTo>
                <a:lnTo>
                  <a:pt x="2078936" y="0"/>
                </a:lnTo>
                <a:lnTo>
                  <a:pt x="2078936" y="628878"/>
                </a:lnTo>
                <a:lnTo>
                  <a:pt x="0" y="6288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rot="7595610">
            <a:off x="6953200" y="6193675"/>
            <a:ext cx="2078935" cy="628878"/>
          </a:xfrm>
          <a:custGeom>
            <a:avLst/>
            <a:gdLst/>
            <a:ahLst/>
            <a:cxnLst/>
            <a:rect l="l" t="t" r="r" b="b"/>
            <a:pathLst>
              <a:path w="2078935" h="628878">
                <a:moveTo>
                  <a:pt x="0" y="0"/>
                </a:moveTo>
                <a:lnTo>
                  <a:pt x="2078935" y="0"/>
                </a:lnTo>
                <a:lnTo>
                  <a:pt x="2078935" y="628878"/>
                </a:lnTo>
                <a:lnTo>
                  <a:pt x="0" y="6288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rot="3756754">
            <a:off x="9411921" y="6239259"/>
            <a:ext cx="2078935" cy="628878"/>
          </a:xfrm>
          <a:custGeom>
            <a:avLst/>
            <a:gdLst/>
            <a:ahLst/>
            <a:cxnLst/>
            <a:rect l="l" t="t" r="r" b="b"/>
            <a:pathLst>
              <a:path w="2078935" h="628878">
                <a:moveTo>
                  <a:pt x="0" y="0"/>
                </a:moveTo>
                <a:lnTo>
                  <a:pt x="2078935" y="0"/>
                </a:lnTo>
                <a:lnTo>
                  <a:pt x="2078935" y="628877"/>
                </a:lnTo>
                <a:lnTo>
                  <a:pt x="0" y="628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rot="378146">
            <a:off x="10998521" y="4784852"/>
            <a:ext cx="2078935" cy="628878"/>
          </a:xfrm>
          <a:custGeom>
            <a:avLst/>
            <a:gdLst/>
            <a:ahLst/>
            <a:cxnLst/>
            <a:rect l="l" t="t" r="r" b="b"/>
            <a:pathLst>
              <a:path w="2078935" h="628878">
                <a:moveTo>
                  <a:pt x="0" y="0"/>
                </a:moveTo>
                <a:lnTo>
                  <a:pt x="2078935" y="0"/>
                </a:lnTo>
                <a:lnTo>
                  <a:pt x="2078935" y="628878"/>
                </a:lnTo>
                <a:lnTo>
                  <a:pt x="0" y="6288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2079675" y="749584"/>
            <a:ext cx="5232025"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SAMPLE ANSWER</a:t>
            </a:r>
          </a:p>
        </p:txBody>
      </p:sp>
      <p:sp>
        <p:nvSpPr>
          <p:cNvPr id="3" name="Freeform 3"/>
          <p:cNvSpPr/>
          <p:nvPr/>
        </p:nvSpPr>
        <p:spPr>
          <a:xfrm>
            <a:off x="467974" y="46797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838415" y="1890375"/>
            <a:ext cx="16275958" cy="7982942"/>
          </a:xfrm>
          <a:prstGeom prst="rect">
            <a:avLst/>
          </a:prstGeom>
        </p:spPr>
        <p:txBody>
          <a:bodyPr lIns="0" tIns="0" rIns="0" bIns="0" rtlCol="0" anchor="t">
            <a:spAutoFit/>
          </a:bodyPr>
          <a:lstStyle/>
          <a:p>
            <a:pPr algn="just">
              <a:lnSpc>
                <a:spcPts val="4200"/>
              </a:lnSpc>
            </a:pPr>
            <a:r>
              <a:rPr lang="en-US" sz="3000" b="1" dirty="0">
                <a:solidFill>
                  <a:srgbClr val="15E8C2"/>
                </a:solidFill>
                <a:latin typeface="Montserrat Bold"/>
                <a:ea typeface="Montserrat Bold"/>
                <a:cs typeface="Montserrat Bold"/>
                <a:sym typeface="Montserrat Bold"/>
              </a:rPr>
              <a:t>Situation </a:t>
            </a:r>
          </a:p>
          <a:p>
            <a:pPr algn="just">
              <a:lnSpc>
                <a:spcPts val="4200"/>
              </a:lnSpc>
            </a:pPr>
            <a:r>
              <a:rPr lang="en-US" sz="3000" dirty="0">
                <a:solidFill>
                  <a:srgbClr val="FF5757"/>
                </a:solidFill>
                <a:latin typeface="Montserrat"/>
                <a:ea typeface="Montserrat"/>
                <a:cs typeface="Montserrat"/>
                <a:sym typeface="Montserrat"/>
              </a:rPr>
              <a:t>As a part of a</a:t>
            </a:r>
            <a:r>
              <a:rPr lang="en-US" sz="3000" dirty="0">
                <a:solidFill>
                  <a:srgbClr val="FFFFFF"/>
                </a:solidFill>
                <a:latin typeface="Montserrat"/>
                <a:ea typeface="Montserrat"/>
                <a:cs typeface="Montserrat"/>
                <a:sym typeface="Montserrat"/>
              </a:rPr>
              <a:t> company rebranding, we were moving our site to a new domain. The old domain had gained significant domain authority over the years and, at the time, was generating trials worth $4.50 each, and we were getting approximately 1,000 per day. </a:t>
            </a:r>
            <a:r>
              <a:rPr lang="en-US" sz="3000" dirty="0">
                <a:solidFill>
                  <a:srgbClr val="FF5757"/>
                </a:solidFill>
                <a:latin typeface="Montserrat"/>
                <a:ea typeface="Montserrat"/>
                <a:cs typeface="Montserrat"/>
                <a:sym typeface="Montserrat"/>
              </a:rPr>
              <a:t>The goal was to</a:t>
            </a:r>
            <a:r>
              <a:rPr lang="en-US" sz="3000" dirty="0">
                <a:solidFill>
                  <a:srgbClr val="FFFFFF"/>
                </a:solidFill>
                <a:latin typeface="Montserrat"/>
                <a:ea typeface="Montserrat"/>
                <a:cs typeface="Montserrat"/>
                <a:sym typeface="Montserrat"/>
              </a:rPr>
              <a:t> complete the migration while protecting that line of revenue.</a:t>
            </a:r>
          </a:p>
          <a:p>
            <a:pPr algn="just">
              <a:lnSpc>
                <a:spcPts val="4200"/>
              </a:lnSpc>
            </a:pPr>
            <a:endParaRPr lang="en-US" sz="3000" dirty="0">
              <a:solidFill>
                <a:srgbClr val="FFFFFF"/>
              </a:solidFill>
              <a:latin typeface="Montserrat"/>
              <a:ea typeface="Montserrat"/>
              <a:cs typeface="Montserrat"/>
              <a:sym typeface="Montserrat"/>
            </a:endParaRPr>
          </a:p>
          <a:p>
            <a:pPr algn="just">
              <a:lnSpc>
                <a:spcPts val="4200"/>
              </a:lnSpc>
            </a:pPr>
            <a:r>
              <a:rPr lang="en-US" sz="3000" b="1" dirty="0">
                <a:solidFill>
                  <a:srgbClr val="95C740"/>
                </a:solidFill>
                <a:latin typeface="Montserrat Bold"/>
                <a:ea typeface="Montserrat Bold"/>
                <a:cs typeface="Montserrat Bold"/>
                <a:sym typeface="Montserrat Bold"/>
              </a:rPr>
              <a:t>Task &amp; Action </a:t>
            </a:r>
          </a:p>
          <a:p>
            <a:pPr algn="just">
              <a:lnSpc>
                <a:spcPts val="4200"/>
              </a:lnSpc>
            </a:pPr>
            <a:r>
              <a:rPr lang="en-US" sz="3000" dirty="0">
                <a:solidFill>
                  <a:srgbClr val="FF5757"/>
                </a:solidFill>
                <a:latin typeface="Montserrat"/>
                <a:ea typeface="Montserrat"/>
                <a:cs typeface="Montserrat"/>
                <a:sym typeface="Montserrat"/>
              </a:rPr>
              <a:t>I didn’t see anyone treating this project with the sense of urgency or risk mitigation that I thought it needed, so I took over coordinating it,</a:t>
            </a:r>
            <a:r>
              <a:rPr lang="en-US" sz="3000" dirty="0">
                <a:solidFill>
                  <a:srgbClr val="FFFFFF"/>
                </a:solidFill>
                <a:latin typeface="Montserrat"/>
                <a:ea typeface="Montserrat"/>
                <a:cs typeface="Montserrat"/>
                <a:sym typeface="Montserrat"/>
              </a:rPr>
              <a:t> </a:t>
            </a:r>
            <a:r>
              <a:rPr lang="en-US" sz="3000" dirty="0">
                <a:solidFill>
                  <a:srgbClr val="FF5757"/>
                </a:solidFill>
                <a:latin typeface="Montserrat"/>
                <a:ea typeface="Montserrat"/>
                <a:cs typeface="Montserrat"/>
                <a:sym typeface="Montserrat"/>
              </a:rPr>
              <a:t>although it would have normally fallen to</a:t>
            </a:r>
            <a:r>
              <a:rPr lang="en-US" sz="3000" dirty="0">
                <a:solidFill>
                  <a:srgbClr val="FFFFFF"/>
                </a:solidFill>
                <a:latin typeface="Montserrat"/>
                <a:ea typeface="Montserrat"/>
                <a:cs typeface="Montserrat"/>
                <a:sym typeface="Montserrat"/>
              </a:rPr>
              <a:t> the marketing team to lead this effort. </a:t>
            </a:r>
            <a:r>
              <a:rPr lang="en-US" sz="3000" dirty="0">
                <a:solidFill>
                  <a:srgbClr val="FF5757"/>
                </a:solidFill>
                <a:latin typeface="Montserrat"/>
                <a:ea typeface="Montserrat"/>
                <a:cs typeface="Montserrat"/>
                <a:sym typeface="Montserrat"/>
              </a:rPr>
              <a:t>While </a:t>
            </a:r>
            <a:r>
              <a:rPr lang="en-US" sz="3000" dirty="0">
                <a:solidFill>
                  <a:srgbClr val="FFFFFF"/>
                </a:solidFill>
                <a:latin typeface="Montserrat"/>
                <a:ea typeface="Montserrat"/>
                <a:cs typeface="Montserrat"/>
                <a:sym typeface="Montserrat"/>
              </a:rPr>
              <a:t>I wasn’t an expert, I had researched best practices around a site migration. I was convinced that the key was to migrate the content pages, set up 301 redirects, and have Google re-index the site as quickly as possible. </a:t>
            </a:r>
            <a:r>
              <a:rPr lang="en-US" sz="3000" dirty="0">
                <a:solidFill>
                  <a:srgbClr val="FF5757"/>
                </a:solidFill>
                <a:latin typeface="Montserrat"/>
                <a:ea typeface="Montserrat"/>
                <a:cs typeface="Montserrat"/>
                <a:sym typeface="Montserrat"/>
              </a:rPr>
              <a:t>It was inevitable that</a:t>
            </a:r>
            <a:r>
              <a:rPr lang="en-US" sz="3000" dirty="0">
                <a:solidFill>
                  <a:srgbClr val="FFFFFF"/>
                </a:solidFill>
                <a:latin typeface="Montserrat"/>
                <a:ea typeface="Montserrat"/>
                <a:cs typeface="Montserrat"/>
                <a:sym typeface="Montserrat"/>
              </a:rPr>
              <a:t> we’d lose some revenue during the migration, but I knew we could minimize it with decisive action and SEO best practices.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2079675" y="749584"/>
            <a:ext cx="5232025"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SAMPLE ANSWER</a:t>
            </a:r>
          </a:p>
        </p:txBody>
      </p:sp>
      <p:sp>
        <p:nvSpPr>
          <p:cNvPr id="3" name="Freeform 3"/>
          <p:cNvSpPr/>
          <p:nvPr/>
        </p:nvSpPr>
        <p:spPr>
          <a:xfrm>
            <a:off x="467974" y="46797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773939" y="2338147"/>
            <a:ext cx="16740121" cy="3580964"/>
          </a:xfrm>
          <a:prstGeom prst="rect">
            <a:avLst/>
          </a:prstGeom>
        </p:spPr>
        <p:txBody>
          <a:bodyPr lIns="0" tIns="0" rIns="0" bIns="0" rtlCol="0" anchor="t">
            <a:spAutoFit/>
          </a:bodyPr>
          <a:lstStyle/>
          <a:p>
            <a:pPr algn="just">
              <a:lnSpc>
                <a:spcPts val="4759"/>
              </a:lnSpc>
            </a:pPr>
            <a:r>
              <a:rPr lang="en-US" sz="3399" b="1">
                <a:solidFill>
                  <a:srgbClr val="C6A237"/>
                </a:solidFill>
                <a:latin typeface="Montserrat Bold"/>
                <a:ea typeface="Montserrat Bold"/>
                <a:cs typeface="Montserrat Bold"/>
                <a:sym typeface="Montserrat Bold"/>
              </a:rPr>
              <a:t>Result:</a:t>
            </a:r>
          </a:p>
          <a:p>
            <a:pPr algn="just">
              <a:lnSpc>
                <a:spcPts val="4759"/>
              </a:lnSpc>
            </a:pPr>
            <a:r>
              <a:rPr lang="en-US" sz="3399">
                <a:solidFill>
                  <a:srgbClr val="FF5757"/>
                </a:solidFill>
                <a:latin typeface="Montserrat"/>
                <a:ea typeface="Montserrat"/>
                <a:cs typeface="Montserrat"/>
                <a:sym typeface="Montserrat"/>
              </a:rPr>
              <a:t>I led the team through the implementation, while carefully</a:t>
            </a:r>
            <a:r>
              <a:rPr lang="en-US" sz="3399">
                <a:solidFill>
                  <a:srgbClr val="FFFFFF"/>
                </a:solidFill>
                <a:latin typeface="Montserrat"/>
                <a:ea typeface="Montserrat"/>
                <a:cs typeface="Montserrat"/>
                <a:sym typeface="Montserrat"/>
              </a:rPr>
              <a:t> monitoring the organic traffic data during the migration. We completed the migration as planned. While we initially saw a decline in organic traffic (as expected), it recovered quickly. We had successfully migrated to the new domain and still met our B2C budget numbers.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2079675" y="749584"/>
            <a:ext cx="11088801"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SENTENCE STRUCTURE TEMPLATES</a:t>
            </a:r>
          </a:p>
        </p:txBody>
      </p:sp>
      <p:sp>
        <p:nvSpPr>
          <p:cNvPr id="3" name="Freeform 3"/>
          <p:cNvSpPr/>
          <p:nvPr/>
        </p:nvSpPr>
        <p:spPr>
          <a:xfrm>
            <a:off x="467974" y="46797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467974" y="1848529"/>
            <a:ext cx="17416744" cy="6797676"/>
          </a:xfrm>
          <a:prstGeom prst="rect">
            <a:avLst/>
          </a:prstGeom>
        </p:spPr>
        <p:txBody>
          <a:bodyPr lIns="0" tIns="0" rIns="0" bIns="0" rtlCol="0" anchor="t">
            <a:spAutoFit/>
          </a:bodyPr>
          <a:lstStyle/>
          <a:p>
            <a:pPr algn="l">
              <a:lnSpc>
                <a:spcPts val="4900"/>
              </a:lnSpc>
            </a:pPr>
            <a:r>
              <a:rPr lang="en-US" sz="3500" b="1" dirty="0">
                <a:solidFill>
                  <a:srgbClr val="3EDAD8"/>
                </a:solidFill>
                <a:latin typeface="Montserrat Bold"/>
                <a:ea typeface="Montserrat Bold"/>
                <a:cs typeface="Montserrat Bold"/>
                <a:sym typeface="Montserrat Bold"/>
              </a:rPr>
              <a:t>Situation</a:t>
            </a:r>
          </a:p>
          <a:p>
            <a:pPr marL="755651" lvl="1" indent="-377825" algn="l">
              <a:lnSpc>
                <a:spcPts val="4900"/>
              </a:lnSpc>
              <a:buFont typeface="Arial"/>
              <a:buChar char="•"/>
            </a:pPr>
            <a:r>
              <a:rPr lang="en-US" sz="3500" dirty="0">
                <a:solidFill>
                  <a:srgbClr val="FFFFFF"/>
                </a:solidFill>
                <a:latin typeface="Montserrat"/>
                <a:ea typeface="Montserrat"/>
                <a:cs typeface="Montserrat"/>
                <a:sym typeface="Montserrat"/>
              </a:rPr>
              <a:t>At </a:t>
            </a:r>
            <a:r>
              <a:rPr lang="en-US" sz="3500" dirty="0">
                <a:solidFill>
                  <a:srgbClr val="95C740"/>
                </a:solidFill>
                <a:latin typeface="Montserrat"/>
                <a:ea typeface="Montserrat"/>
                <a:cs typeface="Montserrat"/>
                <a:sym typeface="Montserrat"/>
              </a:rPr>
              <a:t>[Company Name]</a:t>
            </a:r>
            <a:r>
              <a:rPr lang="en-US" sz="3500" dirty="0">
                <a:solidFill>
                  <a:srgbClr val="FFFFFF"/>
                </a:solidFill>
                <a:latin typeface="Montserrat"/>
                <a:ea typeface="Montserrat"/>
                <a:cs typeface="Montserrat"/>
                <a:sym typeface="Montserrat"/>
              </a:rPr>
              <a:t>, I was working as a backend developer, focusing on </a:t>
            </a:r>
            <a:r>
              <a:rPr lang="en-US" sz="3500" dirty="0">
                <a:solidFill>
                  <a:srgbClr val="95C740"/>
                </a:solidFill>
                <a:latin typeface="Montserrat"/>
                <a:ea typeface="Montserrat"/>
                <a:cs typeface="Montserrat"/>
                <a:sym typeface="Montserrat"/>
              </a:rPr>
              <a:t>[your main tasks]</a:t>
            </a:r>
            <a:r>
              <a:rPr lang="en-US" sz="3500" dirty="0">
                <a:solidFill>
                  <a:srgbClr val="FFFFFF"/>
                </a:solidFill>
                <a:latin typeface="Montserrat"/>
                <a:ea typeface="Montserrat"/>
                <a:cs typeface="Montserrat"/>
                <a:sym typeface="Montserrat"/>
              </a:rPr>
              <a:t>. One day, I noticed that </a:t>
            </a:r>
            <a:r>
              <a:rPr lang="en-US" sz="3500" dirty="0">
                <a:solidFill>
                  <a:srgbClr val="95C740"/>
                </a:solidFill>
                <a:latin typeface="Montserrat"/>
                <a:ea typeface="Montserrat"/>
                <a:cs typeface="Montserrat"/>
                <a:sym typeface="Montserrat"/>
              </a:rPr>
              <a:t>[describe the issue]</a:t>
            </a:r>
          </a:p>
          <a:p>
            <a:pPr marL="755651" lvl="1" indent="-377825" algn="l">
              <a:lnSpc>
                <a:spcPts val="4900"/>
              </a:lnSpc>
              <a:buFont typeface="Arial"/>
              <a:buChar char="•"/>
            </a:pPr>
            <a:r>
              <a:rPr lang="en-US" sz="3500" dirty="0">
                <a:solidFill>
                  <a:srgbClr val="FFFFFF"/>
                </a:solidFill>
                <a:latin typeface="Montserrat"/>
                <a:ea typeface="Montserrat"/>
                <a:cs typeface="Montserrat"/>
                <a:sym typeface="Montserrat"/>
              </a:rPr>
              <a:t>While I was working on </a:t>
            </a:r>
            <a:r>
              <a:rPr lang="en-US" sz="3500" dirty="0">
                <a:solidFill>
                  <a:srgbClr val="95C740"/>
                </a:solidFill>
                <a:latin typeface="Montserrat"/>
                <a:ea typeface="Montserrat"/>
                <a:cs typeface="Montserrat"/>
                <a:sym typeface="Montserrat"/>
              </a:rPr>
              <a:t>[specific project]</a:t>
            </a:r>
            <a:r>
              <a:rPr lang="en-US" sz="3500" dirty="0">
                <a:solidFill>
                  <a:srgbClr val="FFFFFF"/>
                </a:solidFill>
                <a:latin typeface="Montserrat"/>
                <a:ea typeface="Montserrat"/>
                <a:cs typeface="Montserrat"/>
                <a:sym typeface="Montserrat"/>
              </a:rPr>
              <a:t>, I realized that [</a:t>
            </a:r>
            <a:r>
              <a:rPr lang="en-US" sz="3500" dirty="0">
                <a:solidFill>
                  <a:srgbClr val="95C740"/>
                </a:solidFill>
                <a:latin typeface="Montserrat"/>
                <a:ea typeface="Montserrat"/>
                <a:cs typeface="Montserrat"/>
                <a:sym typeface="Montserrat"/>
              </a:rPr>
              <a:t>explain what prompted you to take on more work]</a:t>
            </a:r>
            <a:r>
              <a:rPr lang="en-US" sz="3500" dirty="0">
                <a:solidFill>
                  <a:srgbClr val="FFFFFF"/>
                </a:solidFill>
                <a:latin typeface="Montserrat"/>
                <a:ea typeface="Montserrat"/>
                <a:cs typeface="Montserrat"/>
                <a:sym typeface="Montserrat"/>
              </a:rPr>
              <a:t>.</a:t>
            </a:r>
          </a:p>
          <a:p>
            <a:pPr algn="l">
              <a:lnSpc>
                <a:spcPts val="4900"/>
              </a:lnSpc>
            </a:pPr>
            <a:endParaRPr lang="en-US" sz="3500" dirty="0">
              <a:solidFill>
                <a:srgbClr val="FFFFFF"/>
              </a:solidFill>
              <a:latin typeface="Montserrat"/>
              <a:ea typeface="Montserrat"/>
              <a:cs typeface="Montserrat"/>
              <a:sym typeface="Montserrat"/>
            </a:endParaRPr>
          </a:p>
          <a:p>
            <a:pPr algn="l">
              <a:lnSpc>
                <a:spcPts val="4900"/>
              </a:lnSpc>
            </a:pPr>
            <a:r>
              <a:rPr lang="en-US" sz="3500" b="1" dirty="0">
                <a:solidFill>
                  <a:srgbClr val="CB6CE6"/>
                </a:solidFill>
                <a:latin typeface="Montserrat Bold"/>
                <a:ea typeface="Montserrat Bold"/>
                <a:cs typeface="Montserrat Bold"/>
                <a:sym typeface="Montserrat Bold"/>
              </a:rPr>
              <a:t>Task</a:t>
            </a:r>
          </a:p>
          <a:p>
            <a:pPr marL="755651" lvl="1" indent="-377825" algn="l">
              <a:lnSpc>
                <a:spcPts val="4900"/>
              </a:lnSpc>
              <a:buFont typeface="Arial"/>
              <a:buChar char="•"/>
            </a:pPr>
            <a:r>
              <a:rPr lang="en-US" sz="3500" dirty="0">
                <a:solidFill>
                  <a:srgbClr val="FCFCFC"/>
                </a:solidFill>
                <a:latin typeface="Montserrat"/>
                <a:ea typeface="Montserrat"/>
                <a:cs typeface="Montserrat"/>
                <a:sym typeface="Montserrat"/>
              </a:rPr>
              <a:t>I decided to help with [</a:t>
            </a:r>
            <a:r>
              <a:rPr lang="en-US" sz="3500" dirty="0">
                <a:solidFill>
                  <a:srgbClr val="95C740"/>
                </a:solidFill>
                <a:latin typeface="Montserrat"/>
                <a:ea typeface="Montserrat"/>
                <a:cs typeface="Montserrat"/>
                <a:sym typeface="Montserrat"/>
              </a:rPr>
              <a:t>describe the extra responsibility you took on]</a:t>
            </a:r>
            <a:r>
              <a:rPr lang="en-US" sz="3500" dirty="0">
                <a:solidFill>
                  <a:srgbClr val="FCFCFC"/>
                </a:solidFill>
                <a:latin typeface="Montserrat"/>
                <a:ea typeface="Montserrat"/>
                <a:cs typeface="Montserrat"/>
                <a:sym typeface="Montserrat"/>
              </a:rPr>
              <a:t> because I thought it was important for </a:t>
            </a:r>
            <a:r>
              <a:rPr lang="en-US" sz="3500" dirty="0">
                <a:solidFill>
                  <a:srgbClr val="95C740"/>
                </a:solidFill>
                <a:latin typeface="Montserrat"/>
                <a:ea typeface="Montserrat"/>
                <a:cs typeface="Montserrat"/>
                <a:sym typeface="Montserrat"/>
              </a:rPr>
              <a:t>[explain why it mattered]</a:t>
            </a:r>
            <a:r>
              <a:rPr lang="en-US" sz="3500" dirty="0">
                <a:solidFill>
                  <a:srgbClr val="FCFCFC"/>
                </a:solidFill>
                <a:latin typeface="Montserrat"/>
                <a:ea typeface="Montserrat"/>
                <a:cs typeface="Montserrat"/>
                <a:sym typeface="Montserrat"/>
              </a:rPr>
              <a:t>.</a:t>
            </a:r>
          </a:p>
          <a:p>
            <a:pPr marL="755651" lvl="1" indent="-377825" algn="l">
              <a:lnSpc>
                <a:spcPts val="4900"/>
              </a:lnSpc>
              <a:buFont typeface="Arial"/>
              <a:buChar char="•"/>
            </a:pPr>
            <a:r>
              <a:rPr lang="en-US" sz="3500" dirty="0">
                <a:solidFill>
                  <a:srgbClr val="FCFCFC"/>
                </a:solidFill>
                <a:latin typeface="Montserrat"/>
                <a:ea typeface="Montserrat"/>
                <a:cs typeface="Montserrat"/>
                <a:sym typeface="Montserrat"/>
              </a:rPr>
              <a:t>My goal was to </a:t>
            </a:r>
            <a:r>
              <a:rPr lang="en-US" sz="3500" dirty="0">
                <a:solidFill>
                  <a:srgbClr val="95C740"/>
                </a:solidFill>
                <a:latin typeface="Montserrat"/>
                <a:ea typeface="Montserrat"/>
                <a:cs typeface="Montserrat"/>
                <a:sym typeface="Montserrat"/>
              </a:rPr>
              <a:t>[say what you wanted to achieve by taking on this task]</a:t>
            </a:r>
            <a:r>
              <a:rPr lang="en-US" sz="3500" dirty="0">
                <a:solidFill>
                  <a:srgbClr val="FCFCFC"/>
                </a:solidFill>
                <a:latin typeface="Montserrat"/>
                <a:ea typeface="Montserrat"/>
                <a:cs typeface="Montserrat"/>
                <a:sym typeface="Montserrat"/>
              </a:rPr>
              <a:t>.</a:t>
            </a:r>
          </a:p>
          <a:p>
            <a:pPr algn="l">
              <a:lnSpc>
                <a:spcPts val="4900"/>
              </a:lnSpc>
            </a:pPr>
            <a:endParaRPr lang="en-US" sz="3500" dirty="0">
              <a:solidFill>
                <a:srgbClr val="FCFCFC"/>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2099460" y="506074"/>
            <a:ext cx="11088801"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SENTENCE STRUCTURE TEMPLATES</a:t>
            </a:r>
          </a:p>
        </p:txBody>
      </p:sp>
      <p:sp>
        <p:nvSpPr>
          <p:cNvPr id="3" name="Freeform 3"/>
          <p:cNvSpPr/>
          <p:nvPr/>
        </p:nvSpPr>
        <p:spPr>
          <a:xfrm>
            <a:off x="644664" y="22446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644664" y="1977035"/>
            <a:ext cx="17416744" cy="7494359"/>
          </a:xfrm>
          <a:prstGeom prst="rect">
            <a:avLst/>
          </a:prstGeom>
        </p:spPr>
        <p:txBody>
          <a:bodyPr lIns="0" tIns="0" rIns="0" bIns="0" rtlCol="0" anchor="t">
            <a:spAutoFit/>
          </a:bodyPr>
          <a:lstStyle/>
          <a:p>
            <a:pPr algn="l">
              <a:lnSpc>
                <a:spcPts val="4900"/>
              </a:lnSpc>
            </a:pPr>
            <a:r>
              <a:rPr lang="en-US" sz="3500" b="1" dirty="0">
                <a:solidFill>
                  <a:srgbClr val="CB6CE6"/>
                </a:solidFill>
                <a:latin typeface="Montserrat Bold"/>
                <a:ea typeface="Montserrat Bold"/>
                <a:cs typeface="Montserrat Bold"/>
                <a:sym typeface="Montserrat Bold"/>
              </a:rPr>
              <a:t>Action</a:t>
            </a:r>
          </a:p>
          <a:p>
            <a:pPr marL="755651" lvl="1" indent="-377825" algn="l">
              <a:lnSpc>
                <a:spcPts val="4900"/>
              </a:lnSpc>
              <a:buFont typeface="Arial"/>
              <a:buChar char="•"/>
            </a:pPr>
            <a:r>
              <a:rPr lang="en-US" sz="3500" dirty="0">
                <a:solidFill>
                  <a:srgbClr val="FFFFFF"/>
                </a:solidFill>
                <a:latin typeface="Montserrat"/>
                <a:ea typeface="Montserrat"/>
                <a:cs typeface="Montserrat"/>
                <a:sym typeface="Montserrat"/>
              </a:rPr>
              <a:t>To do this, I </a:t>
            </a:r>
            <a:r>
              <a:rPr lang="en-US" sz="3500" dirty="0">
                <a:solidFill>
                  <a:srgbClr val="95C740"/>
                </a:solidFill>
                <a:latin typeface="Montserrat"/>
                <a:ea typeface="Montserrat"/>
                <a:cs typeface="Montserrat"/>
                <a:sym typeface="Montserrat"/>
              </a:rPr>
              <a:t>[explain what steps you took]</a:t>
            </a:r>
            <a:r>
              <a:rPr lang="en-US" sz="3500" dirty="0">
                <a:solidFill>
                  <a:srgbClr val="FFFFFF"/>
                </a:solidFill>
                <a:latin typeface="Montserrat"/>
                <a:ea typeface="Montserrat"/>
                <a:cs typeface="Montserrat"/>
                <a:sym typeface="Montserrat"/>
              </a:rPr>
              <a:t>. I worked with..........</a:t>
            </a:r>
          </a:p>
          <a:p>
            <a:pPr marL="755651" lvl="1" indent="-377825" algn="l">
              <a:lnSpc>
                <a:spcPts val="4900"/>
              </a:lnSpc>
              <a:buFont typeface="Arial"/>
              <a:buChar char="•"/>
            </a:pPr>
            <a:r>
              <a:rPr lang="en-US" sz="3500" dirty="0">
                <a:solidFill>
                  <a:srgbClr val="FFFFFF"/>
                </a:solidFill>
                <a:latin typeface="Montserrat"/>
                <a:ea typeface="Montserrat"/>
                <a:cs typeface="Montserrat"/>
                <a:sym typeface="Montserrat"/>
              </a:rPr>
              <a:t>I learned about </a:t>
            </a:r>
            <a:r>
              <a:rPr lang="en-US" sz="3500" dirty="0">
                <a:solidFill>
                  <a:srgbClr val="95C740"/>
                </a:solidFill>
                <a:latin typeface="Montserrat"/>
                <a:ea typeface="Montserrat"/>
                <a:cs typeface="Montserrat"/>
                <a:sym typeface="Montserrat"/>
              </a:rPr>
              <a:t>[mention any tools or techniques]</a:t>
            </a:r>
            <a:r>
              <a:rPr lang="en-US" sz="3500" dirty="0">
                <a:solidFill>
                  <a:srgbClr val="FFFFFF"/>
                </a:solidFill>
                <a:latin typeface="Montserrat"/>
                <a:ea typeface="Montserrat"/>
                <a:cs typeface="Montserrat"/>
                <a:sym typeface="Montserrat"/>
              </a:rPr>
              <a:t> and put together </a:t>
            </a:r>
            <a:r>
              <a:rPr lang="en-US" sz="3500" dirty="0">
                <a:solidFill>
                  <a:srgbClr val="95C740"/>
                </a:solidFill>
                <a:latin typeface="Montserrat"/>
                <a:ea typeface="Montserrat"/>
                <a:cs typeface="Montserrat"/>
                <a:sym typeface="Montserrat"/>
              </a:rPr>
              <a:t>[describe what you did]</a:t>
            </a:r>
            <a:r>
              <a:rPr lang="en-US" sz="3500" dirty="0">
                <a:solidFill>
                  <a:srgbClr val="FFFFFF"/>
                </a:solidFill>
                <a:latin typeface="Montserrat"/>
                <a:ea typeface="Montserrat"/>
                <a:cs typeface="Montserrat"/>
                <a:sym typeface="Montserrat"/>
              </a:rPr>
              <a:t>.</a:t>
            </a:r>
          </a:p>
          <a:p>
            <a:pPr marL="755651" lvl="1" indent="-377825" algn="l">
              <a:lnSpc>
                <a:spcPts val="4900"/>
              </a:lnSpc>
              <a:buFont typeface="Arial"/>
              <a:buChar char="•"/>
            </a:pPr>
            <a:r>
              <a:rPr lang="en-US" sz="3600" dirty="0">
                <a:solidFill>
                  <a:schemeClr val="bg1"/>
                </a:solidFill>
                <a:latin typeface="Montserrat"/>
                <a:ea typeface="Montserrat"/>
                <a:cs typeface="Montserrat"/>
                <a:sym typeface="Montserrat"/>
              </a:rPr>
              <a:t>I didn’t see anyone treating this project with the sense of urgency or risk mitigation that I thought it needed, so I took over coordinating it, although it would have normally fallen to…………</a:t>
            </a:r>
            <a:endParaRPr lang="en-US" sz="3500" dirty="0">
              <a:solidFill>
                <a:schemeClr val="bg1"/>
              </a:solidFill>
              <a:latin typeface="Montserrat"/>
              <a:ea typeface="Montserrat"/>
              <a:cs typeface="Montserrat"/>
              <a:sym typeface="Montserrat"/>
            </a:endParaRPr>
          </a:p>
          <a:p>
            <a:pPr algn="l">
              <a:lnSpc>
                <a:spcPts val="4900"/>
              </a:lnSpc>
            </a:pPr>
            <a:endParaRPr lang="en-US" sz="3500" dirty="0">
              <a:solidFill>
                <a:srgbClr val="FFFFFF"/>
              </a:solidFill>
              <a:latin typeface="Montserrat"/>
              <a:ea typeface="Montserrat"/>
              <a:cs typeface="Montserrat"/>
              <a:sym typeface="Montserrat"/>
            </a:endParaRPr>
          </a:p>
          <a:p>
            <a:pPr algn="l">
              <a:lnSpc>
                <a:spcPts val="4900"/>
              </a:lnSpc>
            </a:pPr>
            <a:r>
              <a:rPr lang="en-US" sz="3500" b="1" dirty="0">
                <a:solidFill>
                  <a:srgbClr val="C6A237"/>
                </a:solidFill>
                <a:latin typeface="Montserrat Bold"/>
                <a:ea typeface="Montserrat Bold"/>
                <a:cs typeface="Montserrat Bold"/>
                <a:sym typeface="Montserrat Bold"/>
              </a:rPr>
              <a:t>Result</a:t>
            </a:r>
          </a:p>
          <a:p>
            <a:pPr marL="755651" lvl="1" indent="-377825" algn="l">
              <a:lnSpc>
                <a:spcPts val="4900"/>
              </a:lnSpc>
              <a:buFont typeface="Arial"/>
              <a:buChar char="•"/>
            </a:pPr>
            <a:r>
              <a:rPr lang="en-US" sz="3500" dirty="0">
                <a:solidFill>
                  <a:srgbClr val="FFFFFF"/>
                </a:solidFill>
                <a:latin typeface="Montserrat"/>
                <a:ea typeface="Montserrat"/>
                <a:cs typeface="Montserrat"/>
                <a:sym typeface="Montserrat"/>
              </a:rPr>
              <a:t>In the end,...................................</a:t>
            </a:r>
          </a:p>
          <a:p>
            <a:pPr marL="755651" lvl="1" indent="-377825" algn="l">
              <a:lnSpc>
                <a:spcPts val="4900"/>
              </a:lnSpc>
              <a:buFont typeface="Arial"/>
              <a:buChar char="•"/>
            </a:pPr>
            <a:r>
              <a:rPr lang="en-US" sz="3500" dirty="0">
                <a:solidFill>
                  <a:srgbClr val="FFFFFF"/>
                </a:solidFill>
                <a:latin typeface="Montserrat"/>
                <a:ea typeface="Montserrat"/>
                <a:cs typeface="Montserrat"/>
                <a:sym typeface="Montserrat"/>
              </a:rPr>
              <a:t>This taught me </a:t>
            </a:r>
            <a:r>
              <a:rPr lang="en-US" sz="3500" dirty="0">
                <a:solidFill>
                  <a:srgbClr val="95C740"/>
                </a:solidFill>
                <a:latin typeface="Montserrat"/>
                <a:ea typeface="Montserrat"/>
                <a:cs typeface="Montserrat"/>
                <a:sym typeface="Montserrat"/>
              </a:rPr>
              <a:t>[share any lessons learned]</a:t>
            </a:r>
            <a:r>
              <a:rPr lang="en-US" sz="3500" dirty="0">
                <a:solidFill>
                  <a:srgbClr val="FFFFFF"/>
                </a:solidFill>
                <a:latin typeface="Montserrat"/>
                <a:ea typeface="Montserrat"/>
                <a:cs typeface="Montserrat"/>
                <a:sym typeface="Montserrat"/>
              </a:rPr>
              <a:t>, and it helped our team by.............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1761684" y="540225"/>
            <a:ext cx="15872588" cy="1758514"/>
          </a:xfrm>
          <a:prstGeom prst="rect">
            <a:avLst/>
          </a:prstGeom>
        </p:spPr>
        <p:txBody>
          <a:bodyPr lIns="0" tIns="0" rIns="0" bIns="0" rtlCol="0" anchor="t">
            <a:spAutoFit/>
          </a:bodyPr>
          <a:lstStyle/>
          <a:p>
            <a:pPr algn="just">
              <a:lnSpc>
                <a:spcPts val="4620"/>
              </a:lnSpc>
            </a:pPr>
            <a:r>
              <a:rPr lang="en-US" sz="4200" b="1">
                <a:solidFill>
                  <a:srgbClr val="00B9EF"/>
                </a:solidFill>
                <a:latin typeface="Montserrat Bold"/>
                <a:ea typeface="Montserrat Bold"/>
                <a:cs typeface="Montserrat Bold"/>
                <a:sym typeface="Montserrat Bold"/>
              </a:rPr>
              <a:t>Variations of “Have you ever had to take responsibility for a mistake? How did you handle it, and what was the outcome?“</a:t>
            </a:r>
          </a:p>
        </p:txBody>
      </p:sp>
      <p:sp>
        <p:nvSpPr>
          <p:cNvPr id="3" name="Freeform 3"/>
          <p:cNvSpPr/>
          <p:nvPr/>
        </p:nvSpPr>
        <p:spPr>
          <a:xfrm>
            <a:off x="467974" y="569526"/>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028700" y="2565505"/>
            <a:ext cx="16698574" cy="6905360"/>
          </a:xfrm>
          <a:prstGeom prst="rect">
            <a:avLst/>
          </a:prstGeom>
        </p:spPr>
        <p:txBody>
          <a:bodyPr lIns="0" tIns="0" rIns="0" bIns="0" rtlCol="0" anchor="t">
            <a:spAutoFit/>
          </a:bodyPr>
          <a:lstStyle/>
          <a:p>
            <a:pPr marL="647700" lvl="1" indent="-323850" algn="l">
              <a:lnSpc>
                <a:spcPts val="6900"/>
              </a:lnSpc>
              <a:buFont typeface="Arial"/>
              <a:buChar char="•"/>
            </a:pPr>
            <a:r>
              <a:rPr lang="en-US" sz="3000">
                <a:solidFill>
                  <a:srgbClr val="FFFFFF"/>
                </a:solidFill>
                <a:latin typeface="Montserrat"/>
                <a:ea typeface="Montserrat"/>
                <a:cs typeface="Montserrat"/>
                <a:sym typeface="Montserrat"/>
              </a:rPr>
              <a:t>Provide an example of when you personally demonstrated ownership.</a:t>
            </a:r>
          </a:p>
          <a:p>
            <a:pPr marL="647700" lvl="1" indent="-323850" algn="l">
              <a:lnSpc>
                <a:spcPts val="6900"/>
              </a:lnSpc>
              <a:buFont typeface="Arial"/>
              <a:buChar char="•"/>
            </a:pPr>
            <a:r>
              <a:rPr lang="en-US" sz="3000">
                <a:solidFill>
                  <a:srgbClr val="FFFFFF"/>
                </a:solidFill>
                <a:latin typeface="Montserrat"/>
                <a:ea typeface="Montserrat"/>
                <a:cs typeface="Montserrat"/>
                <a:sym typeface="Montserrat"/>
              </a:rPr>
              <a:t>Tell me about a time you went above and beyond. What actions did you take? Why did you take those actions? What was the outcome?</a:t>
            </a:r>
          </a:p>
          <a:p>
            <a:pPr marL="647700" lvl="1" indent="-323850" algn="l">
              <a:lnSpc>
                <a:spcPts val="6900"/>
              </a:lnSpc>
              <a:buFont typeface="Arial"/>
              <a:buChar char="•"/>
            </a:pPr>
            <a:r>
              <a:rPr lang="en-US" sz="3000">
                <a:solidFill>
                  <a:srgbClr val="FFFFFF"/>
                </a:solidFill>
                <a:latin typeface="Montserrat"/>
                <a:ea typeface="Montserrat"/>
                <a:cs typeface="Montserrat"/>
                <a:sym typeface="Montserrat"/>
              </a:rPr>
              <a:t>Describe a project or idea (not necessarily your own) that was implemented primarily because of your efforts. What was your role? What was the outcome?</a:t>
            </a:r>
          </a:p>
          <a:p>
            <a:pPr marL="647700" lvl="1" indent="-323850" algn="l">
              <a:lnSpc>
                <a:spcPts val="6900"/>
              </a:lnSpc>
              <a:buFont typeface="Arial"/>
              <a:buChar char="•"/>
            </a:pPr>
            <a:r>
              <a:rPr lang="en-US" sz="3000">
                <a:solidFill>
                  <a:srgbClr val="FFFFFF"/>
                </a:solidFill>
                <a:latin typeface="Montserrat"/>
                <a:ea typeface="Montserrat"/>
                <a:cs typeface="Montserrat"/>
                <a:sym typeface="Montserrat"/>
              </a:rPr>
              <a:t> Give an example of when you saw a peer struggling and decided to step in and help. What was the situation and what actions did you take? What was the outcome?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6188994" y="7365830"/>
            <a:ext cx="6120792" cy="1406591"/>
          </a:xfrm>
          <a:prstGeom prst="rect">
            <a:avLst/>
          </a:prstGeom>
        </p:spPr>
        <p:txBody>
          <a:bodyPr lIns="0" tIns="0" rIns="0" bIns="0" rtlCol="0" anchor="t">
            <a:spAutoFit/>
          </a:bodyPr>
          <a:lstStyle/>
          <a:p>
            <a:pPr algn="ctr">
              <a:lnSpc>
                <a:spcPts val="5500"/>
              </a:lnSpc>
            </a:pPr>
            <a:r>
              <a:rPr lang="en-US" sz="5000" b="1">
                <a:solidFill>
                  <a:srgbClr val="00B9EF"/>
                </a:solidFill>
                <a:latin typeface="Montserrat Bold"/>
                <a:ea typeface="Montserrat Bold"/>
                <a:cs typeface="Montserrat Bold"/>
                <a:sym typeface="Montserrat Bold"/>
              </a:rPr>
              <a:t>BRAINSTORMING</a:t>
            </a:r>
          </a:p>
          <a:p>
            <a:pPr algn="ctr">
              <a:lnSpc>
                <a:spcPts val="5500"/>
              </a:lnSpc>
            </a:pPr>
            <a:r>
              <a:rPr lang="en-US" sz="5000" b="1">
                <a:solidFill>
                  <a:srgbClr val="00B9EF"/>
                </a:solidFill>
                <a:latin typeface="Montserrat Bold"/>
                <a:ea typeface="Montserrat Bold"/>
                <a:cs typeface="Montserrat Bold"/>
                <a:sym typeface="Montserrat Bold"/>
              </a:rPr>
              <a:t>Writing Time</a:t>
            </a:r>
          </a:p>
        </p:txBody>
      </p:sp>
      <p:sp>
        <p:nvSpPr>
          <p:cNvPr id="3" name="Freeform 3"/>
          <p:cNvSpPr/>
          <p:nvPr/>
        </p:nvSpPr>
        <p:spPr>
          <a:xfrm>
            <a:off x="6935311" y="2505665"/>
            <a:ext cx="4417378" cy="4411856"/>
          </a:xfrm>
          <a:custGeom>
            <a:avLst/>
            <a:gdLst/>
            <a:ahLst/>
            <a:cxnLst/>
            <a:rect l="l" t="t" r="r" b="b"/>
            <a:pathLst>
              <a:path w="4417378" h="4411856">
                <a:moveTo>
                  <a:pt x="0" y="0"/>
                </a:moveTo>
                <a:lnTo>
                  <a:pt x="4417378" y="0"/>
                </a:lnTo>
                <a:lnTo>
                  <a:pt x="4417378" y="4411856"/>
                </a:lnTo>
                <a:lnTo>
                  <a:pt x="0" y="4411856"/>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grpSp>
        <p:nvGrpSpPr>
          <p:cNvPr id="2" name="Group 2"/>
          <p:cNvGrpSpPr/>
          <p:nvPr/>
        </p:nvGrpSpPr>
        <p:grpSpPr>
          <a:xfrm>
            <a:off x="1386107" y="2274509"/>
            <a:ext cx="795045" cy="795045"/>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5E8C2"/>
            </a:solidFill>
          </p:spPr>
          <p:txBody>
            <a:bodyPr/>
            <a:lstStyle/>
            <a:p>
              <a:endParaRPr lang="en-US"/>
            </a:p>
          </p:txBody>
        </p:sp>
      </p:grpSp>
      <p:sp>
        <p:nvSpPr>
          <p:cNvPr id="4" name="Freeform 4"/>
          <p:cNvSpPr/>
          <p:nvPr/>
        </p:nvSpPr>
        <p:spPr>
          <a:xfrm>
            <a:off x="4784229" y="330603"/>
            <a:ext cx="819801" cy="995343"/>
          </a:xfrm>
          <a:custGeom>
            <a:avLst/>
            <a:gdLst/>
            <a:ahLst/>
            <a:cxnLst/>
            <a:rect l="l" t="t" r="r" b="b"/>
            <a:pathLst>
              <a:path w="819801" h="995343">
                <a:moveTo>
                  <a:pt x="0" y="0"/>
                </a:moveTo>
                <a:lnTo>
                  <a:pt x="819801" y="0"/>
                </a:lnTo>
                <a:lnTo>
                  <a:pt x="819801" y="995343"/>
                </a:lnTo>
                <a:lnTo>
                  <a:pt x="0" y="9953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2564885" y="2310462"/>
            <a:ext cx="14412163" cy="1838901"/>
          </a:xfrm>
          <a:prstGeom prst="rect">
            <a:avLst/>
          </a:prstGeom>
        </p:spPr>
        <p:txBody>
          <a:bodyPr lIns="0" tIns="0" rIns="0" bIns="0" rtlCol="0" anchor="t">
            <a:spAutoFit/>
          </a:bodyPr>
          <a:lstStyle/>
          <a:p>
            <a:pPr>
              <a:lnSpc>
                <a:spcPts val="4899"/>
              </a:lnSpc>
            </a:pPr>
            <a:r>
              <a:rPr lang="en-US" sz="3499" b="1" dirty="0">
                <a:solidFill>
                  <a:srgbClr val="FFFFFF"/>
                </a:solidFill>
                <a:latin typeface="Montserrat Bold"/>
                <a:ea typeface="Montserrat Bold"/>
                <a:cs typeface="Montserrat Bold"/>
                <a:sym typeface="Montserrat Bold"/>
              </a:rPr>
              <a:t>Give an example of when you saw a peer struggling and decided to step in and help. What was the situation and what actions did you take? What was the outcome?</a:t>
            </a:r>
          </a:p>
        </p:txBody>
      </p:sp>
      <p:sp>
        <p:nvSpPr>
          <p:cNvPr id="6" name="TextBox 6"/>
          <p:cNvSpPr txBox="1"/>
          <p:nvPr/>
        </p:nvSpPr>
        <p:spPr>
          <a:xfrm>
            <a:off x="5604030" y="549159"/>
            <a:ext cx="7116559" cy="596331"/>
          </a:xfrm>
          <a:prstGeom prst="rect">
            <a:avLst/>
          </a:prstGeom>
        </p:spPr>
        <p:txBody>
          <a:bodyPr lIns="0" tIns="0" rIns="0" bIns="0" rtlCol="0" anchor="t">
            <a:spAutoFit/>
          </a:bodyPr>
          <a:lstStyle/>
          <a:p>
            <a:pPr algn="ctr">
              <a:lnSpc>
                <a:spcPts val="4620"/>
              </a:lnSpc>
            </a:pPr>
            <a:r>
              <a:rPr lang="en-US" sz="4200">
                <a:solidFill>
                  <a:srgbClr val="00B9EF"/>
                </a:solidFill>
                <a:latin typeface="Poppins Bold"/>
                <a:ea typeface="Poppins Bold"/>
                <a:cs typeface="Poppins Bold"/>
                <a:sym typeface="Poppins Bold"/>
              </a:rPr>
              <a:t>ANALYZING QUESTIONS</a:t>
            </a:r>
          </a:p>
        </p:txBody>
      </p:sp>
      <p:sp>
        <p:nvSpPr>
          <p:cNvPr id="7" name="TextBox 7"/>
          <p:cNvSpPr txBox="1"/>
          <p:nvPr/>
        </p:nvSpPr>
        <p:spPr>
          <a:xfrm>
            <a:off x="1386107" y="2358087"/>
            <a:ext cx="795045" cy="615553"/>
          </a:xfrm>
          <a:prstGeom prst="rect">
            <a:avLst/>
          </a:prstGeom>
        </p:spPr>
        <p:txBody>
          <a:bodyPr lIns="0" tIns="0" rIns="0" bIns="0" rtlCol="0" anchor="t">
            <a:spAutoFit/>
          </a:bodyPr>
          <a:lstStyle/>
          <a:p>
            <a:pPr algn="ctr">
              <a:lnSpc>
                <a:spcPts val="4836"/>
              </a:lnSpc>
            </a:pPr>
            <a:r>
              <a:rPr lang="en-US" sz="3900" dirty="0">
                <a:solidFill>
                  <a:srgbClr val="900EED"/>
                </a:solidFill>
                <a:latin typeface="Poppins Bold"/>
                <a:ea typeface="Poppins Bold"/>
                <a:cs typeface="Poppins Bold"/>
                <a:sym typeface="Poppins Bold"/>
              </a:rPr>
              <a:t>2</a:t>
            </a:r>
          </a:p>
        </p:txBody>
      </p:sp>
      <p:sp>
        <p:nvSpPr>
          <p:cNvPr id="8" name="TextBox 8"/>
          <p:cNvSpPr txBox="1"/>
          <p:nvPr/>
        </p:nvSpPr>
        <p:spPr>
          <a:xfrm>
            <a:off x="1497012" y="6076553"/>
            <a:ext cx="15918561" cy="3181747"/>
          </a:xfrm>
          <a:prstGeom prst="rect">
            <a:avLst/>
          </a:prstGeom>
        </p:spPr>
        <p:txBody>
          <a:bodyPr lIns="0" tIns="0" rIns="0" bIns="0" rtlCol="0" anchor="t">
            <a:spAutoFit/>
          </a:bodyPr>
          <a:lstStyle/>
          <a:p>
            <a:pPr marL="647700" lvl="1" indent="-323850" algn="l">
              <a:lnSpc>
                <a:spcPts val="4200"/>
              </a:lnSpc>
              <a:buFont typeface="Arial"/>
              <a:buChar char="•"/>
            </a:pPr>
            <a:r>
              <a:rPr lang="en-US" sz="3000" dirty="0">
                <a:solidFill>
                  <a:srgbClr val="FFFFFF"/>
                </a:solidFill>
                <a:latin typeface="Montserrat"/>
                <a:ea typeface="Montserrat"/>
                <a:cs typeface="Montserrat"/>
                <a:sym typeface="Montserrat"/>
              </a:rPr>
              <a:t>Leadership Skills</a:t>
            </a:r>
          </a:p>
          <a:p>
            <a:pPr marL="647700" lvl="1" indent="-323850" algn="l">
              <a:lnSpc>
                <a:spcPts val="4200"/>
              </a:lnSpc>
              <a:buFont typeface="Arial"/>
              <a:buChar char="•"/>
            </a:pPr>
            <a:r>
              <a:rPr lang="en-US" sz="3000" dirty="0">
                <a:solidFill>
                  <a:srgbClr val="FFFFFF"/>
                </a:solidFill>
                <a:latin typeface="Montserrat"/>
                <a:ea typeface="Montserrat"/>
                <a:cs typeface="Montserrat"/>
                <a:sym typeface="Montserrat"/>
              </a:rPr>
              <a:t>Initiative and responsibility</a:t>
            </a:r>
          </a:p>
          <a:p>
            <a:pPr marL="647700" lvl="1" indent="-323850" algn="l">
              <a:lnSpc>
                <a:spcPts val="4200"/>
              </a:lnSpc>
              <a:buFont typeface="Arial"/>
              <a:buChar char="•"/>
            </a:pPr>
            <a:r>
              <a:rPr lang="en-US" sz="3000" dirty="0">
                <a:solidFill>
                  <a:srgbClr val="FFFFFF"/>
                </a:solidFill>
                <a:latin typeface="Montserrat"/>
                <a:ea typeface="Montserrat"/>
                <a:cs typeface="Montserrat"/>
                <a:sym typeface="Montserrat"/>
              </a:rPr>
              <a:t>Project management skills, including planning, organization, and execution</a:t>
            </a:r>
          </a:p>
          <a:p>
            <a:pPr marL="647700" lvl="1" indent="-323850" algn="l">
              <a:lnSpc>
                <a:spcPts val="4200"/>
              </a:lnSpc>
              <a:buFont typeface="Arial"/>
              <a:buChar char="•"/>
            </a:pPr>
            <a:r>
              <a:rPr lang="en-US" sz="3000" dirty="0">
                <a:solidFill>
                  <a:srgbClr val="FFFFFF"/>
                </a:solidFill>
                <a:latin typeface="Montserrat"/>
                <a:ea typeface="Montserrat"/>
                <a:cs typeface="Montserrat"/>
                <a:sym typeface="Montserrat"/>
              </a:rPr>
              <a:t>How you approach obstacles or setbacks</a:t>
            </a:r>
          </a:p>
          <a:p>
            <a:pPr marL="647700" lvl="1" indent="-323850" algn="l">
              <a:lnSpc>
                <a:spcPts val="4200"/>
              </a:lnSpc>
              <a:buFont typeface="Arial"/>
              <a:buChar char="•"/>
            </a:pPr>
            <a:r>
              <a:rPr lang="en-US" sz="3000" dirty="0">
                <a:solidFill>
                  <a:srgbClr val="FFFFFF"/>
                </a:solidFill>
                <a:latin typeface="Montserrat"/>
                <a:ea typeface="Montserrat"/>
                <a:cs typeface="Montserrat"/>
                <a:sym typeface="Montserrat"/>
              </a:rPr>
              <a:t>Outcome and impact</a:t>
            </a:r>
          </a:p>
          <a:p>
            <a:pPr marL="647700" lvl="1" indent="-323850" algn="l">
              <a:lnSpc>
                <a:spcPts val="4200"/>
              </a:lnSpc>
              <a:buFont typeface="Arial"/>
              <a:buChar char="•"/>
            </a:pPr>
            <a:r>
              <a:rPr lang="en-US" sz="3000" dirty="0">
                <a:solidFill>
                  <a:srgbClr val="FFFFFF"/>
                </a:solidFill>
                <a:latin typeface="Montserrat"/>
                <a:ea typeface="Montserrat"/>
                <a:cs typeface="Montserrat"/>
                <a:sym typeface="Montserrat"/>
              </a:rPr>
              <a:t>Reflection and learning</a:t>
            </a:r>
          </a:p>
        </p:txBody>
      </p:sp>
      <p:sp>
        <p:nvSpPr>
          <p:cNvPr id="9" name="Freeform 9"/>
          <p:cNvSpPr/>
          <p:nvPr/>
        </p:nvSpPr>
        <p:spPr>
          <a:xfrm rot="5400000">
            <a:off x="8190461" y="5052290"/>
            <a:ext cx="1943694" cy="587967"/>
          </a:xfrm>
          <a:custGeom>
            <a:avLst/>
            <a:gdLst/>
            <a:ahLst/>
            <a:cxnLst/>
            <a:rect l="l" t="t" r="r" b="b"/>
            <a:pathLst>
              <a:path w="1943694" h="587967">
                <a:moveTo>
                  <a:pt x="0" y="0"/>
                </a:moveTo>
                <a:lnTo>
                  <a:pt x="1943694" y="0"/>
                </a:lnTo>
                <a:lnTo>
                  <a:pt x="1943694" y="587967"/>
                </a:lnTo>
                <a:lnTo>
                  <a:pt x="0" y="5879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Freeform 2"/>
          <p:cNvSpPr/>
          <p:nvPr/>
        </p:nvSpPr>
        <p:spPr>
          <a:xfrm>
            <a:off x="17915017" y="9914017"/>
            <a:ext cx="745965" cy="607962"/>
          </a:xfrm>
          <a:custGeom>
            <a:avLst/>
            <a:gdLst/>
            <a:ahLst/>
            <a:cxnLst/>
            <a:rect l="l" t="t" r="r" b="b"/>
            <a:pathLst>
              <a:path w="745965" h="607962">
                <a:moveTo>
                  <a:pt x="0" y="0"/>
                </a:moveTo>
                <a:lnTo>
                  <a:pt x="745966" y="0"/>
                </a:lnTo>
                <a:lnTo>
                  <a:pt x="745966" y="607962"/>
                </a:lnTo>
                <a:lnTo>
                  <a:pt x="0" y="6079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600604" y="2857966"/>
            <a:ext cx="16658696" cy="5102055"/>
            <a:chOff x="0" y="0"/>
            <a:chExt cx="22211594" cy="6802740"/>
          </a:xfrm>
        </p:grpSpPr>
        <p:grpSp>
          <p:nvGrpSpPr>
            <p:cNvPr id="4" name="Group 4"/>
            <p:cNvGrpSpPr/>
            <p:nvPr/>
          </p:nvGrpSpPr>
          <p:grpSpPr>
            <a:xfrm>
              <a:off x="8047036" y="0"/>
              <a:ext cx="3074370" cy="3076553"/>
              <a:chOff x="0" y="0"/>
              <a:chExt cx="703047" cy="703546"/>
            </a:xfrm>
          </p:grpSpPr>
          <p:sp>
            <p:nvSpPr>
              <p:cNvPr id="5" name="Freeform 5"/>
              <p:cNvSpPr/>
              <p:nvPr/>
            </p:nvSpPr>
            <p:spPr>
              <a:xfrm>
                <a:off x="0" y="0"/>
                <a:ext cx="703047" cy="703546"/>
              </a:xfrm>
              <a:custGeom>
                <a:avLst/>
                <a:gdLst/>
                <a:ahLst/>
                <a:cxnLst/>
                <a:rect l="l" t="t" r="r" b="b"/>
                <a:pathLst>
                  <a:path w="703047" h="703546">
                    <a:moveTo>
                      <a:pt x="0" y="0"/>
                    </a:moveTo>
                    <a:lnTo>
                      <a:pt x="703047" y="0"/>
                    </a:lnTo>
                    <a:lnTo>
                      <a:pt x="703047" y="703546"/>
                    </a:lnTo>
                    <a:lnTo>
                      <a:pt x="0" y="703546"/>
                    </a:lnTo>
                    <a:close/>
                  </a:path>
                </a:pathLst>
              </a:custGeom>
              <a:solidFill>
                <a:srgbClr val="3BB8B2"/>
              </a:solidFill>
            </p:spPr>
            <p:txBody>
              <a:bodyPr/>
              <a:lstStyle/>
              <a:p>
                <a:endParaRPr lang="en-US"/>
              </a:p>
            </p:txBody>
          </p:sp>
          <p:sp>
            <p:nvSpPr>
              <p:cNvPr id="6" name="TextBox 6"/>
              <p:cNvSpPr txBox="1"/>
              <p:nvPr/>
            </p:nvSpPr>
            <p:spPr>
              <a:xfrm>
                <a:off x="0" y="-38100"/>
                <a:ext cx="703047" cy="741646"/>
              </a:xfrm>
              <a:prstGeom prst="rect">
                <a:avLst/>
              </a:prstGeom>
            </p:spPr>
            <p:txBody>
              <a:bodyPr lIns="45857" tIns="45857" rIns="45857" bIns="45857" rtlCol="0" anchor="ctr"/>
              <a:lstStyle/>
              <a:p>
                <a:pPr algn="ctr">
                  <a:lnSpc>
                    <a:spcPts val="2660"/>
                  </a:lnSpc>
                </a:pPr>
                <a:endParaRPr/>
              </a:p>
            </p:txBody>
          </p:sp>
        </p:grpSp>
        <p:grpSp>
          <p:nvGrpSpPr>
            <p:cNvPr id="7" name="Group 7"/>
            <p:cNvGrpSpPr/>
            <p:nvPr/>
          </p:nvGrpSpPr>
          <p:grpSpPr>
            <a:xfrm>
              <a:off x="8047036" y="3616130"/>
              <a:ext cx="3074370" cy="3015190"/>
              <a:chOff x="0" y="0"/>
              <a:chExt cx="703047" cy="689513"/>
            </a:xfrm>
          </p:grpSpPr>
          <p:sp>
            <p:nvSpPr>
              <p:cNvPr id="8" name="Freeform 8"/>
              <p:cNvSpPr/>
              <p:nvPr/>
            </p:nvSpPr>
            <p:spPr>
              <a:xfrm>
                <a:off x="0" y="0"/>
                <a:ext cx="703047" cy="689513"/>
              </a:xfrm>
              <a:custGeom>
                <a:avLst/>
                <a:gdLst/>
                <a:ahLst/>
                <a:cxnLst/>
                <a:rect l="l" t="t" r="r" b="b"/>
                <a:pathLst>
                  <a:path w="703047" h="689513">
                    <a:moveTo>
                      <a:pt x="0" y="0"/>
                    </a:moveTo>
                    <a:lnTo>
                      <a:pt x="703047" y="0"/>
                    </a:lnTo>
                    <a:lnTo>
                      <a:pt x="703047" y="689513"/>
                    </a:lnTo>
                    <a:lnTo>
                      <a:pt x="0" y="689513"/>
                    </a:lnTo>
                    <a:close/>
                  </a:path>
                </a:pathLst>
              </a:custGeom>
              <a:solidFill>
                <a:srgbClr val="4A80BE"/>
              </a:solidFill>
            </p:spPr>
            <p:txBody>
              <a:bodyPr/>
              <a:lstStyle/>
              <a:p>
                <a:endParaRPr lang="en-US"/>
              </a:p>
            </p:txBody>
          </p:sp>
          <p:sp>
            <p:nvSpPr>
              <p:cNvPr id="9" name="TextBox 9"/>
              <p:cNvSpPr txBox="1"/>
              <p:nvPr/>
            </p:nvSpPr>
            <p:spPr>
              <a:xfrm>
                <a:off x="0" y="-38100"/>
                <a:ext cx="703047" cy="727613"/>
              </a:xfrm>
              <a:prstGeom prst="rect">
                <a:avLst/>
              </a:prstGeom>
            </p:spPr>
            <p:txBody>
              <a:bodyPr lIns="45857" tIns="45857" rIns="45857" bIns="45857" rtlCol="0" anchor="ctr"/>
              <a:lstStyle/>
              <a:p>
                <a:pPr algn="ctr">
                  <a:lnSpc>
                    <a:spcPts val="2660"/>
                  </a:lnSpc>
                </a:pPr>
                <a:endParaRPr/>
              </a:p>
            </p:txBody>
          </p:sp>
        </p:grpSp>
        <p:grpSp>
          <p:nvGrpSpPr>
            <p:cNvPr id="10" name="Group 10"/>
            <p:cNvGrpSpPr/>
            <p:nvPr/>
          </p:nvGrpSpPr>
          <p:grpSpPr>
            <a:xfrm>
              <a:off x="11660983" y="0"/>
              <a:ext cx="3210373" cy="3076553"/>
              <a:chOff x="0" y="0"/>
              <a:chExt cx="734148" cy="703546"/>
            </a:xfrm>
          </p:grpSpPr>
          <p:sp>
            <p:nvSpPr>
              <p:cNvPr id="11" name="Freeform 11"/>
              <p:cNvSpPr/>
              <p:nvPr/>
            </p:nvSpPr>
            <p:spPr>
              <a:xfrm>
                <a:off x="0" y="0"/>
                <a:ext cx="734148" cy="703546"/>
              </a:xfrm>
              <a:custGeom>
                <a:avLst/>
                <a:gdLst/>
                <a:ahLst/>
                <a:cxnLst/>
                <a:rect l="l" t="t" r="r" b="b"/>
                <a:pathLst>
                  <a:path w="734148" h="703546">
                    <a:moveTo>
                      <a:pt x="0" y="0"/>
                    </a:moveTo>
                    <a:lnTo>
                      <a:pt x="734148" y="0"/>
                    </a:lnTo>
                    <a:lnTo>
                      <a:pt x="734148" y="703546"/>
                    </a:lnTo>
                    <a:lnTo>
                      <a:pt x="0" y="703546"/>
                    </a:lnTo>
                    <a:close/>
                  </a:path>
                </a:pathLst>
              </a:custGeom>
              <a:solidFill>
                <a:srgbClr val="35A7C0"/>
              </a:solidFill>
            </p:spPr>
            <p:txBody>
              <a:bodyPr/>
              <a:lstStyle/>
              <a:p>
                <a:endParaRPr lang="en-US"/>
              </a:p>
            </p:txBody>
          </p:sp>
          <p:sp>
            <p:nvSpPr>
              <p:cNvPr id="12" name="TextBox 12"/>
              <p:cNvSpPr txBox="1"/>
              <p:nvPr/>
            </p:nvSpPr>
            <p:spPr>
              <a:xfrm>
                <a:off x="0" y="-38100"/>
                <a:ext cx="734148" cy="741646"/>
              </a:xfrm>
              <a:prstGeom prst="rect">
                <a:avLst/>
              </a:prstGeom>
            </p:spPr>
            <p:txBody>
              <a:bodyPr lIns="45857" tIns="45857" rIns="45857" bIns="45857" rtlCol="0" anchor="ctr"/>
              <a:lstStyle/>
              <a:p>
                <a:pPr algn="ctr">
                  <a:lnSpc>
                    <a:spcPts val="2660"/>
                  </a:lnSpc>
                </a:pPr>
                <a:endParaRPr/>
              </a:p>
            </p:txBody>
          </p:sp>
        </p:grpSp>
        <p:grpSp>
          <p:nvGrpSpPr>
            <p:cNvPr id="13" name="Group 13"/>
            <p:cNvGrpSpPr/>
            <p:nvPr/>
          </p:nvGrpSpPr>
          <p:grpSpPr>
            <a:xfrm>
              <a:off x="11660983" y="3616130"/>
              <a:ext cx="3121473" cy="3186609"/>
              <a:chOff x="0" y="0"/>
              <a:chExt cx="713818" cy="728714"/>
            </a:xfrm>
          </p:grpSpPr>
          <p:sp>
            <p:nvSpPr>
              <p:cNvPr id="14" name="Freeform 14"/>
              <p:cNvSpPr/>
              <p:nvPr/>
            </p:nvSpPr>
            <p:spPr>
              <a:xfrm>
                <a:off x="0" y="0"/>
                <a:ext cx="713818" cy="728714"/>
              </a:xfrm>
              <a:custGeom>
                <a:avLst/>
                <a:gdLst/>
                <a:ahLst/>
                <a:cxnLst/>
                <a:rect l="l" t="t" r="r" b="b"/>
                <a:pathLst>
                  <a:path w="713818" h="728714">
                    <a:moveTo>
                      <a:pt x="0" y="0"/>
                    </a:moveTo>
                    <a:lnTo>
                      <a:pt x="713818" y="0"/>
                    </a:lnTo>
                    <a:lnTo>
                      <a:pt x="713818" y="728714"/>
                    </a:lnTo>
                    <a:lnTo>
                      <a:pt x="0" y="728714"/>
                    </a:lnTo>
                    <a:close/>
                  </a:path>
                </a:pathLst>
              </a:custGeom>
              <a:solidFill>
                <a:srgbClr val="7E5ABB"/>
              </a:solidFill>
            </p:spPr>
            <p:txBody>
              <a:bodyPr/>
              <a:lstStyle/>
              <a:p>
                <a:endParaRPr lang="en-US"/>
              </a:p>
            </p:txBody>
          </p:sp>
          <p:sp>
            <p:nvSpPr>
              <p:cNvPr id="15" name="TextBox 15"/>
              <p:cNvSpPr txBox="1"/>
              <p:nvPr/>
            </p:nvSpPr>
            <p:spPr>
              <a:xfrm>
                <a:off x="0" y="-38100"/>
                <a:ext cx="713818" cy="766814"/>
              </a:xfrm>
              <a:prstGeom prst="rect">
                <a:avLst/>
              </a:prstGeom>
            </p:spPr>
            <p:txBody>
              <a:bodyPr lIns="45857" tIns="45857" rIns="45857" bIns="45857" rtlCol="0" anchor="ctr"/>
              <a:lstStyle/>
              <a:p>
                <a:pPr algn="ctr">
                  <a:lnSpc>
                    <a:spcPts val="2660"/>
                  </a:lnSpc>
                </a:pPr>
                <a:endParaRPr/>
              </a:p>
            </p:txBody>
          </p:sp>
        </p:grpSp>
        <p:grpSp>
          <p:nvGrpSpPr>
            <p:cNvPr id="16" name="Group 16"/>
            <p:cNvGrpSpPr/>
            <p:nvPr/>
          </p:nvGrpSpPr>
          <p:grpSpPr>
            <a:xfrm>
              <a:off x="8848378" y="803526"/>
              <a:ext cx="5085632" cy="5085632"/>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B6CE6"/>
              </a:solidFill>
            </p:spPr>
            <p:txBody>
              <a:bodyPr/>
              <a:lstStyle/>
              <a:p>
                <a:endParaRPr lang="en-US"/>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Freeform 19"/>
            <p:cNvSpPr/>
            <p:nvPr/>
          </p:nvSpPr>
          <p:spPr>
            <a:xfrm rot="-2700000">
              <a:off x="12539756" y="4533824"/>
              <a:ext cx="1245444" cy="1167604"/>
            </a:xfrm>
            <a:custGeom>
              <a:avLst/>
              <a:gdLst/>
              <a:ahLst/>
              <a:cxnLst/>
              <a:rect l="l" t="t" r="r" b="b"/>
              <a:pathLst>
                <a:path w="1245444" h="1167604">
                  <a:moveTo>
                    <a:pt x="0" y="0"/>
                  </a:moveTo>
                  <a:lnTo>
                    <a:pt x="1245444" y="0"/>
                  </a:lnTo>
                  <a:lnTo>
                    <a:pt x="1245444" y="1167604"/>
                  </a:lnTo>
                  <a:lnTo>
                    <a:pt x="0" y="11676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0" name="Freeform 20"/>
            <p:cNvSpPr/>
            <p:nvPr/>
          </p:nvSpPr>
          <p:spPr>
            <a:xfrm rot="2700000">
              <a:off x="8997188" y="4533824"/>
              <a:ext cx="1245444" cy="1167604"/>
            </a:xfrm>
            <a:custGeom>
              <a:avLst/>
              <a:gdLst/>
              <a:ahLst/>
              <a:cxnLst/>
              <a:rect l="l" t="t" r="r" b="b"/>
              <a:pathLst>
                <a:path w="1245444" h="1167604">
                  <a:moveTo>
                    <a:pt x="0" y="0"/>
                  </a:moveTo>
                  <a:lnTo>
                    <a:pt x="1245445" y="0"/>
                  </a:lnTo>
                  <a:lnTo>
                    <a:pt x="1245445" y="1167604"/>
                  </a:lnTo>
                  <a:lnTo>
                    <a:pt x="0" y="11676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1" name="Freeform 21"/>
            <p:cNvSpPr/>
            <p:nvPr/>
          </p:nvSpPr>
          <p:spPr>
            <a:xfrm rot="8100000">
              <a:off x="8997188" y="991256"/>
              <a:ext cx="1245444" cy="1167604"/>
            </a:xfrm>
            <a:custGeom>
              <a:avLst/>
              <a:gdLst/>
              <a:ahLst/>
              <a:cxnLst/>
              <a:rect l="l" t="t" r="r" b="b"/>
              <a:pathLst>
                <a:path w="1245444" h="1167604">
                  <a:moveTo>
                    <a:pt x="0" y="0"/>
                  </a:moveTo>
                  <a:lnTo>
                    <a:pt x="1245445" y="0"/>
                  </a:lnTo>
                  <a:lnTo>
                    <a:pt x="1245445" y="1167604"/>
                  </a:lnTo>
                  <a:lnTo>
                    <a:pt x="0" y="116760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2" name="Freeform 22"/>
            <p:cNvSpPr/>
            <p:nvPr/>
          </p:nvSpPr>
          <p:spPr>
            <a:xfrm rot="-8100000">
              <a:off x="12539756" y="991256"/>
              <a:ext cx="1245444" cy="1167604"/>
            </a:xfrm>
            <a:custGeom>
              <a:avLst/>
              <a:gdLst/>
              <a:ahLst/>
              <a:cxnLst/>
              <a:rect l="l" t="t" r="r" b="b"/>
              <a:pathLst>
                <a:path w="1245444" h="1167604">
                  <a:moveTo>
                    <a:pt x="0" y="0"/>
                  </a:moveTo>
                  <a:lnTo>
                    <a:pt x="1245444" y="0"/>
                  </a:lnTo>
                  <a:lnTo>
                    <a:pt x="1245444" y="1167604"/>
                  </a:lnTo>
                  <a:lnTo>
                    <a:pt x="0" y="116760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23" name="Group 23"/>
            <p:cNvGrpSpPr/>
            <p:nvPr/>
          </p:nvGrpSpPr>
          <p:grpSpPr>
            <a:xfrm>
              <a:off x="9282399" y="1395978"/>
              <a:ext cx="4146117" cy="3816285"/>
              <a:chOff x="0" y="0"/>
              <a:chExt cx="883048" cy="812800"/>
            </a:xfrm>
          </p:grpSpPr>
          <p:sp>
            <p:nvSpPr>
              <p:cNvPr id="24" name="Freeform 24"/>
              <p:cNvSpPr/>
              <p:nvPr/>
            </p:nvSpPr>
            <p:spPr>
              <a:xfrm>
                <a:off x="0" y="0"/>
                <a:ext cx="883048" cy="812800"/>
              </a:xfrm>
              <a:custGeom>
                <a:avLst/>
                <a:gdLst/>
                <a:ahLst/>
                <a:cxnLst/>
                <a:rect l="l" t="t" r="r" b="b"/>
                <a:pathLst>
                  <a:path w="883048" h="812800">
                    <a:moveTo>
                      <a:pt x="441524" y="0"/>
                    </a:moveTo>
                    <a:cubicBezTo>
                      <a:pt x="197677" y="0"/>
                      <a:pt x="0" y="181951"/>
                      <a:pt x="0" y="406400"/>
                    </a:cubicBezTo>
                    <a:cubicBezTo>
                      <a:pt x="0" y="630849"/>
                      <a:pt x="197677" y="812800"/>
                      <a:pt x="441524" y="812800"/>
                    </a:cubicBezTo>
                    <a:cubicBezTo>
                      <a:pt x="685371" y="812800"/>
                      <a:pt x="883048" y="630849"/>
                      <a:pt x="883048" y="406400"/>
                    </a:cubicBezTo>
                    <a:cubicBezTo>
                      <a:pt x="883048" y="181951"/>
                      <a:pt x="685371" y="0"/>
                      <a:pt x="441524" y="0"/>
                    </a:cubicBezTo>
                    <a:close/>
                  </a:path>
                </a:pathLst>
              </a:custGeom>
              <a:solidFill>
                <a:srgbClr val="E7E7E7"/>
              </a:solidFill>
            </p:spPr>
            <p:txBody>
              <a:bodyPr/>
              <a:lstStyle/>
              <a:p>
                <a:endParaRPr lang="en-US"/>
              </a:p>
            </p:txBody>
          </p:sp>
          <p:sp>
            <p:nvSpPr>
              <p:cNvPr id="25" name="TextBox 25"/>
              <p:cNvSpPr txBox="1"/>
              <p:nvPr/>
            </p:nvSpPr>
            <p:spPr>
              <a:xfrm>
                <a:off x="82786" y="38100"/>
                <a:ext cx="717477" cy="698500"/>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9744807" y="2355941"/>
              <a:ext cx="3314831" cy="1820157"/>
            </a:xfrm>
            <a:prstGeom prst="rect">
              <a:avLst/>
            </a:prstGeom>
          </p:spPr>
          <p:txBody>
            <a:bodyPr lIns="0" tIns="0" rIns="0" bIns="0" rtlCol="0" anchor="t">
              <a:spAutoFit/>
            </a:bodyPr>
            <a:lstStyle/>
            <a:p>
              <a:pPr algn="ctr">
                <a:lnSpc>
                  <a:spcPts val="5599"/>
                </a:lnSpc>
              </a:pPr>
              <a:r>
                <a:rPr lang="en-US" sz="3999" b="1" spc="19">
                  <a:solidFill>
                    <a:srgbClr val="15E8C2"/>
                  </a:solidFill>
                  <a:latin typeface="Inter Bold"/>
                  <a:ea typeface="Inter Bold"/>
                  <a:cs typeface="Inter Bold"/>
                  <a:sym typeface="Inter Bold"/>
                </a:rPr>
                <a:t>S</a:t>
              </a:r>
              <a:r>
                <a:rPr lang="en-US" sz="3999" b="1" spc="19">
                  <a:solidFill>
                    <a:srgbClr val="CB6CE6"/>
                  </a:solidFill>
                  <a:latin typeface="Inter Bold"/>
                  <a:ea typeface="Inter Bold"/>
                  <a:cs typeface="Inter Bold"/>
                  <a:sym typeface="Inter Bold"/>
                </a:rPr>
                <a:t>T</a:t>
              </a:r>
              <a:r>
                <a:rPr lang="en-US" sz="3999" b="1" spc="19">
                  <a:solidFill>
                    <a:srgbClr val="95C740"/>
                  </a:solidFill>
                  <a:latin typeface="Inter Bold"/>
                  <a:ea typeface="Inter Bold"/>
                  <a:cs typeface="Inter Bold"/>
                  <a:sym typeface="Inter Bold"/>
                </a:rPr>
                <a:t>A</a:t>
              </a:r>
              <a:r>
                <a:rPr lang="en-US" sz="3999" b="1" spc="19">
                  <a:solidFill>
                    <a:srgbClr val="C6A237"/>
                  </a:solidFill>
                  <a:latin typeface="Inter Bold"/>
                  <a:ea typeface="Inter Bold"/>
                  <a:cs typeface="Inter Bold"/>
                  <a:sym typeface="Inter Bold"/>
                </a:rPr>
                <a:t>R</a:t>
              </a:r>
              <a:r>
                <a:rPr lang="en-US" sz="3999" b="1" spc="19">
                  <a:solidFill>
                    <a:srgbClr val="000000"/>
                  </a:solidFill>
                  <a:latin typeface="Inter Bold"/>
                  <a:ea typeface="Inter Bold"/>
                  <a:cs typeface="Inter Bold"/>
                  <a:sym typeface="Inter Bold"/>
                </a:rPr>
                <a:t> FORMAT</a:t>
              </a:r>
            </a:p>
          </p:txBody>
        </p:sp>
        <p:sp>
          <p:nvSpPr>
            <p:cNvPr id="27" name="TextBox 27"/>
            <p:cNvSpPr txBox="1"/>
            <p:nvPr/>
          </p:nvSpPr>
          <p:spPr>
            <a:xfrm>
              <a:off x="17461601" y="3626"/>
              <a:ext cx="4749993" cy="2201193"/>
            </a:xfrm>
            <a:prstGeom prst="rect">
              <a:avLst/>
            </a:prstGeom>
          </p:spPr>
          <p:txBody>
            <a:bodyPr lIns="0" tIns="0" rIns="0" bIns="0" rtlCol="0" anchor="t">
              <a:spAutoFit/>
            </a:bodyPr>
            <a:lstStyle/>
            <a:p>
              <a:pPr algn="l">
                <a:lnSpc>
                  <a:spcPts val="3359"/>
                </a:lnSpc>
              </a:pPr>
              <a:r>
                <a:rPr lang="en-US" sz="2399" spc="11">
                  <a:solidFill>
                    <a:srgbClr val="35A7C0"/>
                  </a:solidFill>
                  <a:latin typeface="Inter"/>
                  <a:ea typeface="Inter"/>
                  <a:cs typeface="Inter"/>
                  <a:sym typeface="Inter"/>
                </a:rPr>
                <a:t>What you have to do to achieve the goals of the project. </a:t>
              </a:r>
            </a:p>
            <a:p>
              <a:pPr algn="l">
                <a:lnSpc>
                  <a:spcPts val="3359"/>
                </a:lnSpc>
              </a:pPr>
              <a:endParaRPr lang="en-US" sz="2399" spc="11">
                <a:solidFill>
                  <a:srgbClr val="35A7C0"/>
                </a:solidFill>
                <a:latin typeface="Inter"/>
                <a:ea typeface="Inter"/>
                <a:cs typeface="Inter"/>
                <a:sym typeface="Inter"/>
              </a:endParaRPr>
            </a:p>
          </p:txBody>
        </p:sp>
        <p:sp>
          <p:nvSpPr>
            <p:cNvPr id="28" name="TextBox 28"/>
            <p:cNvSpPr txBox="1"/>
            <p:nvPr/>
          </p:nvSpPr>
          <p:spPr>
            <a:xfrm>
              <a:off x="15265056" y="-31916"/>
              <a:ext cx="1258508" cy="1159952"/>
            </a:xfrm>
            <a:prstGeom prst="rect">
              <a:avLst/>
            </a:prstGeom>
          </p:spPr>
          <p:txBody>
            <a:bodyPr lIns="0" tIns="0" rIns="0" bIns="0" rtlCol="0" anchor="t">
              <a:spAutoFit/>
            </a:bodyPr>
            <a:lstStyle/>
            <a:p>
              <a:pPr algn="r">
                <a:lnSpc>
                  <a:spcPts val="7316"/>
                </a:lnSpc>
              </a:pPr>
              <a:r>
                <a:rPr lang="en-US" sz="5226" b="1" spc="26">
                  <a:solidFill>
                    <a:srgbClr val="35A7C0"/>
                  </a:solidFill>
                  <a:latin typeface="Inter Bold"/>
                  <a:ea typeface="Inter Bold"/>
                  <a:cs typeface="Inter Bold"/>
                  <a:sym typeface="Inter Bold"/>
                </a:rPr>
                <a:t>02</a:t>
              </a:r>
            </a:p>
          </p:txBody>
        </p:sp>
        <p:sp>
          <p:nvSpPr>
            <p:cNvPr id="29" name="AutoShape 29"/>
            <p:cNvSpPr/>
            <p:nvPr/>
          </p:nvSpPr>
          <p:spPr>
            <a:xfrm flipV="1">
              <a:off x="17183964" y="133433"/>
              <a:ext cx="0" cy="827867"/>
            </a:xfrm>
            <a:prstGeom prst="line">
              <a:avLst/>
            </a:prstGeom>
            <a:ln w="25400" cap="flat">
              <a:solidFill>
                <a:srgbClr val="35A7C0"/>
              </a:solidFill>
              <a:prstDash val="solid"/>
              <a:headEnd type="none" w="sm" len="sm"/>
              <a:tailEnd type="none" w="sm" len="sm"/>
            </a:ln>
          </p:spPr>
          <p:txBody>
            <a:bodyPr/>
            <a:lstStyle/>
            <a:p>
              <a:endParaRPr lang="en-US"/>
            </a:p>
          </p:txBody>
        </p:sp>
        <p:sp>
          <p:nvSpPr>
            <p:cNvPr id="30" name="TextBox 30"/>
            <p:cNvSpPr txBox="1"/>
            <p:nvPr/>
          </p:nvSpPr>
          <p:spPr>
            <a:xfrm>
              <a:off x="6438435" y="-2849"/>
              <a:ext cx="1210459" cy="1111342"/>
            </a:xfrm>
            <a:prstGeom prst="rect">
              <a:avLst/>
            </a:prstGeom>
          </p:spPr>
          <p:txBody>
            <a:bodyPr lIns="0" tIns="0" rIns="0" bIns="0" rtlCol="0" anchor="t">
              <a:spAutoFit/>
            </a:bodyPr>
            <a:lstStyle/>
            <a:p>
              <a:pPr algn="just">
                <a:lnSpc>
                  <a:spcPts val="7037"/>
                </a:lnSpc>
              </a:pPr>
              <a:r>
                <a:rPr lang="en-US" sz="5026" b="1" spc="25">
                  <a:solidFill>
                    <a:srgbClr val="3BB8B2"/>
                  </a:solidFill>
                  <a:latin typeface="Inter Bold"/>
                  <a:ea typeface="Inter Bold"/>
                  <a:cs typeface="Inter Bold"/>
                  <a:sym typeface="Inter Bold"/>
                </a:rPr>
                <a:t>01</a:t>
              </a:r>
            </a:p>
          </p:txBody>
        </p:sp>
        <p:sp>
          <p:nvSpPr>
            <p:cNvPr id="31" name="TextBox 31"/>
            <p:cNvSpPr txBox="1"/>
            <p:nvPr/>
          </p:nvSpPr>
          <p:spPr>
            <a:xfrm>
              <a:off x="0" y="167280"/>
              <a:ext cx="5500398" cy="1642481"/>
            </a:xfrm>
            <a:prstGeom prst="rect">
              <a:avLst/>
            </a:prstGeom>
          </p:spPr>
          <p:txBody>
            <a:bodyPr lIns="0" tIns="0" rIns="0" bIns="0" rtlCol="0" anchor="t">
              <a:spAutoFit/>
            </a:bodyPr>
            <a:lstStyle/>
            <a:p>
              <a:pPr algn="r">
                <a:lnSpc>
                  <a:spcPts val="3359"/>
                </a:lnSpc>
              </a:pPr>
              <a:r>
                <a:rPr lang="en-US" sz="2399" b="1" spc="11">
                  <a:solidFill>
                    <a:srgbClr val="3BB8B2"/>
                  </a:solidFill>
                  <a:latin typeface="Inter Bold"/>
                  <a:ea typeface="Inter Bold"/>
                  <a:cs typeface="Inter Bold"/>
                  <a:sym typeface="Inter Bold"/>
                </a:rPr>
                <a:t>Introduce your last role/ position and project you were asigned </a:t>
              </a:r>
            </a:p>
          </p:txBody>
        </p:sp>
        <p:sp>
          <p:nvSpPr>
            <p:cNvPr id="32" name="AutoShape 32"/>
            <p:cNvSpPr/>
            <p:nvPr/>
          </p:nvSpPr>
          <p:spPr>
            <a:xfrm flipV="1">
              <a:off x="5790735" y="297086"/>
              <a:ext cx="0" cy="827867"/>
            </a:xfrm>
            <a:prstGeom prst="line">
              <a:avLst/>
            </a:prstGeom>
            <a:ln w="25400" cap="flat">
              <a:solidFill>
                <a:srgbClr val="3BB8B2"/>
              </a:solidFill>
              <a:prstDash val="solid"/>
              <a:headEnd type="none" w="sm" len="sm"/>
              <a:tailEnd type="none" w="sm" len="sm"/>
            </a:ln>
          </p:spPr>
          <p:txBody>
            <a:bodyPr/>
            <a:lstStyle/>
            <a:p>
              <a:endParaRPr lang="en-US"/>
            </a:p>
          </p:txBody>
        </p:sp>
        <p:sp>
          <p:nvSpPr>
            <p:cNvPr id="33" name="TextBox 33"/>
            <p:cNvSpPr txBox="1"/>
            <p:nvPr/>
          </p:nvSpPr>
          <p:spPr>
            <a:xfrm>
              <a:off x="6568755" y="4286549"/>
              <a:ext cx="1211581" cy="1112285"/>
            </a:xfrm>
            <a:prstGeom prst="rect">
              <a:avLst/>
            </a:prstGeom>
          </p:spPr>
          <p:txBody>
            <a:bodyPr lIns="0" tIns="0" rIns="0" bIns="0" rtlCol="0" anchor="t">
              <a:spAutoFit/>
            </a:bodyPr>
            <a:lstStyle/>
            <a:p>
              <a:pPr algn="just">
                <a:lnSpc>
                  <a:spcPts val="7044"/>
                </a:lnSpc>
              </a:pPr>
              <a:r>
                <a:rPr lang="en-US" sz="5031" b="1" spc="25">
                  <a:solidFill>
                    <a:srgbClr val="4A80BE"/>
                  </a:solidFill>
                  <a:latin typeface="Inter Bold"/>
                  <a:ea typeface="Inter Bold"/>
                  <a:cs typeface="Inter Bold"/>
                  <a:sym typeface="Inter Bold"/>
                </a:rPr>
                <a:t>03</a:t>
              </a:r>
            </a:p>
          </p:txBody>
        </p:sp>
        <p:sp>
          <p:nvSpPr>
            <p:cNvPr id="34" name="TextBox 34"/>
            <p:cNvSpPr txBox="1"/>
            <p:nvPr/>
          </p:nvSpPr>
          <p:spPr>
            <a:xfrm>
              <a:off x="2101864" y="4183253"/>
              <a:ext cx="3411234" cy="2201193"/>
            </a:xfrm>
            <a:prstGeom prst="rect">
              <a:avLst/>
            </a:prstGeom>
          </p:spPr>
          <p:txBody>
            <a:bodyPr lIns="0" tIns="0" rIns="0" bIns="0" rtlCol="0" anchor="t">
              <a:spAutoFit/>
            </a:bodyPr>
            <a:lstStyle/>
            <a:p>
              <a:pPr algn="r">
                <a:lnSpc>
                  <a:spcPts val="3359"/>
                </a:lnSpc>
              </a:pPr>
              <a:r>
                <a:rPr lang="en-US" sz="2399" b="1" spc="11">
                  <a:solidFill>
                    <a:srgbClr val="4A80BE"/>
                  </a:solidFill>
                  <a:latin typeface="Inter Bold"/>
                  <a:ea typeface="Inter Bold"/>
                  <a:cs typeface="Inter Bold"/>
                  <a:sym typeface="Inter Bold"/>
                </a:rPr>
                <a:t>How you take  steps/ plans to get project done</a:t>
              </a:r>
            </a:p>
            <a:p>
              <a:pPr algn="r">
                <a:lnSpc>
                  <a:spcPts val="3359"/>
                </a:lnSpc>
              </a:pPr>
              <a:endParaRPr lang="en-US" sz="2399" b="1" spc="11">
                <a:solidFill>
                  <a:srgbClr val="4A80BE"/>
                </a:solidFill>
                <a:latin typeface="Inter Bold"/>
                <a:ea typeface="Inter Bold"/>
                <a:cs typeface="Inter Bold"/>
                <a:sym typeface="Inter Bold"/>
              </a:endParaRPr>
            </a:p>
          </p:txBody>
        </p:sp>
        <p:sp>
          <p:nvSpPr>
            <p:cNvPr id="35" name="AutoShape 35"/>
            <p:cNvSpPr/>
            <p:nvPr/>
          </p:nvSpPr>
          <p:spPr>
            <a:xfrm flipV="1">
              <a:off x="5803435" y="4313059"/>
              <a:ext cx="0" cy="827867"/>
            </a:xfrm>
            <a:prstGeom prst="line">
              <a:avLst/>
            </a:prstGeom>
            <a:ln w="25400" cap="flat">
              <a:solidFill>
                <a:srgbClr val="4A80BE"/>
              </a:solidFill>
              <a:prstDash val="solid"/>
              <a:headEnd type="none" w="sm" len="sm"/>
              <a:tailEnd type="none" w="sm" len="sm"/>
            </a:ln>
          </p:spPr>
          <p:txBody>
            <a:bodyPr/>
            <a:lstStyle/>
            <a:p>
              <a:endParaRPr lang="en-US"/>
            </a:p>
          </p:txBody>
        </p:sp>
        <p:sp>
          <p:nvSpPr>
            <p:cNvPr id="36" name="TextBox 36"/>
            <p:cNvSpPr txBox="1"/>
            <p:nvPr/>
          </p:nvSpPr>
          <p:spPr>
            <a:xfrm>
              <a:off x="17474301" y="4183253"/>
              <a:ext cx="3411234" cy="2201193"/>
            </a:xfrm>
            <a:prstGeom prst="rect">
              <a:avLst/>
            </a:prstGeom>
          </p:spPr>
          <p:txBody>
            <a:bodyPr lIns="0" tIns="0" rIns="0" bIns="0" rtlCol="0" anchor="t">
              <a:spAutoFit/>
            </a:bodyPr>
            <a:lstStyle/>
            <a:p>
              <a:pPr algn="l">
                <a:lnSpc>
                  <a:spcPts val="3359"/>
                </a:lnSpc>
              </a:pPr>
              <a:r>
                <a:rPr lang="en-US" sz="2399" b="1" spc="11">
                  <a:solidFill>
                    <a:srgbClr val="7E5ABB"/>
                  </a:solidFill>
                  <a:latin typeface="Inter Bold"/>
                  <a:ea typeface="Inter Bold"/>
                  <a:cs typeface="Inter Bold"/>
                  <a:sym typeface="Inter Bold"/>
                </a:rPr>
                <a:t>Mention results /outcomes and reflect on your learning </a:t>
              </a:r>
            </a:p>
          </p:txBody>
        </p:sp>
        <p:sp>
          <p:nvSpPr>
            <p:cNvPr id="37" name="TextBox 37"/>
            <p:cNvSpPr txBox="1"/>
            <p:nvPr/>
          </p:nvSpPr>
          <p:spPr>
            <a:xfrm>
              <a:off x="15294217" y="4277024"/>
              <a:ext cx="1264064" cy="1164610"/>
            </a:xfrm>
            <a:prstGeom prst="rect">
              <a:avLst/>
            </a:prstGeom>
          </p:spPr>
          <p:txBody>
            <a:bodyPr lIns="0" tIns="0" rIns="0" bIns="0" rtlCol="0" anchor="t">
              <a:spAutoFit/>
            </a:bodyPr>
            <a:lstStyle/>
            <a:p>
              <a:pPr algn="r">
                <a:lnSpc>
                  <a:spcPts val="7349"/>
                </a:lnSpc>
              </a:pPr>
              <a:r>
                <a:rPr lang="en-US" sz="5249" b="1" spc="26">
                  <a:solidFill>
                    <a:srgbClr val="7E5ABB"/>
                  </a:solidFill>
                  <a:latin typeface="Inter Bold"/>
                  <a:ea typeface="Inter Bold"/>
                  <a:cs typeface="Inter Bold"/>
                  <a:sym typeface="Inter Bold"/>
                </a:rPr>
                <a:t>04</a:t>
              </a:r>
            </a:p>
          </p:txBody>
        </p:sp>
        <p:sp>
          <p:nvSpPr>
            <p:cNvPr id="38" name="AutoShape 38"/>
            <p:cNvSpPr/>
            <p:nvPr/>
          </p:nvSpPr>
          <p:spPr>
            <a:xfrm flipV="1">
              <a:off x="17196664" y="4313059"/>
              <a:ext cx="0" cy="827867"/>
            </a:xfrm>
            <a:prstGeom prst="line">
              <a:avLst/>
            </a:prstGeom>
            <a:ln w="25400" cap="flat">
              <a:solidFill>
                <a:srgbClr val="7E5ABB"/>
              </a:solidFill>
              <a:prstDash val="solid"/>
              <a:headEnd type="none" w="sm" len="sm"/>
              <a:tailEnd type="none" w="sm" len="sm"/>
            </a:ln>
          </p:spPr>
          <p:txBody>
            <a:bodyPr/>
            <a:lstStyle/>
            <a:p>
              <a:endParaRPr lang="en-US"/>
            </a:p>
          </p:txBody>
        </p:sp>
        <p:sp>
          <p:nvSpPr>
            <p:cNvPr id="39" name="AutoShape 39"/>
            <p:cNvSpPr/>
            <p:nvPr/>
          </p:nvSpPr>
          <p:spPr>
            <a:xfrm flipV="1">
              <a:off x="6438435" y="1251049"/>
              <a:ext cx="1031962" cy="0"/>
            </a:xfrm>
            <a:prstGeom prst="line">
              <a:avLst/>
            </a:prstGeom>
            <a:ln w="63500" cap="flat">
              <a:solidFill>
                <a:srgbClr val="3BB8B2"/>
              </a:solidFill>
              <a:prstDash val="solid"/>
              <a:headEnd type="oval" w="lg" len="lg"/>
              <a:tailEnd type="none" w="sm" len="sm"/>
            </a:ln>
          </p:spPr>
          <p:txBody>
            <a:bodyPr/>
            <a:lstStyle/>
            <a:p>
              <a:endParaRPr lang="en-US"/>
            </a:p>
          </p:txBody>
        </p:sp>
        <p:sp>
          <p:nvSpPr>
            <p:cNvPr id="40" name="AutoShape 40"/>
            <p:cNvSpPr/>
            <p:nvPr/>
          </p:nvSpPr>
          <p:spPr>
            <a:xfrm flipH="1">
              <a:off x="15303156" y="5441635"/>
              <a:ext cx="1040798" cy="0"/>
            </a:xfrm>
            <a:prstGeom prst="line">
              <a:avLst/>
            </a:prstGeom>
            <a:ln w="63500" cap="flat">
              <a:solidFill>
                <a:srgbClr val="7E5ABB"/>
              </a:solidFill>
              <a:prstDash val="solid"/>
              <a:headEnd type="oval" w="lg" len="lg"/>
              <a:tailEnd type="none" w="sm" len="sm"/>
            </a:ln>
          </p:spPr>
          <p:txBody>
            <a:bodyPr/>
            <a:lstStyle/>
            <a:p>
              <a:endParaRPr lang="en-US"/>
            </a:p>
          </p:txBody>
        </p:sp>
        <p:sp>
          <p:nvSpPr>
            <p:cNvPr id="41" name="AutoShape 41"/>
            <p:cNvSpPr/>
            <p:nvPr/>
          </p:nvSpPr>
          <p:spPr>
            <a:xfrm flipV="1">
              <a:off x="6438435" y="5441635"/>
              <a:ext cx="1031962" cy="0"/>
            </a:xfrm>
            <a:prstGeom prst="line">
              <a:avLst/>
            </a:prstGeom>
            <a:ln w="63500" cap="flat">
              <a:solidFill>
                <a:srgbClr val="4A80BE"/>
              </a:solidFill>
              <a:prstDash val="solid"/>
              <a:headEnd type="oval" w="lg" len="lg"/>
              <a:tailEnd type="none" w="sm" len="sm"/>
            </a:ln>
          </p:spPr>
          <p:txBody>
            <a:bodyPr/>
            <a:lstStyle/>
            <a:p>
              <a:endParaRPr lang="en-US"/>
            </a:p>
          </p:txBody>
        </p:sp>
        <p:sp>
          <p:nvSpPr>
            <p:cNvPr id="42" name="AutoShape 42"/>
            <p:cNvSpPr/>
            <p:nvPr/>
          </p:nvSpPr>
          <p:spPr>
            <a:xfrm flipH="1">
              <a:off x="15303156" y="1251049"/>
              <a:ext cx="1040798" cy="0"/>
            </a:xfrm>
            <a:prstGeom prst="line">
              <a:avLst/>
            </a:prstGeom>
            <a:ln w="63500" cap="flat">
              <a:solidFill>
                <a:srgbClr val="35A7C0"/>
              </a:solidFill>
              <a:prstDash val="solid"/>
              <a:headEnd type="oval" w="lg" len="lg"/>
              <a:tailEnd type="none" w="sm" len="sm"/>
            </a:ln>
          </p:spPr>
          <p:txBody>
            <a:bodyPr/>
            <a:lstStyle/>
            <a:p>
              <a:endParaRPr lang="en-US"/>
            </a:p>
          </p:txBody>
        </p:sp>
        <p:sp>
          <p:nvSpPr>
            <p:cNvPr id="43" name="Freeform 43"/>
            <p:cNvSpPr/>
            <p:nvPr/>
          </p:nvSpPr>
          <p:spPr>
            <a:xfrm>
              <a:off x="8312171" y="247352"/>
              <a:ext cx="1230433" cy="1394259"/>
            </a:xfrm>
            <a:custGeom>
              <a:avLst/>
              <a:gdLst/>
              <a:ahLst/>
              <a:cxnLst/>
              <a:rect l="l" t="t" r="r" b="b"/>
              <a:pathLst>
                <a:path w="1230433" h="1394259">
                  <a:moveTo>
                    <a:pt x="0" y="0"/>
                  </a:moveTo>
                  <a:lnTo>
                    <a:pt x="1230433" y="0"/>
                  </a:lnTo>
                  <a:lnTo>
                    <a:pt x="1230433" y="1394259"/>
                  </a:lnTo>
                  <a:lnTo>
                    <a:pt x="0" y="1394259"/>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44" name="Freeform 44"/>
            <p:cNvSpPr/>
            <p:nvPr/>
          </p:nvSpPr>
          <p:spPr>
            <a:xfrm>
              <a:off x="13373901" y="149041"/>
              <a:ext cx="1311596" cy="1492570"/>
            </a:xfrm>
            <a:custGeom>
              <a:avLst/>
              <a:gdLst/>
              <a:ahLst/>
              <a:cxnLst/>
              <a:rect l="l" t="t" r="r" b="b"/>
              <a:pathLst>
                <a:path w="1311596" h="1492570">
                  <a:moveTo>
                    <a:pt x="0" y="0"/>
                  </a:moveTo>
                  <a:lnTo>
                    <a:pt x="1311597" y="0"/>
                  </a:lnTo>
                  <a:lnTo>
                    <a:pt x="1311597" y="1492570"/>
                  </a:lnTo>
                  <a:lnTo>
                    <a:pt x="0" y="149257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45" name="Freeform 45"/>
            <p:cNvSpPr/>
            <p:nvPr/>
          </p:nvSpPr>
          <p:spPr>
            <a:xfrm>
              <a:off x="13265594" y="4972757"/>
              <a:ext cx="1239813" cy="1829983"/>
            </a:xfrm>
            <a:custGeom>
              <a:avLst/>
              <a:gdLst/>
              <a:ahLst/>
              <a:cxnLst/>
              <a:rect l="l" t="t" r="r" b="b"/>
              <a:pathLst>
                <a:path w="1239813" h="1829983">
                  <a:moveTo>
                    <a:pt x="0" y="0"/>
                  </a:moveTo>
                  <a:lnTo>
                    <a:pt x="1239813" y="0"/>
                  </a:lnTo>
                  <a:lnTo>
                    <a:pt x="1239813" y="1829983"/>
                  </a:lnTo>
                  <a:lnTo>
                    <a:pt x="0" y="182998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46" name="Freeform 46"/>
            <p:cNvSpPr/>
            <p:nvPr/>
          </p:nvSpPr>
          <p:spPr>
            <a:xfrm>
              <a:off x="8109968" y="5212262"/>
              <a:ext cx="1634838" cy="1287435"/>
            </a:xfrm>
            <a:custGeom>
              <a:avLst/>
              <a:gdLst/>
              <a:ahLst/>
              <a:cxnLst/>
              <a:rect l="l" t="t" r="r" b="b"/>
              <a:pathLst>
                <a:path w="1634838" h="1287435">
                  <a:moveTo>
                    <a:pt x="0" y="0"/>
                  </a:moveTo>
                  <a:lnTo>
                    <a:pt x="1634839" y="0"/>
                  </a:lnTo>
                  <a:lnTo>
                    <a:pt x="1634839" y="1287436"/>
                  </a:lnTo>
                  <a:lnTo>
                    <a:pt x="0" y="1287436"/>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US"/>
            </a:p>
          </p:txBody>
        </p:sp>
      </p:grpSp>
      <p:sp>
        <p:nvSpPr>
          <p:cNvPr id="47" name="TextBox 47"/>
          <p:cNvSpPr txBox="1"/>
          <p:nvPr/>
        </p:nvSpPr>
        <p:spPr>
          <a:xfrm>
            <a:off x="5742011" y="881005"/>
            <a:ext cx="7116559" cy="596331"/>
          </a:xfrm>
          <a:prstGeom prst="rect">
            <a:avLst/>
          </a:prstGeom>
        </p:spPr>
        <p:txBody>
          <a:bodyPr lIns="0" tIns="0" rIns="0" bIns="0" rtlCol="0" anchor="t">
            <a:spAutoFit/>
          </a:bodyPr>
          <a:lstStyle/>
          <a:p>
            <a:pPr algn="ctr">
              <a:lnSpc>
                <a:spcPts val="4620"/>
              </a:lnSpc>
            </a:pPr>
            <a:r>
              <a:rPr lang="en-US" sz="4200">
                <a:solidFill>
                  <a:srgbClr val="00B9EF"/>
                </a:solidFill>
                <a:latin typeface="Poppins Bold"/>
                <a:ea typeface="Poppins Bold"/>
                <a:cs typeface="Poppins Bold"/>
                <a:sym typeface="Poppins Bold"/>
              </a:rPr>
              <a:t>STRUCTURING ANSWERS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2099010" y="506074"/>
            <a:ext cx="5232025"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SAMPLE ANSWER</a:t>
            </a:r>
          </a:p>
        </p:txBody>
      </p:sp>
      <p:sp>
        <p:nvSpPr>
          <p:cNvPr id="3" name="Freeform 3"/>
          <p:cNvSpPr/>
          <p:nvPr/>
        </p:nvSpPr>
        <p:spPr>
          <a:xfrm>
            <a:off x="641992" y="22446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715991" y="2023027"/>
            <a:ext cx="16856018" cy="8039509"/>
          </a:xfrm>
          <a:prstGeom prst="rect">
            <a:avLst/>
          </a:prstGeom>
        </p:spPr>
        <p:txBody>
          <a:bodyPr lIns="0" tIns="0" rIns="0" bIns="0" rtlCol="0" anchor="t">
            <a:spAutoFit/>
          </a:bodyPr>
          <a:lstStyle/>
          <a:p>
            <a:pPr algn="just">
              <a:lnSpc>
                <a:spcPts val="4199"/>
              </a:lnSpc>
            </a:pPr>
            <a:r>
              <a:rPr lang="en-US" sz="2999" b="1" dirty="0">
                <a:solidFill>
                  <a:srgbClr val="3EDAD8"/>
                </a:solidFill>
                <a:latin typeface="Montserrat Bold"/>
                <a:ea typeface="Montserrat Bold"/>
                <a:cs typeface="Montserrat Bold"/>
                <a:sym typeface="Montserrat Bold"/>
              </a:rPr>
              <a:t>Situation</a:t>
            </a:r>
            <a:r>
              <a:rPr lang="en-US" sz="2999" b="1" dirty="0">
                <a:solidFill>
                  <a:schemeClr val="bg1"/>
                </a:solidFill>
                <a:latin typeface="Montserrat Bold"/>
                <a:ea typeface="Montserrat Bold"/>
                <a:cs typeface="Montserrat Bold"/>
                <a:sym typeface="Montserrat Bold"/>
              </a:rPr>
              <a:t>: </a:t>
            </a:r>
            <a:r>
              <a:rPr lang="en-US" sz="2999" dirty="0">
                <a:solidFill>
                  <a:schemeClr val="bg1"/>
                </a:solidFill>
                <a:latin typeface="Montserrat"/>
                <a:ea typeface="Montserrat"/>
                <a:cs typeface="Montserrat"/>
                <a:sym typeface="Montserrat"/>
              </a:rPr>
              <a:t>In a recent software development project, a teammate was assigned a task involving a complex algorithm. </a:t>
            </a:r>
            <a:r>
              <a:rPr lang="en-US" sz="2999" dirty="0">
                <a:solidFill>
                  <a:srgbClr val="FF0000"/>
                </a:solidFill>
                <a:latin typeface="Montserrat"/>
                <a:ea typeface="Montserrat"/>
                <a:cs typeface="Montserrat"/>
                <a:sym typeface="Montserrat"/>
              </a:rPr>
              <a:t>I observed that </a:t>
            </a:r>
            <a:r>
              <a:rPr lang="en-US" sz="2999" dirty="0">
                <a:solidFill>
                  <a:schemeClr val="bg1"/>
                </a:solidFill>
                <a:latin typeface="Montserrat"/>
                <a:ea typeface="Montserrat"/>
                <a:cs typeface="Montserrat"/>
                <a:sym typeface="Montserrat"/>
              </a:rPr>
              <a:t>they were spending an excessive amount of time on it and seemed visibly stressed. After a brief discussion, it became clear they were struggling with a particular aspect of the algorithm, specifically a recursive function. </a:t>
            </a:r>
          </a:p>
          <a:p>
            <a:pPr algn="just">
              <a:lnSpc>
                <a:spcPts val="4199"/>
              </a:lnSpc>
            </a:pPr>
            <a:endParaRPr lang="en-US" sz="2999" dirty="0">
              <a:solidFill>
                <a:srgbClr val="FF5757"/>
              </a:solidFill>
              <a:latin typeface="Montserrat"/>
              <a:ea typeface="Montserrat"/>
              <a:cs typeface="Montserrat"/>
              <a:sym typeface="Montserrat"/>
            </a:endParaRPr>
          </a:p>
          <a:p>
            <a:pPr algn="just">
              <a:lnSpc>
                <a:spcPts val="4199"/>
              </a:lnSpc>
            </a:pPr>
            <a:r>
              <a:rPr lang="en-US" sz="2999" b="1" dirty="0">
                <a:solidFill>
                  <a:srgbClr val="FF0000"/>
                </a:solidFill>
                <a:latin typeface="Montserrat"/>
                <a:ea typeface="Montserrat"/>
                <a:cs typeface="Montserrat"/>
                <a:sym typeface="Montserrat"/>
              </a:rPr>
              <a:t>Action: </a:t>
            </a:r>
            <a:r>
              <a:rPr lang="en-US" sz="2999" dirty="0">
                <a:solidFill>
                  <a:schemeClr val="bg1"/>
                </a:solidFill>
                <a:latin typeface="Montserrat"/>
                <a:ea typeface="Montserrat"/>
                <a:cs typeface="Montserrat"/>
                <a:sym typeface="Montserrat"/>
              </a:rPr>
              <a:t>I recognized that they were hesitant to ask for help, potentially due to feeling embarrassed or overwhelmed. </a:t>
            </a:r>
            <a:r>
              <a:rPr lang="en-US" sz="2999" dirty="0">
                <a:solidFill>
                  <a:srgbClr val="FF0000"/>
                </a:solidFill>
                <a:latin typeface="Montserrat"/>
                <a:ea typeface="Montserrat"/>
                <a:cs typeface="Montserrat"/>
                <a:sym typeface="Montserrat"/>
              </a:rPr>
              <a:t>So, I approached them</a:t>
            </a:r>
            <a:r>
              <a:rPr lang="en-US" sz="2999" dirty="0">
                <a:solidFill>
                  <a:schemeClr val="bg1"/>
                </a:solidFill>
                <a:latin typeface="Montserrat"/>
                <a:ea typeface="Montserrat"/>
                <a:cs typeface="Montserrat"/>
                <a:sym typeface="Montserrat"/>
              </a:rPr>
              <a:t>, not to criticize their lack of understanding, but to </a:t>
            </a:r>
            <a:r>
              <a:rPr lang="en-US" sz="2999" dirty="0">
                <a:solidFill>
                  <a:srgbClr val="FF0000"/>
                </a:solidFill>
                <a:latin typeface="Montserrat"/>
                <a:ea typeface="Montserrat"/>
                <a:cs typeface="Montserrat"/>
                <a:sym typeface="Montserrat"/>
              </a:rPr>
              <a:t>offer my assistance</a:t>
            </a:r>
            <a:r>
              <a:rPr lang="en-US" sz="2999" dirty="0">
                <a:solidFill>
                  <a:schemeClr val="bg1"/>
                </a:solidFill>
                <a:latin typeface="Montserrat"/>
                <a:ea typeface="Montserrat"/>
                <a:cs typeface="Montserrat"/>
                <a:sym typeface="Montserrat"/>
              </a:rPr>
              <a:t>. I explained the concept of recursion in simpler terms, using real-world analogies and diagrams. I then broke down the problem into smaller, manageable steps and worked through the code with them, explaining each line and its purpose. I also encouraged them to ask questions and actively participated in debugging. </a:t>
            </a:r>
          </a:p>
          <a:p>
            <a:pPr algn="just">
              <a:lnSpc>
                <a:spcPts val="4199"/>
              </a:lnSpc>
            </a:pPr>
            <a:endParaRPr lang="en-US" sz="2999" dirty="0">
              <a:solidFill>
                <a:srgbClr val="FFFFFF"/>
              </a:solidFill>
              <a:latin typeface="Montserrat"/>
              <a:ea typeface="Montserrat"/>
              <a:cs typeface="Montserrat"/>
              <a:sym typeface="Montserrat"/>
            </a:endParaRPr>
          </a:p>
          <a:p>
            <a:pPr algn="just">
              <a:lnSpc>
                <a:spcPts val="4199"/>
              </a:lnSpc>
            </a:pPr>
            <a:endParaRPr lang="en-US" sz="2999" dirty="0">
              <a:solidFill>
                <a:srgbClr val="FFFFFF"/>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2079675" y="749584"/>
            <a:ext cx="11088801"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SENTENCE STRUCTURE TEMPLATES</a:t>
            </a:r>
          </a:p>
        </p:txBody>
      </p:sp>
      <p:sp>
        <p:nvSpPr>
          <p:cNvPr id="3" name="Freeform 3"/>
          <p:cNvSpPr/>
          <p:nvPr/>
        </p:nvSpPr>
        <p:spPr>
          <a:xfrm>
            <a:off x="467974" y="46797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715991" y="2857500"/>
            <a:ext cx="16856018" cy="3730637"/>
          </a:xfrm>
          <a:prstGeom prst="rect">
            <a:avLst/>
          </a:prstGeom>
        </p:spPr>
        <p:txBody>
          <a:bodyPr lIns="0" tIns="0" rIns="0" bIns="0" rtlCol="0" anchor="t">
            <a:spAutoFit/>
          </a:bodyPr>
          <a:lstStyle/>
          <a:p>
            <a:pPr algn="just">
              <a:lnSpc>
                <a:spcPts val="4199"/>
              </a:lnSpc>
            </a:pPr>
            <a:endParaRPr lang="en-US" sz="2999" dirty="0">
              <a:solidFill>
                <a:srgbClr val="FCFCFC"/>
              </a:solidFill>
              <a:latin typeface="Montserrat"/>
              <a:ea typeface="Montserrat"/>
              <a:cs typeface="Montserrat"/>
              <a:sym typeface="Montserrat"/>
            </a:endParaRPr>
          </a:p>
          <a:p>
            <a:pPr algn="just">
              <a:lnSpc>
                <a:spcPts val="4199"/>
              </a:lnSpc>
            </a:pPr>
            <a:r>
              <a:rPr lang="en-US" sz="2999" b="1" dirty="0">
                <a:solidFill>
                  <a:srgbClr val="C6A237"/>
                </a:solidFill>
                <a:latin typeface="Montserrat Bold"/>
                <a:ea typeface="Montserrat Bold"/>
                <a:cs typeface="Montserrat Bold"/>
                <a:sym typeface="Montserrat Bold"/>
              </a:rPr>
              <a:t>Result:</a:t>
            </a:r>
          </a:p>
          <a:p>
            <a:pPr algn="just">
              <a:lnSpc>
                <a:spcPts val="4199"/>
              </a:lnSpc>
            </a:pPr>
            <a:r>
              <a:rPr lang="en-US" sz="2999" dirty="0">
                <a:solidFill>
                  <a:schemeClr val="bg1"/>
                </a:solidFill>
                <a:latin typeface="Montserrat"/>
                <a:ea typeface="Montserrat"/>
                <a:cs typeface="Montserrat"/>
                <a:sym typeface="Montserrat"/>
              </a:rPr>
              <a:t>My teammate was able to grasp the concept and apply it successfully. They completed their task efficiently and contributed significantly to the overall project. The team benefited from this collaborative effort, as it fostered a more supportive and open environment. Additionally, my teammate gained confidence in their coding abilities and developed a stronger understanding of recursion.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2026407" y="677442"/>
            <a:ext cx="14939893" cy="1758514"/>
          </a:xfrm>
          <a:prstGeom prst="rect">
            <a:avLst/>
          </a:prstGeom>
        </p:spPr>
        <p:txBody>
          <a:bodyPr lIns="0" tIns="0" rIns="0" bIns="0" rtlCol="0" anchor="t">
            <a:spAutoFit/>
          </a:bodyPr>
          <a:lstStyle/>
          <a:p>
            <a:pPr algn="just">
              <a:lnSpc>
                <a:spcPts val="4620"/>
              </a:lnSpc>
            </a:pPr>
            <a:r>
              <a:rPr lang="en-US" sz="4200" b="1">
                <a:solidFill>
                  <a:srgbClr val="00B9EF"/>
                </a:solidFill>
                <a:latin typeface="Montserrat Bold"/>
                <a:ea typeface="Montserrat Bold"/>
                <a:cs typeface="Montserrat Bold"/>
                <a:sym typeface="Montserrat Bold"/>
              </a:rPr>
              <a:t>Variations of “Tell me about a time when you took full ownership of a project from start to finish. How did you ensure its success?”</a:t>
            </a:r>
          </a:p>
        </p:txBody>
      </p:sp>
      <p:sp>
        <p:nvSpPr>
          <p:cNvPr id="3" name="Freeform 3"/>
          <p:cNvSpPr/>
          <p:nvPr/>
        </p:nvSpPr>
        <p:spPr>
          <a:xfrm>
            <a:off x="614469" y="639342"/>
            <a:ext cx="1121451" cy="1121451"/>
          </a:xfrm>
          <a:custGeom>
            <a:avLst/>
            <a:gdLst/>
            <a:ahLst/>
            <a:cxnLst/>
            <a:rect l="l" t="t" r="r" b="b"/>
            <a:pathLst>
              <a:path w="1121451" h="1121451">
                <a:moveTo>
                  <a:pt x="0" y="0"/>
                </a:moveTo>
                <a:lnTo>
                  <a:pt x="1121452" y="0"/>
                </a:lnTo>
                <a:lnTo>
                  <a:pt x="1121452" y="1121451"/>
                </a:lnTo>
                <a:lnTo>
                  <a:pt x="0" y="11214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175195" y="3032948"/>
            <a:ext cx="16370317" cy="6029094"/>
          </a:xfrm>
          <a:prstGeom prst="rect">
            <a:avLst/>
          </a:prstGeom>
        </p:spPr>
        <p:txBody>
          <a:bodyPr lIns="0" tIns="0" rIns="0" bIns="0" rtlCol="0" anchor="t">
            <a:spAutoFit/>
          </a:bodyPr>
          <a:lstStyle/>
          <a:p>
            <a:pPr marL="647700" lvl="1" indent="-323850" algn="l">
              <a:lnSpc>
                <a:spcPts val="6900"/>
              </a:lnSpc>
              <a:buFont typeface="Arial"/>
              <a:buChar char="•"/>
            </a:pPr>
            <a:r>
              <a:rPr lang="en-US" sz="3000">
                <a:solidFill>
                  <a:srgbClr val="FCFCFC"/>
                </a:solidFill>
                <a:latin typeface="Montserrat"/>
                <a:ea typeface="Montserrat"/>
                <a:cs typeface="Montserrat"/>
                <a:sym typeface="Montserrat"/>
              </a:rPr>
              <a:t>Can you describe a project where you were responsible from beginning to end? What steps did you take to make it successful?</a:t>
            </a:r>
          </a:p>
          <a:p>
            <a:pPr marL="647700" lvl="1" indent="-323850" algn="l">
              <a:lnSpc>
                <a:spcPts val="6900"/>
              </a:lnSpc>
              <a:buFont typeface="Arial"/>
              <a:buChar char="•"/>
            </a:pPr>
            <a:r>
              <a:rPr lang="en-US" sz="3000">
                <a:solidFill>
                  <a:srgbClr val="FCFCFC"/>
                </a:solidFill>
                <a:latin typeface="Montserrat"/>
                <a:ea typeface="Montserrat"/>
                <a:cs typeface="Montserrat"/>
                <a:sym typeface="Montserrat"/>
              </a:rPr>
              <a:t>Share an example of when you led a project completely. How did you manage it?</a:t>
            </a:r>
          </a:p>
          <a:p>
            <a:pPr marL="647700" lvl="1" indent="-323850" algn="l">
              <a:lnSpc>
                <a:spcPts val="6900"/>
              </a:lnSpc>
              <a:buFont typeface="Arial"/>
              <a:buChar char="•"/>
            </a:pPr>
            <a:r>
              <a:rPr lang="en-US" sz="3000">
                <a:solidFill>
                  <a:srgbClr val="FCFCFC"/>
                </a:solidFill>
                <a:latin typeface="Montserrat"/>
                <a:ea typeface="Montserrat"/>
                <a:cs typeface="Montserrat"/>
                <a:sym typeface="Montserrat"/>
              </a:rPr>
              <a:t>Tell me about a time you oversaw a project from start to finish. What did you do to ensure it went well?</a:t>
            </a:r>
          </a:p>
          <a:p>
            <a:pPr marL="647700" lvl="1" indent="-323850" algn="l">
              <a:lnSpc>
                <a:spcPts val="6900"/>
              </a:lnSpc>
              <a:buFont typeface="Arial"/>
              <a:buChar char="•"/>
            </a:pPr>
            <a:r>
              <a:rPr lang="en-US" sz="3000">
                <a:solidFill>
                  <a:srgbClr val="FCFCFC"/>
                </a:solidFill>
                <a:latin typeface="Montserrat"/>
                <a:ea typeface="Montserrat"/>
                <a:cs typeface="Montserrat"/>
                <a:sym typeface="Montserrat"/>
              </a:rPr>
              <a:t>Describe a situation where you were the main person in charge of a project. How did you make it successful?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2079675" y="749584"/>
            <a:ext cx="11088801"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SENTENCE STRUCTURE TEMPLATES</a:t>
            </a:r>
          </a:p>
        </p:txBody>
      </p:sp>
      <p:sp>
        <p:nvSpPr>
          <p:cNvPr id="3" name="Freeform 3"/>
          <p:cNvSpPr/>
          <p:nvPr/>
        </p:nvSpPr>
        <p:spPr>
          <a:xfrm>
            <a:off x="467974" y="46797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467974" y="1848529"/>
            <a:ext cx="17416744" cy="6178551"/>
          </a:xfrm>
          <a:prstGeom prst="rect">
            <a:avLst/>
          </a:prstGeom>
        </p:spPr>
        <p:txBody>
          <a:bodyPr lIns="0" tIns="0" rIns="0" bIns="0" rtlCol="0" anchor="t">
            <a:spAutoFit/>
          </a:bodyPr>
          <a:lstStyle/>
          <a:p>
            <a:pPr algn="l">
              <a:lnSpc>
                <a:spcPts val="4900"/>
              </a:lnSpc>
            </a:pPr>
            <a:r>
              <a:rPr lang="en-US" sz="3500" b="1" dirty="0">
                <a:solidFill>
                  <a:srgbClr val="3EDAD8"/>
                </a:solidFill>
                <a:latin typeface="Montserrat Bold"/>
                <a:ea typeface="Montserrat Bold"/>
                <a:cs typeface="Montserrat Bold"/>
                <a:sym typeface="Montserrat Bold"/>
              </a:rPr>
              <a:t>Situation</a:t>
            </a:r>
          </a:p>
          <a:p>
            <a:pPr marL="755651" lvl="1" indent="-377825" algn="l">
              <a:lnSpc>
                <a:spcPts val="4900"/>
              </a:lnSpc>
              <a:buFont typeface="Arial"/>
              <a:buChar char="•"/>
            </a:pPr>
            <a:r>
              <a:rPr lang="en-US" sz="3500" dirty="0">
                <a:solidFill>
                  <a:srgbClr val="FCFCFC"/>
                </a:solidFill>
                <a:latin typeface="Montserrat"/>
                <a:ea typeface="Montserrat"/>
                <a:cs typeface="Montserrat"/>
                <a:sym typeface="Montserrat"/>
              </a:rPr>
              <a:t>In my last job at XYZ, we needed to </a:t>
            </a:r>
            <a:r>
              <a:rPr lang="en-US" sz="3500" dirty="0">
                <a:solidFill>
                  <a:srgbClr val="95C740"/>
                </a:solidFill>
                <a:latin typeface="Montserrat"/>
                <a:ea typeface="Montserrat"/>
                <a:cs typeface="Montserrat"/>
                <a:sym typeface="Montserrat"/>
              </a:rPr>
              <a:t>[describe the project]</a:t>
            </a:r>
            <a:r>
              <a:rPr lang="en-US" sz="3500" dirty="0">
                <a:solidFill>
                  <a:srgbClr val="FCFCFC"/>
                </a:solidFill>
                <a:latin typeface="Montserrat"/>
                <a:ea typeface="Montserrat"/>
                <a:cs typeface="Montserrat"/>
                <a:sym typeface="Montserrat"/>
              </a:rPr>
              <a:t>.</a:t>
            </a:r>
          </a:p>
          <a:p>
            <a:pPr marL="755651" lvl="1" indent="-377825" algn="l">
              <a:lnSpc>
                <a:spcPts val="4900"/>
              </a:lnSpc>
              <a:buFont typeface="Arial"/>
              <a:buChar char="•"/>
            </a:pPr>
            <a:r>
              <a:rPr lang="en-US" sz="3500" dirty="0">
                <a:solidFill>
                  <a:srgbClr val="FCFCFC"/>
                </a:solidFill>
                <a:latin typeface="Montserrat"/>
                <a:ea typeface="Montserrat"/>
                <a:cs typeface="Montserrat"/>
                <a:sym typeface="Montserrat"/>
              </a:rPr>
              <a:t>I worked on a project about </a:t>
            </a:r>
            <a:r>
              <a:rPr lang="en-US" sz="3500" dirty="0">
                <a:solidFill>
                  <a:srgbClr val="95C740"/>
                </a:solidFill>
                <a:latin typeface="Montserrat"/>
                <a:ea typeface="Montserrat"/>
                <a:cs typeface="Montserrat"/>
                <a:sym typeface="Montserrat"/>
              </a:rPr>
              <a:t>[describe the topic or goal of the project]</a:t>
            </a:r>
            <a:r>
              <a:rPr lang="en-US" sz="3500" dirty="0">
                <a:solidFill>
                  <a:srgbClr val="FCFCFC"/>
                </a:solidFill>
                <a:latin typeface="Montserrat"/>
                <a:ea typeface="Montserrat"/>
                <a:cs typeface="Montserrat"/>
                <a:sym typeface="Montserrat"/>
              </a:rPr>
              <a:t>.</a:t>
            </a:r>
          </a:p>
          <a:p>
            <a:pPr marL="755651" lvl="1" indent="-377825" algn="l">
              <a:lnSpc>
                <a:spcPts val="4900"/>
              </a:lnSpc>
              <a:buFont typeface="Arial"/>
              <a:buChar char="•"/>
            </a:pPr>
            <a:r>
              <a:rPr lang="en-US" sz="3500" dirty="0">
                <a:solidFill>
                  <a:srgbClr val="FCFCFC"/>
                </a:solidFill>
                <a:latin typeface="Montserrat"/>
                <a:ea typeface="Montserrat"/>
                <a:cs typeface="Montserrat"/>
                <a:sym typeface="Montserrat"/>
              </a:rPr>
              <a:t>We wanted to </a:t>
            </a:r>
            <a:r>
              <a:rPr lang="en-US" sz="3500" dirty="0">
                <a:solidFill>
                  <a:srgbClr val="95C740"/>
                </a:solidFill>
                <a:latin typeface="Montserrat"/>
                <a:ea typeface="Montserrat"/>
                <a:cs typeface="Montserrat"/>
                <a:sym typeface="Montserrat"/>
              </a:rPr>
              <a:t>[explain the purpose of the project]</a:t>
            </a:r>
            <a:r>
              <a:rPr lang="en-US" sz="3500" dirty="0">
                <a:solidFill>
                  <a:srgbClr val="FCFCFC"/>
                </a:solidFill>
                <a:latin typeface="Montserrat"/>
                <a:ea typeface="Montserrat"/>
                <a:cs typeface="Montserrat"/>
                <a:sym typeface="Montserrat"/>
              </a:rPr>
              <a:t>, and I was in charge.</a:t>
            </a:r>
          </a:p>
          <a:p>
            <a:pPr algn="l">
              <a:lnSpc>
                <a:spcPts val="4900"/>
              </a:lnSpc>
            </a:pPr>
            <a:endParaRPr lang="en-US" sz="3500" dirty="0">
              <a:solidFill>
                <a:srgbClr val="FCFCFC"/>
              </a:solidFill>
              <a:latin typeface="Montserrat"/>
              <a:ea typeface="Montserrat"/>
              <a:cs typeface="Montserrat"/>
              <a:sym typeface="Montserrat"/>
            </a:endParaRPr>
          </a:p>
          <a:p>
            <a:pPr algn="l">
              <a:lnSpc>
                <a:spcPts val="4900"/>
              </a:lnSpc>
            </a:pPr>
            <a:r>
              <a:rPr lang="en-US" sz="3500" b="1" dirty="0">
                <a:solidFill>
                  <a:srgbClr val="CB6CE6"/>
                </a:solidFill>
                <a:latin typeface="Montserrat Bold"/>
                <a:ea typeface="Montserrat Bold"/>
                <a:cs typeface="Montserrat Bold"/>
                <a:sym typeface="Montserrat Bold"/>
              </a:rPr>
              <a:t>Task</a:t>
            </a:r>
          </a:p>
          <a:p>
            <a:pPr marL="755651" lvl="1" indent="-377825" algn="l">
              <a:lnSpc>
                <a:spcPts val="4900"/>
              </a:lnSpc>
              <a:buFont typeface="Arial"/>
              <a:buChar char="•"/>
            </a:pPr>
            <a:r>
              <a:rPr lang="en-US" sz="3500" dirty="0">
                <a:solidFill>
                  <a:srgbClr val="FCFCFC"/>
                </a:solidFill>
                <a:latin typeface="Montserrat"/>
                <a:ea typeface="Montserrat"/>
                <a:cs typeface="Montserrat"/>
                <a:sym typeface="Montserrat"/>
              </a:rPr>
              <a:t>I had to lead the project from the beginning to the end, and my job was to </a:t>
            </a:r>
            <a:r>
              <a:rPr lang="en-US" sz="3500" dirty="0">
                <a:solidFill>
                  <a:srgbClr val="95C740"/>
                </a:solidFill>
                <a:latin typeface="Montserrat"/>
                <a:ea typeface="Montserrat"/>
                <a:cs typeface="Montserrat"/>
                <a:sym typeface="Montserrat"/>
              </a:rPr>
              <a:t>[describe your responsibilities].</a:t>
            </a:r>
          </a:p>
          <a:p>
            <a:pPr marL="755651" lvl="1" indent="-377825" algn="l">
              <a:lnSpc>
                <a:spcPts val="4900"/>
              </a:lnSpc>
              <a:buFont typeface="Arial"/>
              <a:buChar char="•"/>
            </a:pPr>
            <a:r>
              <a:rPr lang="en-US" sz="3500" dirty="0">
                <a:solidFill>
                  <a:srgbClr val="FCFCFC"/>
                </a:solidFill>
                <a:latin typeface="Montserrat"/>
                <a:ea typeface="Montserrat"/>
                <a:cs typeface="Montserrat"/>
                <a:sym typeface="Montserrat"/>
              </a:rPr>
              <a:t>I was responsible for making sure we finished on time.</a:t>
            </a:r>
          </a:p>
          <a:p>
            <a:pPr algn="l">
              <a:lnSpc>
                <a:spcPts val="4900"/>
              </a:lnSpc>
            </a:pPr>
            <a:endParaRPr lang="en-US" sz="3500" dirty="0">
              <a:solidFill>
                <a:srgbClr val="FCFCFC"/>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2099460" y="506074"/>
            <a:ext cx="11088801"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SENTENCE STRUCTURE TEMPLATES</a:t>
            </a:r>
          </a:p>
        </p:txBody>
      </p:sp>
      <p:sp>
        <p:nvSpPr>
          <p:cNvPr id="3" name="Freeform 3"/>
          <p:cNvSpPr/>
          <p:nvPr/>
        </p:nvSpPr>
        <p:spPr>
          <a:xfrm>
            <a:off x="644664" y="22446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644664" y="1977035"/>
            <a:ext cx="17020523" cy="6178551"/>
          </a:xfrm>
          <a:prstGeom prst="rect">
            <a:avLst/>
          </a:prstGeom>
        </p:spPr>
        <p:txBody>
          <a:bodyPr lIns="0" tIns="0" rIns="0" bIns="0" rtlCol="0" anchor="t">
            <a:spAutoFit/>
          </a:bodyPr>
          <a:lstStyle/>
          <a:p>
            <a:pPr algn="l">
              <a:lnSpc>
                <a:spcPts val="4900"/>
              </a:lnSpc>
            </a:pPr>
            <a:r>
              <a:rPr lang="en-US" sz="3500" b="1" dirty="0">
                <a:solidFill>
                  <a:srgbClr val="CB6CE6"/>
                </a:solidFill>
                <a:latin typeface="Montserrat Bold"/>
                <a:ea typeface="Montserrat Bold"/>
                <a:cs typeface="Montserrat Bold"/>
                <a:sym typeface="Montserrat Bold"/>
              </a:rPr>
              <a:t>Action</a:t>
            </a:r>
          </a:p>
          <a:p>
            <a:pPr marL="755651" lvl="1" indent="-377825" algn="l">
              <a:lnSpc>
                <a:spcPts val="4900"/>
              </a:lnSpc>
              <a:buFont typeface="Arial"/>
              <a:buChar char="•"/>
            </a:pPr>
            <a:r>
              <a:rPr lang="en-US" sz="3500" dirty="0">
                <a:solidFill>
                  <a:srgbClr val="FFFFFF"/>
                </a:solidFill>
                <a:latin typeface="Montserrat"/>
                <a:ea typeface="Montserrat"/>
                <a:cs typeface="Montserrat"/>
                <a:sym typeface="Montserrat"/>
              </a:rPr>
              <a:t>First, I talked to </a:t>
            </a:r>
            <a:r>
              <a:rPr lang="en-US" sz="3500" dirty="0">
                <a:solidFill>
                  <a:srgbClr val="95C740"/>
                </a:solidFill>
                <a:latin typeface="Montserrat"/>
                <a:ea typeface="Montserrat"/>
                <a:cs typeface="Montserrat"/>
                <a:sym typeface="Montserrat"/>
              </a:rPr>
              <a:t>[mention people or teams]</a:t>
            </a:r>
            <a:r>
              <a:rPr lang="en-US" sz="3500" dirty="0">
                <a:solidFill>
                  <a:srgbClr val="FFFFFF"/>
                </a:solidFill>
                <a:latin typeface="Montserrat"/>
                <a:ea typeface="Montserrat"/>
                <a:cs typeface="Montserrat"/>
                <a:sym typeface="Montserrat"/>
              </a:rPr>
              <a:t> to understand what was needed.</a:t>
            </a:r>
          </a:p>
          <a:p>
            <a:pPr marL="755651" lvl="1" indent="-377825" algn="l">
              <a:lnSpc>
                <a:spcPts val="4900"/>
              </a:lnSpc>
              <a:buFont typeface="Arial"/>
              <a:buChar char="•"/>
            </a:pPr>
            <a:r>
              <a:rPr lang="en-US" sz="3500" dirty="0">
                <a:solidFill>
                  <a:srgbClr val="FFFFFF"/>
                </a:solidFill>
                <a:latin typeface="Montserrat"/>
                <a:ea typeface="Montserrat"/>
                <a:cs typeface="Montserrat"/>
                <a:sym typeface="Montserrat"/>
              </a:rPr>
              <a:t>I made a plan that included </a:t>
            </a:r>
            <a:r>
              <a:rPr lang="en-US" sz="3500" dirty="0">
                <a:solidFill>
                  <a:srgbClr val="95C740"/>
                </a:solidFill>
                <a:latin typeface="Montserrat"/>
                <a:ea typeface="Montserrat"/>
                <a:cs typeface="Montserrat"/>
                <a:sym typeface="Montserrat"/>
              </a:rPr>
              <a:t>[describe what you planned]</a:t>
            </a:r>
            <a:r>
              <a:rPr lang="en-US" sz="3500" dirty="0">
                <a:solidFill>
                  <a:srgbClr val="FFFFFF"/>
                </a:solidFill>
                <a:latin typeface="Montserrat"/>
                <a:ea typeface="Montserrat"/>
                <a:cs typeface="Montserrat"/>
                <a:sym typeface="Montserrat"/>
              </a:rPr>
              <a:t>.</a:t>
            </a:r>
          </a:p>
          <a:p>
            <a:pPr marL="755651" lvl="1" indent="-377825" algn="l">
              <a:lnSpc>
                <a:spcPts val="4900"/>
              </a:lnSpc>
              <a:buFont typeface="Arial"/>
              <a:buChar char="•"/>
            </a:pPr>
            <a:r>
              <a:rPr lang="en-US" sz="3500" dirty="0">
                <a:solidFill>
                  <a:srgbClr val="FFFFFF"/>
                </a:solidFill>
                <a:latin typeface="Montserrat"/>
                <a:ea typeface="Montserrat"/>
                <a:cs typeface="Montserrat"/>
                <a:sym typeface="Montserrat"/>
              </a:rPr>
              <a:t>I held regular meetings to check our progress and solve problems.</a:t>
            </a:r>
          </a:p>
          <a:p>
            <a:pPr algn="l">
              <a:lnSpc>
                <a:spcPts val="4900"/>
              </a:lnSpc>
            </a:pPr>
            <a:endParaRPr lang="en-US" sz="3500" dirty="0">
              <a:solidFill>
                <a:srgbClr val="FFFFFF"/>
              </a:solidFill>
              <a:latin typeface="Montserrat"/>
              <a:ea typeface="Montserrat"/>
              <a:cs typeface="Montserrat"/>
              <a:sym typeface="Montserrat"/>
            </a:endParaRPr>
          </a:p>
          <a:p>
            <a:pPr algn="l">
              <a:lnSpc>
                <a:spcPts val="4900"/>
              </a:lnSpc>
            </a:pPr>
            <a:r>
              <a:rPr lang="en-US" sz="3500" b="1" dirty="0">
                <a:solidFill>
                  <a:srgbClr val="C6A237"/>
                </a:solidFill>
                <a:latin typeface="Montserrat Bold"/>
                <a:ea typeface="Montserrat Bold"/>
                <a:cs typeface="Montserrat Bold"/>
                <a:sym typeface="Montserrat Bold"/>
              </a:rPr>
              <a:t>Result</a:t>
            </a:r>
          </a:p>
          <a:p>
            <a:pPr marL="755651" lvl="1" indent="-377825" algn="l">
              <a:lnSpc>
                <a:spcPts val="4900"/>
              </a:lnSpc>
              <a:buFont typeface="Arial"/>
              <a:buChar char="•"/>
            </a:pPr>
            <a:r>
              <a:rPr lang="en-US" sz="3500" dirty="0">
                <a:solidFill>
                  <a:srgbClr val="FFFFFF"/>
                </a:solidFill>
                <a:latin typeface="Montserrat"/>
                <a:ea typeface="Montserrat"/>
                <a:cs typeface="Montserrat"/>
                <a:sym typeface="Montserrat"/>
              </a:rPr>
              <a:t>In the end, we completed the project successfully. The project helped us </a:t>
            </a:r>
            <a:r>
              <a:rPr lang="en-US" sz="3500" dirty="0">
                <a:solidFill>
                  <a:srgbClr val="95C740"/>
                </a:solidFill>
                <a:latin typeface="Montserrat"/>
                <a:ea typeface="Montserrat"/>
                <a:cs typeface="Montserrat"/>
                <a:sym typeface="Montserrat"/>
              </a:rPr>
              <a:t>[describe the positive outcome].</a:t>
            </a:r>
          </a:p>
          <a:p>
            <a:pPr marL="755651" lvl="1" indent="-377825" algn="l">
              <a:lnSpc>
                <a:spcPts val="4900"/>
              </a:lnSpc>
              <a:buFont typeface="Arial"/>
              <a:buChar char="•"/>
            </a:pPr>
            <a:r>
              <a:rPr lang="en-US" sz="3500" dirty="0">
                <a:solidFill>
                  <a:srgbClr val="FFFFFF"/>
                </a:solidFill>
                <a:latin typeface="Montserrat"/>
                <a:ea typeface="Montserrat"/>
                <a:cs typeface="Montserrat"/>
                <a:sym typeface="Montserrat"/>
              </a:rPr>
              <a:t>Because of this, we saw [</a:t>
            </a:r>
            <a:r>
              <a:rPr lang="en-US" sz="3500" dirty="0">
                <a:solidFill>
                  <a:srgbClr val="95C740"/>
                </a:solidFill>
                <a:latin typeface="Montserrat"/>
                <a:ea typeface="Montserrat"/>
                <a:cs typeface="Montserrat"/>
                <a:sym typeface="Montserrat"/>
              </a:rPr>
              <a:t>mention any results]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6188994" y="7365830"/>
            <a:ext cx="5556275" cy="1406591"/>
          </a:xfrm>
          <a:prstGeom prst="rect">
            <a:avLst/>
          </a:prstGeom>
        </p:spPr>
        <p:txBody>
          <a:bodyPr lIns="0" tIns="0" rIns="0" bIns="0" rtlCol="0" anchor="t">
            <a:spAutoFit/>
          </a:bodyPr>
          <a:lstStyle/>
          <a:p>
            <a:pPr algn="ctr">
              <a:lnSpc>
                <a:spcPts val="5500"/>
              </a:lnSpc>
            </a:pPr>
            <a:r>
              <a:rPr lang="en-US" sz="5000">
                <a:solidFill>
                  <a:srgbClr val="00B9EF"/>
                </a:solidFill>
                <a:latin typeface="Poppins Bold"/>
                <a:ea typeface="Poppins Bold"/>
                <a:cs typeface="Poppins Bold"/>
                <a:sym typeface="Poppins Bold"/>
              </a:rPr>
              <a:t>BRAINSTORMING</a:t>
            </a:r>
          </a:p>
          <a:p>
            <a:pPr algn="ctr">
              <a:lnSpc>
                <a:spcPts val="5500"/>
              </a:lnSpc>
            </a:pPr>
            <a:r>
              <a:rPr lang="en-US" sz="5000">
                <a:solidFill>
                  <a:srgbClr val="00B9EF"/>
                </a:solidFill>
                <a:latin typeface="Poppins Bold"/>
                <a:ea typeface="Poppins Bold"/>
                <a:cs typeface="Poppins Bold"/>
                <a:sym typeface="Poppins Bold"/>
              </a:rPr>
              <a:t>Writing Time</a:t>
            </a:r>
          </a:p>
        </p:txBody>
      </p:sp>
      <p:sp>
        <p:nvSpPr>
          <p:cNvPr id="3" name="Freeform 3"/>
          <p:cNvSpPr/>
          <p:nvPr/>
        </p:nvSpPr>
        <p:spPr>
          <a:xfrm>
            <a:off x="6643279" y="2370922"/>
            <a:ext cx="4417378" cy="4411856"/>
          </a:xfrm>
          <a:custGeom>
            <a:avLst/>
            <a:gdLst/>
            <a:ahLst/>
            <a:cxnLst/>
            <a:rect l="l" t="t" r="r" b="b"/>
            <a:pathLst>
              <a:path w="4417378" h="4411856">
                <a:moveTo>
                  <a:pt x="0" y="0"/>
                </a:moveTo>
                <a:lnTo>
                  <a:pt x="4417379" y="0"/>
                </a:lnTo>
                <a:lnTo>
                  <a:pt x="4417379" y="4411856"/>
                </a:lnTo>
                <a:lnTo>
                  <a:pt x="0" y="4411856"/>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4443458" y="3368188"/>
            <a:ext cx="9401084" cy="4238625"/>
          </a:xfrm>
          <a:prstGeom prst="rect">
            <a:avLst/>
          </a:prstGeom>
        </p:spPr>
        <p:txBody>
          <a:bodyPr lIns="0" tIns="0" rIns="0" bIns="0" rtlCol="0" anchor="t">
            <a:spAutoFit/>
          </a:bodyPr>
          <a:lstStyle/>
          <a:p>
            <a:pPr algn="ctr">
              <a:lnSpc>
                <a:spcPts val="16500"/>
              </a:lnSpc>
            </a:pPr>
            <a:r>
              <a:rPr lang="en-US" sz="15000" b="1">
                <a:solidFill>
                  <a:srgbClr val="00B9EF"/>
                </a:solidFill>
                <a:latin typeface="Montserrat Bold"/>
                <a:ea typeface="Montserrat Bold"/>
                <a:cs typeface="Montserrat Bold"/>
                <a:sym typeface="Montserra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455</TotalTime>
  <Words>1474</Words>
  <Application>Microsoft Office PowerPoint</Application>
  <PresentationFormat>Custom</PresentationFormat>
  <Paragraphs>123</Paragraphs>
  <Slides>21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Open Sans Bold</vt:lpstr>
      <vt:lpstr>Arial</vt:lpstr>
      <vt:lpstr>Montserrat</vt:lpstr>
      <vt:lpstr>Inter Bold</vt:lpstr>
      <vt:lpstr>Poppins Bold</vt:lpstr>
      <vt:lpstr>Montserrat Bold</vt:lpstr>
      <vt:lpstr>Montserrat Classic</vt:lpstr>
      <vt:lpstr>Montserrat Classic Bold</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BEHAVIORAL INTERVIEW - LESSON 5</dc:title>
  <cp:lastModifiedBy>Truyen Le</cp:lastModifiedBy>
  <cp:revision>5</cp:revision>
  <dcterms:created xsi:type="dcterms:W3CDTF">2006-08-16T00:00:00Z</dcterms:created>
  <dcterms:modified xsi:type="dcterms:W3CDTF">2025-06-30T14:32:08Z</dcterms:modified>
  <dc:identifier>DAGZUClho9s</dc:identifier>
</cp:coreProperties>
</file>