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8288000" cy="10287000"/>
  <p:notesSz cx="6858000" cy="9144000"/>
  <p:embeddedFontLst>
    <p:embeddedFont>
      <p:font typeface="Aileron" panose="020B0604020202020204" charset="0"/>
      <p:regular r:id="rId25"/>
    </p:embeddedFont>
    <p:embeddedFont>
      <p:font typeface="Aileron Heavy" panose="020B0604020202020204" charset="0"/>
      <p:regular r:id="rId26"/>
    </p:embeddedFont>
    <p:embeddedFont>
      <p:font typeface="Aileron Regular Bold" panose="020B0604020202020204" charset="0"/>
      <p:regular r:id="rId27"/>
    </p:embeddedFont>
    <p:embeddedFont>
      <p:font typeface="Aileron Ultra-Bold" panose="020B0604020202020204" charset="0"/>
      <p:regular r:id="rId28"/>
    </p:embeddedFont>
    <p:embeddedFont>
      <p:font typeface="Barlow Bold" panose="020B0604020202020204" charset="0"/>
      <p:regular r:id="rId29"/>
    </p:embeddedFont>
    <p:embeddedFont>
      <p:font typeface="Montserrat" panose="00000500000000000000" pitchFamily="2" charset="0"/>
      <p:regular r:id="rId30"/>
      <p:italic r:id="rId31"/>
    </p:embeddedFont>
    <p:embeddedFont>
      <p:font typeface="Montserrat Bold" panose="00000800000000000000" charset="0"/>
      <p:regular r:id="rId32"/>
    </p:embeddedFont>
    <p:embeddedFont>
      <p:font typeface="Montserrat Classic" panose="020B0604020202020204" charset="0"/>
      <p:regular r:id="rId33"/>
    </p:embeddedFont>
    <p:embeddedFont>
      <p:font typeface="Montserrat Classic Bold" panose="020B0604020202020204" charset="0"/>
      <p:regular r:id="rId34"/>
    </p:embeddedFont>
    <p:embeddedFont>
      <p:font typeface="Open Sans Bold" panose="020B0604020202020204" charset="0"/>
      <p:regular r:id="rId35"/>
    </p:embeddedFont>
    <p:embeddedFont>
      <p:font typeface="Open Sans Bold Bold" panose="020B0604020202020204" charset="0"/>
      <p:regular r:id="rId36"/>
    </p:embeddedFont>
    <p:embeddedFont>
      <p:font typeface="Poppins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1" d="100"/>
          <a:sy n="41" d="100"/>
        </p:scale>
        <p:origin x="105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sv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7.png"/><Relationship Id="rId17" Type="http://schemas.openxmlformats.org/officeDocument/2006/relationships/image" Target="../media/image32.sv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svg"/><Relationship Id="rId5" Type="http://schemas.openxmlformats.org/officeDocument/2006/relationships/image" Target="../media/image20.svg"/><Relationship Id="rId15" Type="http://schemas.openxmlformats.org/officeDocument/2006/relationships/image" Target="../media/image30.sv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sv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sv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1.svg"/><Relationship Id="rId18" Type="http://schemas.openxmlformats.org/officeDocument/2006/relationships/image" Target="../media/image56.png"/><Relationship Id="rId3" Type="http://schemas.openxmlformats.org/officeDocument/2006/relationships/image" Target="../media/image41.svg"/><Relationship Id="rId7" Type="http://schemas.openxmlformats.org/officeDocument/2006/relationships/image" Target="../media/image45.svg"/><Relationship Id="rId12" Type="http://schemas.openxmlformats.org/officeDocument/2006/relationships/image" Target="../media/image50.png"/><Relationship Id="rId17" Type="http://schemas.openxmlformats.org/officeDocument/2006/relationships/image" Target="../media/image55.svg"/><Relationship Id="rId2" Type="http://schemas.openxmlformats.org/officeDocument/2006/relationships/image" Target="../media/image40.png"/><Relationship Id="rId16" Type="http://schemas.openxmlformats.org/officeDocument/2006/relationships/image" Target="../media/image54.png"/><Relationship Id="rId1" Type="http://schemas.openxmlformats.org/officeDocument/2006/relationships/slideLayout" Target="../slideLayouts/slideLayout7.xml"/><Relationship Id="rId6" Type="http://schemas.openxmlformats.org/officeDocument/2006/relationships/image" Target="../media/image44.png"/><Relationship Id="rId11" Type="http://schemas.openxmlformats.org/officeDocument/2006/relationships/image" Target="../media/image49.svg"/><Relationship Id="rId5" Type="http://schemas.openxmlformats.org/officeDocument/2006/relationships/image" Target="../media/image43.svg"/><Relationship Id="rId15" Type="http://schemas.openxmlformats.org/officeDocument/2006/relationships/image" Target="../media/image53.svg"/><Relationship Id="rId10" Type="http://schemas.openxmlformats.org/officeDocument/2006/relationships/image" Target="../media/image48.png"/><Relationship Id="rId19" Type="http://schemas.openxmlformats.org/officeDocument/2006/relationships/image" Target="../media/image57.svg"/><Relationship Id="rId4" Type="http://schemas.openxmlformats.org/officeDocument/2006/relationships/image" Target="../media/image42.png"/><Relationship Id="rId9" Type="http://schemas.openxmlformats.org/officeDocument/2006/relationships/image" Target="../media/image47.svg"/><Relationship Id="rId14"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Freeform 2"/>
          <p:cNvSpPr/>
          <p:nvPr/>
        </p:nvSpPr>
        <p:spPr>
          <a:xfrm flipH="1">
            <a:off x="6301242" y="8616642"/>
            <a:ext cx="438008" cy="312180"/>
          </a:xfrm>
          <a:custGeom>
            <a:avLst/>
            <a:gdLst/>
            <a:ahLst/>
            <a:cxnLst/>
            <a:rect l="l" t="t" r="r" b="b"/>
            <a:pathLst>
              <a:path w="438008" h="312180">
                <a:moveTo>
                  <a:pt x="438008" y="0"/>
                </a:moveTo>
                <a:lnTo>
                  <a:pt x="0" y="0"/>
                </a:lnTo>
                <a:lnTo>
                  <a:pt x="0" y="312180"/>
                </a:lnTo>
                <a:lnTo>
                  <a:pt x="438008" y="312180"/>
                </a:lnTo>
                <a:lnTo>
                  <a:pt x="438008"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5025280" y="9100272"/>
            <a:ext cx="7991171" cy="900823"/>
            <a:chOff x="0" y="0"/>
            <a:chExt cx="10654894" cy="1201097"/>
          </a:xfrm>
        </p:grpSpPr>
        <p:sp>
          <p:nvSpPr>
            <p:cNvPr id="4" name="Freeform 4"/>
            <p:cNvSpPr/>
            <p:nvPr/>
          </p:nvSpPr>
          <p:spPr>
            <a:xfrm>
              <a:off x="0" y="0"/>
              <a:ext cx="10654894" cy="1201097"/>
            </a:xfrm>
            <a:custGeom>
              <a:avLst/>
              <a:gdLst/>
              <a:ahLst/>
              <a:cxnLst/>
              <a:rect l="l" t="t" r="r" b="b"/>
              <a:pathLst>
                <a:path w="10654894" h="1201097">
                  <a:moveTo>
                    <a:pt x="0" y="0"/>
                  </a:moveTo>
                  <a:lnTo>
                    <a:pt x="10654894" y="0"/>
                  </a:lnTo>
                  <a:lnTo>
                    <a:pt x="10654894" y="1201097"/>
                  </a:lnTo>
                  <a:lnTo>
                    <a:pt x="0" y="12010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 name="Freeform 5"/>
            <p:cNvSpPr/>
            <p:nvPr/>
          </p:nvSpPr>
          <p:spPr>
            <a:xfrm>
              <a:off x="9367739" y="336203"/>
              <a:ext cx="741786" cy="528691"/>
            </a:xfrm>
            <a:custGeom>
              <a:avLst/>
              <a:gdLst/>
              <a:ahLst/>
              <a:cxnLst/>
              <a:rect l="l" t="t" r="r" b="b"/>
              <a:pathLst>
                <a:path w="741786" h="528691">
                  <a:moveTo>
                    <a:pt x="0" y="0"/>
                  </a:moveTo>
                  <a:lnTo>
                    <a:pt x="741785" y="0"/>
                  </a:lnTo>
                  <a:lnTo>
                    <a:pt x="741785" y="528691"/>
                  </a:lnTo>
                  <a:lnTo>
                    <a:pt x="0" y="52869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2639854" y="325476"/>
              <a:ext cx="5375186" cy="502520"/>
            </a:xfrm>
            <a:prstGeom prst="rect">
              <a:avLst/>
            </a:prstGeom>
          </p:spPr>
          <p:txBody>
            <a:bodyPr lIns="0" tIns="0" rIns="0" bIns="0" rtlCol="0" anchor="t">
              <a:spAutoFit/>
            </a:bodyPr>
            <a:lstStyle/>
            <a:p>
              <a:pPr algn="ctr">
                <a:lnSpc>
                  <a:spcPts val="3200"/>
                </a:lnSpc>
              </a:pPr>
              <a:r>
                <a:rPr lang="en-US" sz="2286" b="1">
                  <a:solidFill>
                    <a:srgbClr val="FFFFFF"/>
                  </a:solidFill>
                  <a:latin typeface="Open Sans Bold"/>
                  <a:ea typeface="Open Sans Bold"/>
                  <a:cs typeface="Open Sans Bold"/>
                  <a:sym typeface="Open Sans Bold"/>
                </a:rPr>
                <a:t>Get Started</a:t>
              </a:r>
            </a:p>
          </p:txBody>
        </p:sp>
      </p:grpSp>
      <p:sp>
        <p:nvSpPr>
          <p:cNvPr id="7" name="TextBox 7"/>
          <p:cNvSpPr txBox="1"/>
          <p:nvPr/>
        </p:nvSpPr>
        <p:spPr>
          <a:xfrm>
            <a:off x="5834256" y="2965465"/>
            <a:ext cx="5787253" cy="1149317"/>
          </a:xfrm>
          <a:prstGeom prst="rect">
            <a:avLst/>
          </a:prstGeom>
        </p:spPr>
        <p:txBody>
          <a:bodyPr lIns="0" tIns="0" rIns="0" bIns="0" rtlCol="0" anchor="t">
            <a:spAutoFit/>
          </a:bodyPr>
          <a:lstStyle/>
          <a:p>
            <a:pPr algn="r">
              <a:lnSpc>
                <a:spcPts val="8800"/>
              </a:lnSpc>
            </a:pPr>
            <a:r>
              <a:rPr lang="en-US" sz="8000" b="1">
                <a:solidFill>
                  <a:srgbClr val="FFFFFF"/>
                </a:solidFill>
                <a:latin typeface="Montserrat Classic Bold"/>
                <a:ea typeface="Montserrat Classic Bold"/>
                <a:cs typeface="Montserrat Classic Bold"/>
                <a:sym typeface="Montserrat Classic Bold"/>
              </a:rPr>
              <a:t>LESSON 1</a:t>
            </a:r>
          </a:p>
        </p:txBody>
      </p:sp>
      <p:grpSp>
        <p:nvGrpSpPr>
          <p:cNvPr id="8" name="Group 8"/>
          <p:cNvGrpSpPr/>
          <p:nvPr/>
        </p:nvGrpSpPr>
        <p:grpSpPr>
          <a:xfrm>
            <a:off x="2116452" y="4424501"/>
            <a:ext cx="14717778" cy="1813593"/>
            <a:chOff x="0" y="0"/>
            <a:chExt cx="19623704" cy="2418124"/>
          </a:xfrm>
        </p:grpSpPr>
        <p:sp>
          <p:nvSpPr>
            <p:cNvPr id="9" name="TextBox 9"/>
            <p:cNvSpPr txBox="1"/>
            <p:nvPr/>
          </p:nvSpPr>
          <p:spPr>
            <a:xfrm>
              <a:off x="0" y="66675"/>
              <a:ext cx="19623704" cy="1554648"/>
            </a:xfrm>
            <a:prstGeom prst="rect">
              <a:avLst/>
            </a:prstGeom>
          </p:spPr>
          <p:txBody>
            <a:bodyPr lIns="0" tIns="0" rIns="0" bIns="0" rtlCol="0" anchor="t">
              <a:spAutoFit/>
            </a:bodyPr>
            <a:lstStyle/>
            <a:p>
              <a:pPr algn="l">
                <a:lnSpc>
                  <a:spcPts val="8800"/>
                </a:lnSpc>
              </a:pPr>
              <a:r>
                <a:rPr lang="en-US" sz="8000" b="1">
                  <a:solidFill>
                    <a:srgbClr val="00B9EF"/>
                  </a:solidFill>
                  <a:latin typeface="Montserrat Classic Bold"/>
                  <a:ea typeface="Montserrat Classic Bold"/>
                  <a:cs typeface="Montserrat Classic Bold"/>
                  <a:sym typeface="Montserrat Classic Bold"/>
                </a:rPr>
                <a:t>TELL ME ABOUT YOURSELF</a:t>
              </a:r>
            </a:p>
          </p:txBody>
        </p:sp>
        <p:sp>
          <p:nvSpPr>
            <p:cNvPr id="10" name="TextBox 10"/>
            <p:cNvSpPr txBox="1"/>
            <p:nvPr/>
          </p:nvSpPr>
          <p:spPr>
            <a:xfrm>
              <a:off x="1623003" y="1878498"/>
              <a:ext cx="15997452" cy="539626"/>
            </a:xfrm>
            <a:prstGeom prst="rect">
              <a:avLst/>
            </a:prstGeom>
          </p:spPr>
          <p:txBody>
            <a:bodyPr lIns="0" tIns="0" rIns="0" bIns="0" rtlCol="0" anchor="t">
              <a:spAutoFit/>
            </a:bodyPr>
            <a:lstStyle/>
            <a:p>
              <a:pPr algn="ctr">
                <a:lnSpc>
                  <a:spcPts val="3079"/>
                </a:lnSpc>
              </a:pPr>
              <a:r>
                <a:rPr lang="en-US" sz="2799" b="1" spc="977">
                  <a:solidFill>
                    <a:srgbClr val="FFFFFF"/>
                  </a:solidFill>
                  <a:latin typeface="Montserrat Classic Bold"/>
                  <a:ea typeface="Montserrat Classic Bold"/>
                  <a:cs typeface="Montserrat Classic Bold"/>
                  <a:sym typeface="Montserrat Classic Bold"/>
                </a:rPr>
                <a:t>BEHAVIORAL INTERVIEW QUESTIONS</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Freeform 2"/>
          <p:cNvSpPr/>
          <p:nvPr/>
        </p:nvSpPr>
        <p:spPr>
          <a:xfrm>
            <a:off x="2454280" y="2887511"/>
            <a:ext cx="13379440" cy="4354400"/>
          </a:xfrm>
          <a:custGeom>
            <a:avLst/>
            <a:gdLst/>
            <a:ahLst/>
            <a:cxnLst/>
            <a:rect l="l" t="t" r="r" b="b"/>
            <a:pathLst>
              <a:path w="13379440" h="4354400">
                <a:moveTo>
                  <a:pt x="0" y="0"/>
                </a:moveTo>
                <a:lnTo>
                  <a:pt x="13379440" y="0"/>
                </a:lnTo>
                <a:lnTo>
                  <a:pt x="13379440" y="4354400"/>
                </a:lnTo>
                <a:lnTo>
                  <a:pt x="0" y="435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3365920" y="3842842"/>
            <a:ext cx="2552593" cy="2552593"/>
          </a:xfrm>
          <a:custGeom>
            <a:avLst/>
            <a:gdLst/>
            <a:ahLst/>
            <a:cxnLst/>
            <a:rect l="l" t="t" r="r" b="b"/>
            <a:pathLst>
              <a:path w="2552593" h="2552593">
                <a:moveTo>
                  <a:pt x="0" y="0"/>
                </a:moveTo>
                <a:lnTo>
                  <a:pt x="2552593" y="0"/>
                </a:lnTo>
                <a:lnTo>
                  <a:pt x="2552593" y="2552593"/>
                </a:lnTo>
                <a:lnTo>
                  <a:pt x="0" y="255259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 name="Freeform 4"/>
          <p:cNvSpPr/>
          <p:nvPr/>
        </p:nvSpPr>
        <p:spPr>
          <a:xfrm>
            <a:off x="7708852" y="3525139"/>
            <a:ext cx="2870297" cy="2870297"/>
          </a:xfrm>
          <a:custGeom>
            <a:avLst/>
            <a:gdLst/>
            <a:ahLst/>
            <a:cxnLst/>
            <a:rect l="l" t="t" r="r" b="b"/>
            <a:pathLst>
              <a:path w="2870297" h="2870297">
                <a:moveTo>
                  <a:pt x="0" y="0"/>
                </a:moveTo>
                <a:lnTo>
                  <a:pt x="2870296" y="0"/>
                </a:lnTo>
                <a:lnTo>
                  <a:pt x="2870296" y="2870296"/>
                </a:lnTo>
                <a:lnTo>
                  <a:pt x="0" y="287029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5" name="Freeform 5"/>
          <p:cNvSpPr/>
          <p:nvPr/>
        </p:nvSpPr>
        <p:spPr>
          <a:xfrm>
            <a:off x="12553876" y="3978399"/>
            <a:ext cx="2882548" cy="2515023"/>
          </a:xfrm>
          <a:custGeom>
            <a:avLst/>
            <a:gdLst/>
            <a:ahLst/>
            <a:cxnLst/>
            <a:rect l="l" t="t" r="r" b="b"/>
            <a:pathLst>
              <a:path w="2882548" h="2515023">
                <a:moveTo>
                  <a:pt x="0" y="0"/>
                </a:moveTo>
                <a:lnTo>
                  <a:pt x="2882547" y="0"/>
                </a:lnTo>
                <a:lnTo>
                  <a:pt x="2882547" y="2515023"/>
                </a:lnTo>
                <a:lnTo>
                  <a:pt x="0" y="251502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6" name="TextBox 6"/>
          <p:cNvSpPr txBox="1"/>
          <p:nvPr/>
        </p:nvSpPr>
        <p:spPr>
          <a:xfrm>
            <a:off x="4449063" y="1009650"/>
            <a:ext cx="9389874" cy="654873"/>
          </a:xfrm>
          <a:prstGeom prst="rect">
            <a:avLst/>
          </a:prstGeom>
        </p:spPr>
        <p:txBody>
          <a:bodyPr lIns="0" tIns="0" rIns="0" bIns="0" rtlCol="0" anchor="t">
            <a:spAutoFit/>
          </a:bodyPr>
          <a:lstStyle/>
          <a:p>
            <a:pPr algn="ctr">
              <a:lnSpc>
                <a:spcPts val="5208"/>
              </a:lnSpc>
            </a:pPr>
            <a:r>
              <a:rPr lang="en-US" sz="4200">
                <a:solidFill>
                  <a:srgbClr val="00B9EF"/>
                </a:solidFill>
                <a:latin typeface="Poppins Bold"/>
                <a:ea typeface="Poppins Bold"/>
                <a:cs typeface="Poppins Bold"/>
                <a:sym typeface="Poppins Bold"/>
              </a:rPr>
              <a:t>CONTENTS</a:t>
            </a:r>
          </a:p>
        </p:txBody>
      </p:sp>
      <p:sp>
        <p:nvSpPr>
          <p:cNvPr id="7" name="TextBox 7"/>
          <p:cNvSpPr txBox="1"/>
          <p:nvPr/>
        </p:nvSpPr>
        <p:spPr>
          <a:xfrm>
            <a:off x="2454280" y="7651486"/>
            <a:ext cx="3680427" cy="1154430"/>
          </a:xfrm>
          <a:prstGeom prst="rect">
            <a:avLst/>
          </a:prstGeom>
        </p:spPr>
        <p:txBody>
          <a:bodyPr lIns="0" tIns="0" rIns="0" bIns="0" rtlCol="0" anchor="t">
            <a:spAutoFit/>
          </a:bodyPr>
          <a:lstStyle/>
          <a:p>
            <a:pPr algn="ctr">
              <a:lnSpc>
                <a:spcPts val="4559"/>
              </a:lnSpc>
            </a:pPr>
            <a:r>
              <a:rPr lang="en-US" sz="3999" dirty="0">
                <a:solidFill>
                  <a:srgbClr val="FFFFFF"/>
                </a:solidFill>
                <a:latin typeface="Montserrat Classic"/>
                <a:ea typeface="Montserrat Classic"/>
                <a:cs typeface="Montserrat Classic"/>
                <a:sym typeface="Montserrat Classic"/>
              </a:rPr>
              <a:t>Course Introduction</a:t>
            </a:r>
          </a:p>
        </p:txBody>
      </p:sp>
      <p:sp>
        <p:nvSpPr>
          <p:cNvPr id="8" name="TextBox 8"/>
          <p:cNvSpPr txBox="1"/>
          <p:nvPr/>
        </p:nvSpPr>
        <p:spPr>
          <a:xfrm>
            <a:off x="7303786" y="7532370"/>
            <a:ext cx="3680427" cy="1725930"/>
          </a:xfrm>
          <a:prstGeom prst="rect">
            <a:avLst/>
          </a:prstGeom>
        </p:spPr>
        <p:txBody>
          <a:bodyPr lIns="0" tIns="0" rIns="0" bIns="0" rtlCol="0" anchor="t">
            <a:spAutoFit/>
          </a:bodyPr>
          <a:lstStyle/>
          <a:p>
            <a:pPr algn="ctr">
              <a:lnSpc>
                <a:spcPts val="4559"/>
              </a:lnSpc>
            </a:pPr>
            <a:r>
              <a:rPr lang="en-US" sz="3999" dirty="0">
                <a:solidFill>
                  <a:srgbClr val="FFFFFF"/>
                </a:solidFill>
                <a:latin typeface="Montserrat Classic"/>
                <a:ea typeface="Montserrat Classic"/>
                <a:cs typeface="Montserrat Classic"/>
                <a:sym typeface="Montserrat Classic"/>
              </a:rPr>
              <a:t>Behavioral question introduction </a:t>
            </a:r>
          </a:p>
        </p:txBody>
      </p:sp>
      <p:sp>
        <p:nvSpPr>
          <p:cNvPr id="9" name="TextBox 9"/>
          <p:cNvSpPr txBox="1"/>
          <p:nvPr/>
        </p:nvSpPr>
        <p:spPr>
          <a:xfrm>
            <a:off x="11551929" y="7651486"/>
            <a:ext cx="4886441" cy="1154430"/>
          </a:xfrm>
          <a:prstGeom prst="rect">
            <a:avLst/>
          </a:prstGeom>
        </p:spPr>
        <p:txBody>
          <a:bodyPr lIns="0" tIns="0" rIns="0" bIns="0" rtlCol="0" anchor="t">
            <a:spAutoFit/>
          </a:bodyPr>
          <a:lstStyle/>
          <a:p>
            <a:pPr algn="ctr">
              <a:lnSpc>
                <a:spcPts val="4559"/>
              </a:lnSpc>
            </a:pPr>
            <a:r>
              <a:rPr lang="en-US" sz="3999" dirty="0">
                <a:solidFill>
                  <a:srgbClr val="FFFFFF"/>
                </a:solidFill>
                <a:latin typeface="Montserrat Classic"/>
                <a:ea typeface="Montserrat Classic"/>
                <a:cs typeface="Montserrat Classic"/>
                <a:sym typeface="Montserrat Classic"/>
              </a:rPr>
              <a:t>Self-introduction question practice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576002" y="1028700"/>
            <a:ext cx="2308332" cy="1506711"/>
            <a:chOff x="0" y="0"/>
            <a:chExt cx="3077776" cy="2008948"/>
          </a:xfrm>
        </p:grpSpPr>
        <p:sp>
          <p:nvSpPr>
            <p:cNvPr id="3" name="Freeform 3"/>
            <p:cNvSpPr/>
            <p:nvPr/>
          </p:nvSpPr>
          <p:spPr>
            <a:xfrm>
              <a:off x="0" y="0"/>
              <a:ext cx="3077776" cy="2008948"/>
            </a:xfrm>
            <a:custGeom>
              <a:avLst/>
              <a:gdLst/>
              <a:ahLst/>
              <a:cxnLst/>
              <a:rect l="l" t="t" r="r" b="b"/>
              <a:pathLst>
                <a:path w="3077776" h="2008948">
                  <a:moveTo>
                    <a:pt x="0" y="0"/>
                  </a:moveTo>
                  <a:lnTo>
                    <a:pt x="3077776" y="0"/>
                  </a:lnTo>
                  <a:lnTo>
                    <a:pt x="3077776" y="2008948"/>
                  </a:lnTo>
                  <a:lnTo>
                    <a:pt x="0" y="20089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933478" y="458335"/>
              <a:ext cx="1210819" cy="1184402"/>
            </a:xfrm>
            <a:custGeom>
              <a:avLst/>
              <a:gdLst/>
              <a:ahLst/>
              <a:cxnLst/>
              <a:rect l="l" t="t" r="r" b="b"/>
              <a:pathLst>
                <a:path w="1210819" h="1184402">
                  <a:moveTo>
                    <a:pt x="0" y="0"/>
                  </a:moveTo>
                  <a:lnTo>
                    <a:pt x="1210820" y="0"/>
                  </a:lnTo>
                  <a:lnTo>
                    <a:pt x="1210820" y="1184402"/>
                  </a:lnTo>
                  <a:lnTo>
                    <a:pt x="0" y="11844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5" name="TextBox 5"/>
          <p:cNvSpPr txBox="1"/>
          <p:nvPr/>
        </p:nvSpPr>
        <p:spPr>
          <a:xfrm>
            <a:off x="3761539" y="1066800"/>
            <a:ext cx="13221708" cy="596331"/>
          </a:xfrm>
          <a:prstGeom prst="rect">
            <a:avLst/>
          </a:prstGeom>
        </p:spPr>
        <p:txBody>
          <a:bodyPr lIns="0" tIns="0" rIns="0" bIns="0" rtlCol="0" anchor="t">
            <a:spAutoFit/>
          </a:bodyPr>
          <a:lstStyle/>
          <a:p>
            <a:pPr algn="l">
              <a:lnSpc>
                <a:spcPts val="4620"/>
              </a:lnSpc>
            </a:pPr>
            <a:r>
              <a:rPr lang="en-US" sz="4200" dirty="0">
                <a:solidFill>
                  <a:srgbClr val="00B9EF"/>
                </a:solidFill>
                <a:latin typeface="Poppins Bold"/>
                <a:ea typeface="Poppins Bold"/>
                <a:cs typeface="Poppins Bold"/>
                <a:sym typeface="Poppins Bold"/>
              </a:rPr>
              <a:t>what are behavioral interview questions?</a:t>
            </a:r>
          </a:p>
        </p:txBody>
      </p:sp>
      <p:grpSp>
        <p:nvGrpSpPr>
          <p:cNvPr id="6" name="Group 6"/>
          <p:cNvGrpSpPr/>
          <p:nvPr/>
        </p:nvGrpSpPr>
        <p:grpSpPr>
          <a:xfrm>
            <a:off x="576002" y="5510526"/>
            <a:ext cx="2401916" cy="1567796"/>
            <a:chOff x="0" y="0"/>
            <a:chExt cx="3202555" cy="2090395"/>
          </a:xfrm>
        </p:grpSpPr>
        <p:sp>
          <p:nvSpPr>
            <p:cNvPr id="7" name="Freeform 7"/>
            <p:cNvSpPr/>
            <p:nvPr/>
          </p:nvSpPr>
          <p:spPr>
            <a:xfrm>
              <a:off x="0" y="0"/>
              <a:ext cx="3202555" cy="2090395"/>
            </a:xfrm>
            <a:custGeom>
              <a:avLst/>
              <a:gdLst/>
              <a:ahLst/>
              <a:cxnLst/>
              <a:rect l="l" t="t" r="r" b="b"/>
              <a:pathLst>
                <a:path w="3202555" h="2090395">
                  <a:moveTo>
                    <a:pt x="0" y="0"/>
                  </a:moveTo>
                  <a:lnTo>
                    <a:pt x="3202555" y="0"/>
                  </a:lnTo>
                  <a:lnTo>
                    <a:pt x="3202555" y="2090395"/>
                  </a:lnTo>
                  <a:lnTo>
                    <a:pt x="0" y="20903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971323" y="476917"/>
              <a:ext cx="1259909" cy="1232420"/>
            </a:xfrm>
            <a:custGeom>
              <a:avLst/>
              <a:gdLst/>
              <a:ahLst/>
              <a:cxnLst/>
              <a:rect l="l" t="t" r="r" b="b"/>
              <a:pathLst>
                <a:path w="1259909" h="1232420">
                  <a:moveTo>
                    <a:pt x="0" y="0"/>
                  </a:moveTo>
                  <a:lnTo>
                    <a:pt x="1259909" y="0"/>
                  </a:lnTo>
                  <a:lnTo>
                    <a:pt x="1259909" y="1232419"/>
                  </a:lnTo>
                  <a:lnTo>
                    <a:pt x="0" y="12324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9" name="TextBox 9"/>
          <p:cNvSpPr txBox="1"/>
          <p:nvPr/>
        </p:nvSpPr>
        <p:spPr>
          <a:xfrm>
            <a:off x="3761539" y="5548626"/>
            <a:ext cx="13657925" cy="596331"/>
          </a:xfrm>
          <a:prstGeom prst="rect">
            <a:avLst/>
          </a:prstGeom>
        </p:spPr>
        <p:txBody>
          <a:bodyPr lIns="0" tIns="0" rIns="0" bIns="0" rtlCol="0" anchor="t">
            <a:spAutoFit/>
          </a:bodyPr>
          <a:lstStyle/>
          <a:p>
            <a:pPr algn="l">
              <a:lnSpc>
                <a:spcPts val="4620"/>
              </a:lnSpc>
            </a:pPr>
            <a:r>
              <a:rPr lang="en-US" sz="4200">
                <a:solidFill>
                  <a:srgbClr val="00B9EF"/>
                </a:solidFill>
                <a:latin typeface="Poppins Bold"/>
                <a:ea typeface="Poppins Bold"/>
                <a:cs typeface="Poppins Bold"/>
                <a:sym typeface="Poppins Bold"/>
              </a:rPr>
              <a:t>why do interviewers use behavioral questions?</a:t>
            </a:r>
          </a:p>
        </p:txBody>
      </p:sp>
      <p:grpSp>
        <p:nvGrpSpPr>
          <p:cNvPr id="10" name="Group 10"/>
          <p:cNvGrpSpPr/>
          <p:nvPr/>
        </p:nvGrpSpPr>
        <p:grpSpPr>
          <a:xfrm>
            <a:off x="3623512" y="6702425"/>
            <a:ext cx="13497761" cy="2555875"/>
            <a:chOff x="0" y="0"/>
            <a:chExt cx="17997015" cy="3407833"/>
          </a:xfrm>
        </p:grpSpPr>
        <p:sp>
          <p:nvSpPr>
            <p:cNvPr id="11" name="TextBox 11"/>
            <p:cNvSpPr txBox="1"/>
            <p:nvPr/>
          </p:nvSpPr>
          <p:spPr>
            <a:xfrm>
              <a:off x="0" y="-76200"/>
              <a:ext cx="17997015" cy="1608667"/>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behavioral answers show how the interviewee’s mind works and  solves problems</a:t>
              </a:r>
            </a:p>
          </p:txBody>
        </p:sp>
        <p:sp>
          <p:nvSpPr>
            <p:cNvPr id="12" name="TextBox 12"/>
            <p:cNvSpPr txBox="1"/>
            <p:nvPr/>
          </p:nvSpPr>
          <p:spPr>
            <a:xfrm>
              <a:off x="0" y="1799167"/>
              <a:ext cx="17997015" cy="1608667"/>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Show the interviewees’ passion and what they want to do</a:t>
              </a:r>
            </a:p>
          </p:txBody>
        </p:sp>
      </p:grpSp>
      <p:grpSp>
        <p:nvGrpSpPr>
          <p:cNvPr id="13" name="Group 13"/>
          <p:cNvGrpSpPr/>
          <p:nvPr/>
        </p:nvGrpSpPr>
        <p:grpSpPr>
          <a:xfrm>
            <a:off x="3761539" y="2109294"/>
            <a:ext cx="13497761" cy="2232025"/>
            <a:chOff x="0" y="0"/>
            <a:chExt cx="17997015" cy="2976033"/>
          </a:xfrm>
        </p:grpSpPr>
        <p:sp>
          <p:nvSpPr>
            <p:cNvPr id="14" name="TextBox 14"/>
            <p:cNvSpPr txBox="1"/>
            <p:nvPr/>
          </p:nvSpPr>
          <p:spPr>
            <a:xfrm>
              <a:off x="0" y="-76200"/>
              <a:ext cx="17997015" cy="1608667"/>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A behavioral question often starts with “Tell me about a time…” or “Give me an example of…” or “When did you....”</a:t>
              </a:r>
            </a:p>
          </p:txBody>
        </p:sp>
        <p:sp>
          <p:nvSpPr>
            <p:cNvPr id="15" name="TextBox 15"/>
            <p:cNvSpPr txBox="1"/>
            <p:nvPr/>
          </p:nvSpPr>
          <p:spPr>
            <a:xfrm>
              <a:off x="0" y="2192867"/>
              <a:ext cx="17997015" cy="783167"/>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They are also called “STAR Questions”.   </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ppt_x"/>
                                          </p:val>
                                        </p:tav>
                                        <p:tav tm="100000">
                                          <p:val>
                                            <p:strVal val="#ppt_x"/>
                                          </p:val>
                                        </p:tav>
                                      </p:tavLst>
                                    </p:anim>
                                    <p:anim calcmode="lin" valueType="num">
                                      <p:cBhvr additive="base">
                                        <p:cTn id="3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2976125" y="4317887"/>
            <a:ext cx="12335750" cy="3138617"/>
            <a:chOff x="0" y="0"/>
            <a:chExt cx="16447667" cy="4184822"/>
          </a:xfrm>
        </p:grpSpPr>
        <p:sp>
          <p:nvSpPr>
            <p:cNvPr id="3" name="Freeform 3"/>
            <p:cNvSpPr/>
            <p:nvPr/>
          </p:nvSpPr>
          <p:spPr>
            <a:xfrm>
              <a:off x="0" y="0"/>
              <a:ext cx="2401934" cy="2308859"/>
            </a:xfrm>
            <a:custGeom>
              <a:avLst/>
              <a:gdLst/>
              <a:ahLst/>
              <a:cxnLst/>
              <a:rect l="l" t="t" r="r" b="b"/>
              <a:pathLst>
                <a:path w="2401934" h="2308859">
                  <a:moveTo>
                    <a:pt x="0" y="0"/>
                  </a:moveTo>
                  <a:lnTo>
                    <a:pt x="2401934" y="0"/>
                  </a:lnTo>
                  <a:lnTo>
                    <a:pt x="2401934" y="2308859"/>
                  </a:lnTo>
                  <a:lnTo>
                    <a:pt x="0" y="23088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5619339" y="0"/>
              <a:ext cx="2401934" cy="2308859"/>
            </a:xfrm>
            <a:custGeom>
              <a:avLst/>
              <a:gdLst/>
              <a:ahLst/>
              <a:cxnLst/>
              <a:rect l="l" t="t" r="r" b="b"/>
              <a:pathLst>
                <a:path w="2401934" h="2308859">
                  <a:moveTo>
                    <a:pt x="0" y="0"/>
                  </a:moveTo>
                  <a:lnTo>
                    <a:pt x="2401933" y="0"/>
                  </a:lnTo>
                  <a:lnTo>
                    <a:pt x="2401933" y="2308859"/>
                  </a:lnTo>
                  <a:lnTo>
                    <a:pt x="0" y="23088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flipV="1">
              <a:off x="2807056" y="1875964"/>
              <a:ext cx="2401934" cy="2308859"/>
            </a:xfrm>
            <a:custGeom>
              <a:avLst/>
              <a:gdLst/>
              <a:ahLst/>
              <a:cxnLst/>
              <a:rect l="l" t="t" r="r" b="b"/>
              <a:pathLst>
                <a:path w="2401934" h="2308859">
                  <a:moveTo>
                    <a:pt x="0" y="2308858"/>
                  </a:moveTo>
                  <a:lnTo>
                    <a:pt x="2401934" y="2308858"/>
                  </a:lnTo>
                  <a:lnTo>
                    <a:pt x="2401934" y="0"/>
                  </a:lnTo>
                  <a:lnTo>
                    <a:pt x="0" y="0"/>
                  </a:lnTo>
                  <a:lnTo>
                    <a:pt x="0" y="230885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flipV="1">
              <a:off x="8426395" y="1875964"/>
              <a:ext cx="2401934" cy="2308859"/>
            </a:xfrm>
            <a:custGeom>
              <a:avLst/>
              <a:gdLst/>
              <a:ahLst/>
              <a:cxnLst/>
              <a:rect l="l" t="t" r="r" b="b"/>
              <a:pathLst>
                <a:path w="2401934" h="2308859">
                  <a:moveTo>
                    <a:pt x="0" y="2308858"/>
                  </a:moveTo>
                  <a:lnTo>
                    <a:pt x="2401933" y="2308858"/>
                  </a:lnTo>
                  <a:lnTo>
                    <a:pt x="2401933" y="0"/>
                  </a:lnTo>
                  <a:lnTo>
                    <a:pt x="0" y="0"/>
                  </a:lnTo>
                  <a:lnTo>
                    <a:pt x="0" y="230885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11238677" y="0"/>
              <a:ext cx="2401934" cy="2308859"/>
            </a:xfrm>
            <a:custGeom>
              <a:avLst/>
              <a:gdLst/>
              <a:ahLst/>
              <a:cxnLst/>
              <a:rect l="l" t="t" r="r" b="b"/>
              <a:pathLst>
                <a:path w="2401934" h="2308859">
                  <a:moveTo>
                    <a:pt x="0" y="0"/>
                  </a:moveTo>
                  <a:lnTo>
                    <a:pt x="2401934" y="0"/>
                  </a:lnTo>
                  <a:lnTo>
                    <a:pt x="2401934" y="2308859"/>
                  </a:lnTo>
                  <a:lnTo>
                    <a:pt x="0" y="23088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flipV="1">
              <a:off x="14045733" y="1875964"/>
              <a:ext cx="2401934" cy="2308859"/>
            </a:xfrm>
            <a:custGeom>
              <a:avLst/>
              <a:gdLst/>
              <a:ahLst/>
              <a:cxnLst/>
              <a:rect l="l" t="t" r="r" b="b"/>
              <a:pathLst>
                <a:path w="2401934" h="2308859">
                  <a:moveTo>
                    <a:pt x="0" y="2308858"/>
                  </a:moveTo>
                  <a:lnTo>
                    <a:pt x="2401934" y="2308858"/>
                  </a:lnTo>
                  <a:lnTo>
                    <a:pt x="2401934" y="0"/>
                  </a:lnTo>
                  <a:lnTo>
                    <a:pt x="0" y="0"/>
                  </a:lnTo>
                  <a:lnTo>
                    <a:pt x="0" y="2308858"/>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9" name="Group 9"/>
          <p:cNvGrpSpPr/>
          <p:nvPr/>
        </p:nvGrpSpPr>
        <p:grpSpPr>
          <a:xfrm>
            <a:off x="1028700" y="2541114"/>
            <a:ext cx="1152212" cy="1152212"/>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D49AF"/>
            </a:solidFill>
          </p:spPr>
          <p:txBody>
            <a:bodyPr/>
            <a:lstStyle/>
            <a:p>
              <a:endParaRPr lang="en-US"/>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2" name="Group 12"/>
          <p:cNvGrpSpPr/>
          <p:nvPr/>
        </p:nvGrpSpPr>
        <p:grpSpPr>
          <a:xfrm>
            <a:off x="2659528" y="7846124"/>
            <a:ext cx="1152212" cy="1152212"/>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C73C5"/>
            </a:solidFill>
          </p:spPr>
          <p:txBody>
            <a:bodyPr/>
            <a:lstStyle/>
            <a:p>
              <a:endParaRPr lang="en-US"/>
            </a:p>
          </p:txBody>
        </p:sp>
        <p:sp>
          <p:nvSpPr>
            <p:cNvPr id="14" name="TextBox 14"/>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5" name="Group 15"/>
          <p:cNvGrpSpPr/>
          <p:nvPr/>
        </p:nvGrpSpPr>
        <p:grpSpPr>
          <a:xfrm>
            <a:off x="6104726" y="2541114"/>
            <a:ext cx="1152212" cy="1152212"/>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B97CA"/>
            </a:solidFill>
          </p:spPr>
          <p:txBody>
            <a:bodyPr/>
            <a:lstStyle/>
            <a:p>
              <a:endParaRPr lang="en-US"/>
            </a:p>
          </p:txBody>
        </p:sp>
        <p:sp>
          <p:nvSpPr>
            <p:cNvPr id="17" name="TextBox 17"/>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18" name="Group 18"/>
          <p:cNvGrpSpPr/>
          <p:nvPr/>
        </p:nvGrpSpPr>
        <p:grpSpPr>
          <a:xfrm>
            <a:off x="7735554" y="7846124"/>
            <a:ext cx="1152212" cy="115221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3BAC7"/>
            </a:solidFill>
          </p:spPr>
          <p:txBody>
            <a:bodyPr/>
            <a:lstStyle/>
            <a:p>
              <a:endParaRPr lang="en-US"/>
            </a:p>
          </p:txBody>
        </p:sp>
        <p:sp>
          <p:nvSpPr>
            <p:cNvPr id="20" name="TextBox 20"/>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21" name="Group 21"/>
          <p:cNvGrpSpPr/>
          <p:nvPr/>
        </p:nvGrpSpPr>
        <p:grpSpPr>
          <a:xfrm>
            <a:off x="11180752" y="2541114"/>
            <a:ext cx="1152212" cy="1152212"/>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EC195"/>
            </a:solidFill>
          </p:spPr>
          <p:txBody>
            <a:bodyPr/>
            <a:lstStyle/>
            <a:p>
              <a:endParaRPr lang="en-US"/>
            </a:p>
          </p:txBody>
        </p:sp>
        <p:sp>
          <p:nvSpPr>
            <p:cNvPr id="23" name="TextBox 23"/>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grpSp>
        <p:nvGrpSpPr>
          <p:cNvPr id="24" name="Group 24"/>
          <p:cNvGrpSpPr/>
          <p:nvPr/>
        </p:nvGrpSpPr>
        <p:grpSpPr>
          <a:xfrm>
            <a:off x="12811580" y="7846124"/>
            <a:ext cx="1152212" cy="1152212"/>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5C740"/>
            </a:solidFill>
          </p:spPr>
          <p:txBody>
            <a:bodyPr/>
            <a:lstStyle/>
            <a:p>
              <a:endParaRPr lang="en-US"/>
            </a:p>
          </p:txBody>
        </p:sp>
        <p:sp>
          <p:nvSpPr>
            <p:cNvPr id="26" name="TextBox 26"/>
            <p:cNvSpPr txBox="1"/>
            <p:nvPr/>
          </p:nvSpPr>
          <p:spPr>
            <a:xfrm>
              <a:off x="76200" y="19050"/>
              <a:ext cx="660400" cy="717550"/>
            </a:xfrm>
            <a:prstGeom prst="rect">
              <a:avLst/>
            </a:prstGeom>
          </p:spPr>
          <p:txBody>
            <a:bodyPr lIns="50800" tIns="50800" rIns="50800" bIns="50800" rtlCol="0" anchor="ctr"/>
            <a:lstStyle/>
            <a:p>
              <a:pPr algn="ctr">
                <a:lnSpc>
                  <a:spcPts val="2800"/>
                </a:lnSpc>
              </a:pPr>
              <a:endParaRPr/>
            </a:p>
          </p:txBody>
        </p:sp>
      </p:grpSp>
      <p:sp>
        <p:nvSpPr>
          <p:cNvPr id="27" name="Freeform 27"/>
          <p:cNvSpPr/>
          <p:nvPr/>
        </p:nvSpPr>
        <p:spPr>
          <a:xfrm>
            <a:off x="-723900" y="9730900"/>
            <a:ext cx="1351773" cy="2791957"/>
          </a:xfrm>
          <a:custGeom>
            <a:avLst/>
            <a:gdLst/>
            <a:ahLst/>
            <a:cxnLst/>
            <a:rect l="l" t="t" r="r" b="b"/>
            <a:pathLst>
              <a:path w="1351773" h="2791957">
                <a:moveTo>
                  <a:pt x="0" y="0"/>
                </a:moveTo>
                <a:lnTo>
                  <a:pt x="1351773" y="0"/>
                </a:lnTo>
                <a:lnTo>
                  <a:pt x="1351773" y="2791957"/>
                </a:lnTo>
                <a:lnTo>
                  <a:pt x="0" y="27919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8" name="Freeform 28"/>
          <p:cNvSpPr/>
          <p:nvPr/>
        </p:nvSpPr>
        <p:spPr>
          <a:xfrm>
            <a:off x="1224241" y="2743315"/>
            <a:ext cx="761130" cy="747810"/>
          </a:xfrm>
          <a:custGeom>
            <a:avLst/>
            <a:gdLst/>
            <a:ahLst/>
            <a:cxnLst/>
            <a:rect l="l" t="t" r="r" b="b"/>
            <a:pathLst>
              <a:path w="761130" h="747810">
                <a:moveTo>
                  <a:pt x="0" y="0"/>
                </a:moveTo>
                <a:lnTo>
                  <a:pt x="761130" y="0"/>
                </a:lnTo>
                <a:lnTo>
                  <a:pt x="761130" y="747810"/>
                </a:lnTo>
                <a:lnTo>
                  <a:pt x="0" y="74781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9" name="Freeform 29"/>
          <p:cNvSpPr/>
          <p:nvPr/>
        </p:nvSpPr>
        <p:spPr>
          <a:xfrm>
            <a:off x="6319719" y="2800049"/>
            <a:ext cx="787529" cy="786545"/>
          </a:xfrm>
          <a:custGeom>
            <a:avLst/>
            <a:gdLst/>
            <a:ahLst/>
            <a:cxnLst/>
            <a:rect l="l" t="t" r="r" b="b"/>
            <a:pathLst>
              <a:path w="787529" h="786545">
                <a:moveTo>
                  <a:pt x="0" y="0"/>
                </a:moveTo>
                <a:lnTo>
                  <a:pt x="787529" y="0"/>
                </a:lnTo>
                <a:lnTo>
                  <a:pt x="787529" y="786545"/>
                </a:lnTo>
                <a:lnTo>
                  <a:pt x="0" y="78654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30" name="Freeform 30"/>
          <p:cNvSpPr/>
          <p:nvPr/>
        </p:nvSpPr>
        <p:spPr>
          <a:xfrm>
            <a:off x="11300786" y="2658785"/>
            <a:ext cx="927808" cy="927808"/>
          </a:xfrm>
          <a:custGeom>
            <a:avLst/>
            <a:gdLst/>
            <a:ahLst/>
            <a:cxnLst/>
            <a:rect l="l" t="t" r="r" b="b"/>
            <a:pathLst>
              <a:path w="927808" h="927808">
                <a:moveTo>
                  <a:pt x="0" y="0"/>
                </a:moveTo>
                <a:lnTo>
                  <a:pt x="927808" y="0"/>
                </a:lnTo>
                <a:lnTo>
                  <a:pt x="927808" y="927809"/>
                </a:lnTo>
                <a:lnTo>
                  <a:pt x="0" y="92780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1" name="Freeform 31"/>
          <p:cNvSpPr/>
          <p:nvPr/>
        </p:nvSpPr>
        <p:spPr>
          <a:xfrm>
            <a:off x="2773575" y="8065737"/>
            <a:ext cx="769693" cy="769693"/>
          </a:xfrm>
          <a:custGeom>
            <a:avLst/>
            <a:gdLst/>
            <a:ahLst/>
            <a:cxnLst/>
            <a:rect l="l" t="t" r="r" b="b"/>
            <a:pathLst>
              <a:path w="769693" h="769693">
                <a:moveTo>
                  <a:pt x="0" y="0"/>
                </a:moveTo>
                <a:lnTo>
                  <a:pt x="769692" y="0"/>
                </a:lnTo>
                <a:lnTo>
                  <a:pt x="769692" y="769692"/>
                </a:lnTo>
                <a:lnTo>
                  <a:pt x="0" y="769692"/>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2" name="Freeform 32"/>
          <p:cNvSpPr/>
          <p:nvPr/>
        </p:nvSpPr>
        <p:spPr>
          <a:xfrm>
            <a:off x="7868443" y="7948995"/>
            <a:ext cx="886434" cy="886434"/>
          </a:xfrm>
          <a:custGeom>
            <a:avLst/>
            <a:gdLst/>
            <a:ahLst/>
            <a:cxnLst/>
            <a:rect l="l" t="t" r="r" b="b"/>
            <a:pathLst>
              <a:path w="886434" h="886434">
                <a:moveTo>
                  <a:pt x="0" y="0"/>
                </a:moveTo>
                <a:lnTo>
                  <a:pt x="886434" y="0"/>
                </a:lnTo>
                <a:lnTo>
                  <a:pt x="886434" y="886434"/>
                </a:lnTo>
                <a:lnTo>
                  <a:pt x="0" y="88643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3" name="Freeform 33"/>
          <p:cNvSpPr/>
          <p:nvPr/>
        </p:nvSpPr>
        <p:spPr>
          <a:xfrm>
            <a:off x="12866795" y="7901339"/>
            <a:ext cx="1041783" cy="1041783"/>
          </a:xfrm>
          <a:custGeom>
            <a:avLst/>
            <a:gdLst/>
            <a:ahLst/>
            <a:cxnLst/>
            <a:rect l="l" t="t" r="r" b="b"/>
            <a:pathLst>
              <a:path w="1041783" h="1041783">
                <a:moveTo>
                  <a:pt x="0" y="0"/>
                </a:moveTo>
                <a:lnTo>
                  <a:pt x="1041783" y="0"/>
                </a:lnTo>
                <a:lnTo>
                  <a:pt x="1041783" y="1041782"/>
                </a:lnTo>
                <a:lnTo>
                  <a:pt x="0" y="1041782"/>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34" name="TextBox 34"/>
          <p:cNvSpPr txBox="1"/>
          <p:nvPr/>
        </p:nvSpPr>
        <p:spPr>
          <a:xfrm>
            <a:off x="3235634" y="867457"/>
            <a:ext cx="11300959" cy="874461"/>
          </a:xfrm>
          <a:prstGeom prst="rect">
            <a:avLst/>
          </a:prstGeom>
        </p:spPr>
        <p:txBody>
          <a:bodyPr lIns="0" tIns="0" rIns="0" bIns="0" rtlCol="0" anchor="t">
            <a:spAutoFit/>
          </a:bodyPr>
          <a:lstStyle/>
          <a:p>
            <a:pPr algn="ctr">
              <a:lnSpc>
                <a:spcPts val="7200"/>
              </a:lnSpc>
            </a:pPr>
            <a:r>
              <a:rPr lang="en-US" sz="4800" b="1">
                <a:solidFill>
                  <a:srgbClr val="00B9EF"/>
                </a:solidFill>
                <a:latin typeface="Barlow Bold"/>
                <a:ea typeface="Barlow Bold"/>
                <a:cs typeface="Barlow Bold"/>
                <a:sym typeface="Barlow Bold"/>
              </a:rPr>
              <a:t>CATEGORIES OF BEHAVIORAL QUESTIONS </a:t>
            </a:r>
          </a:p>
        </p:txBody>
      </p:sp>
      <p:sp>
        <p:nvSpPr>
          <p:cNvPr id="35" name="TextBox 35"/>
          <p:cNvSpPr txBox="1"/>
          <p:nvPr/>
        </p:nvSpPr>
        <p:spPr>
          <a:xfrm>
            <a:off x="2505464" y="2370569"/>
            <a:ext cx="2970955" cy="1216025"/>
          </a:xfrm>
          <a:prstGeom prst="rect">
            <a:avLst/>
          </a:prstGeom>
        </p:spPr>
        <p:txBody>
          <a:bodyPr lIns="0" tIns="0" rIns="0" bIns="0" rtlCol="0" anchor="t">
            <a:spAutoFit/>
          </a:bodyPr>
          <a:lstStyle/>
          <a:p>
            <a:pPr algn="l">
              <a:lnSpc>
                <a:spcPts val="4900"/>
              </a:lnSpc>
            </a:pPr>
            <a:r>
              <a:rPr lang="en-US" sz="3500" b="1" dirty="0">
                <a:solidFill>
                  <a:srgbClr val="00B9EF"/>
                </a:solidFill>
                <a:latin typeface="Open Sans Bold Bold"/>
                <a:ea typeface="Open Sans Bold Bold"/>
                <a:cs typeface="Open Sans Bold Bold"/>
                <a:sym typeface="Open Sans Bold Bold"/>
              </a:rPr>
              <a:t>Customer Services </a:t>
            </a:r>
          </a:p>
        </p:txBody>
      </p:sp>
      <p:sp>
        <p:nvSpPr>
          <p:cNvPr id="36" name="TextBox 36"/>
          <p:cNvSpPr txBox="1"/>
          <p:nvPr/>
        </p:nvSpPr>
        <p:spPr>
          <a:xfrm>
            <a:off x="3990942" y="8085154"/>
            <a:ext cx="2970955" cy="596900"/>
          </a:xfrm>
          <a:prstGeom prst="rect">
            <a:avLst/>
          </a:prstGeom>
        </p:spPr>
        <p:txBody>
          <a:bodyPr lIns="0" tIns="0" rIns="0" bIns="0" rtlCol="0" anchor="t">
            <a:spAutoFit/>
          </a:bodyPr>
          <a:lstStyle/>
          <a:p>
            <a:pPr algn="l">
              <a:lnSpc>
                <a:spcPts val="4900"/>
              </a:lnSpc>
            </a:pPr>
            <a:r>
              <a:rPr lang="en-US" sz="3500" b="1">
                <a:solidFill>
                  <a:srgbClr val="CB6CE6"/>
                </a:solidFill>
                <a:latin typeface="Open Sans Bold Bold"/>
                <a:ea typeface="Open Sans Bold Bold"/>
                <a:cs typeface="Open Sans Bold Bold"/>
                <a:sym typeface="Open Sans Bold Bold"/>
              </a:rPr>
              <a:t>Innovation</a:t>
            </a:r>
          </a:p>
        </p:txBody>
      </p:sp>
      <p:sp>
        <p:nvSpPr>
          <p:cNvPr id="37" name="TextBox 37"/>
          <p:cNvSpPr txBox="1"/>
          <p:nvPr/>
        </p:nvSpPr>
        <p:spPr>
          <a:xfrm>
            <a:off x="7581490" y="2370569"/>
            <a:ext cx="3243046" cy="1216025"/>
          </a:xfrm>
          <a:prstGeom prst="rect">
            <a:avLst/>
          </a:prstGeom>
        </p:spPr>
        <p:txBody>
          <a:bodyPr lIns="0" tIns="0" rIns="0" bIns="0" rtlCol="0" anchor="t">
            <a:spAutoFit/>
          </a:bodyPr>
          <a:lstStyle/>
          <a:p>
            <a:pPr algn="l">
              <a:lnSpc>
                <a:spcPts val="4900"/>
              </a:lnSpc>
            </a:pPr>
            <a:r>
              <a:rPr lang="en-US" sz="3500" b="1">
                <a:solidFill>
                  <a:srgbClr val="00B9EF"/>
                </a:solidFill>
                <a:latin typeface="Open Sans Bold Bold"/>
                <a:ea typeface="Open Sans Bold Bold"/>
                <a:cs typeface="Open Sans Bold Bold"/>
                <a:sym typeface="Open Sans Bold Bold"/>
              </a:rPr>
              <a:t>People management</a:t>
            </a:r>
          </a:p>
        </p:txBody>
      </p:sp>
      <p:sp>
        <p:nvSpPr>
          <p:cNvPr id="38" name="TextBox 38"/>
          <p:cNvSpPr txBox="1"/>
          <p:nvPr/>
        </p:nvSpPr>
        <p:spPr>
          <a:xfrm>
            <a:off x="9203013" y="7940691"/>
            <a:ext cx="2970955" cy="1216025"/>
          </a:xfrm>
          <a:prstGeom prst="rect">
            <a:avLst/>
          </a:prstGeom>
        </p:spPr>
        <p:txBody>
          <a:bodyPr lIns="0" tIns="0" rIns="0" bIns="0" rtlCol="0" anchor="t">
            <a:spAutoFit/>
          </a:bodyPr>
          <a:lstStyle/>
          <a:p>
            <a:pPr algn="l">
              <a:lnSpc>
                <a:spcPts val="4900"/>
              </a:lnSpc>
            </a:pPr>
            <a:r>
              <a:rPr lang="en-US" sz="3500" b="1">
                <a:solidFill>
                  <a:srgbClr val="CB6CE6"/>
                </a:solidFill>
                <a:latin typeface="Open Sans Bold Bold"/>
                <a:ea typeface="Open Sans Bold Bold"/>
                <a:cs typeface="Open Sans Bold Bold"/>
                <a:sym typeface="Open Sans Bold Bold"/>
              </a:rPr>
              <a:t>Mistake/ Failure</a:t>
            </a:r>
          </a:p>
        </p:txBody>
      </p:sp>
      <p:sp>
        <p:nvSpPr>
          <p:cNvPr id="39" name="TextBox 39"/>
          <p:cNvSpPr txBox="1"/>
          <p:nvPr/>
        </p:nvSpPr>
        <p:spPr>
          <a:xfrm>
            <a:off x="12933039" y="2565154"/>
            <a:ext cx="3116306" cy="1216025"/>
          </a:xfrm>
          <a:prstGeom prst="rect">
            <a:avLst/>
          </a:prstGeom>
        </p:spPr>
        <p:txBody>
          <a:bodyPr lIns="0" tIns="0" rIns="0" bIns="0" rtlCol="0" anchor="t">
            <a:spAutoFit/>
          </a:bodyPr>
          <a:lstStyle/>
          <a:p>
            <a:pPr algn="l">
              <a:lnSpc>
                <a:spcPts val="4900"/>
              </a:lnSpc>
            </a:pPr>
            <a:r>
              <a:rPr lang="en-US" sz="3500" b="1">
                <a:solidFill>
                  <a:srgbClr val="00B9EF"/>
                </a:solidFill>
                <a:latin typeface="Open Sans Bold Bold"/>
                <a:ea typeface="Open Sans Bold Bold"/>
                <a:cs typeface="Open Sans Bold Bold"/>
                <a:sym typeface="Open Sans Bold Bold"/>
              </a:rPr>
              <a:t>Project management </a:t>
            </a:r>
          </a:p>
        </p:txBody>
      </p:sp>
      <p:sp>
        <p:nvSpPr>
          <p:cNvPr id="40" name="TextBox 40"/>
          <p:cNvSpPr txBox="1"/>
          <p:nvPr/>
        </p:nvSpPr>
        <p:spPr>
          <a:xfrm>
            <a:off x="14278117" y="8085154"/>
            <a:ext cx="2970955" cy="596900"/>
          </a:xfrm>
          <a:prstGeom prst="rect">
            <a:avLst/>
          </a:prstGeom>
        </p:spPr>
        <p:txBody>
          <a:bodyPr lIns="0" tIns="0" rIns="0" bIns="0" rtlCol="0" anchor="t">
            <a:spAutoFit/>
          </a:bodyPr>
          <a:lstStyle/>
          <a:p>
            <a:pPr algn="l">
              <a:lnSpc>
                <a:spcPts val="4900"/>
              </a:lnSpc>
            </a:pPr>
            <a:r>
              <a:rPr lang="en-US" sz="3500" b="1">
                <a:solidFill>
                  <a:srgbClr val="CB6CE6"/>
                </a:solidFill>
                <a:latin typeface="Open Sans Bold Bold"/>
                <a:ea typeface="Open Sans Bold Bold"/>
                <a:cs typeface="Open Sans Bold Bold"/>
                <a:sym typeface="Open Sans Bold Bold"/>
              </a:rPr>
              <a:t>Conflicts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fill="hold"/>
                                        <p:tgtEl>
                                          <p:spTgt spid="35"/>
                                        </p:tgtEl>
                                        <p:attrNameLst>
                                          <p:attrName>ppt_x</p:attrName>
                                        </p:attrNameLst>
                                      </p:cBhvr>
                                      <p:tavLst>
                                        <p:tav tm="0">
                                          <p:val>
                                            <p:strVal val="#ppt_x"/>
                                          </p:val>
                                        </p:tav>
                                        <p:tav tm="100000">
                                          <p:val>
                                            <p:strVal val="#ppt_x"/>
                                          </p:val>
                                        </p:tav>
                                      </p:tavLst>
                                    </p:anim>
                                    <p:anim calcmode="lin" valueType="num">
                                      <p:cBhvr additive="base">
                                        <p:cTn id="16" dur="500" fill="hold"/>
                                        <p:tgtEl>
                                          <p:spTgt spid="3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fill="hold"/>
                                        <p:tgtEl>
                                          <p:spTgt spid="28"/>
                                        </p:tgtEl>
                                        <p:attrNameLst>
                                          <p:attrName>ppt_x</p:attrName>
                                        </p:attrNameLst>
                                      </p:cBhvr>
                                      <p:tavLst>
                                        <p:tav tm="0">
                                          <p:val>
                                            <p:strVal val="#ppt_x"/>
                                          </p:val>
                                        </p:tav>
                                        <p:tav tm="100000">
                                          <p:val>
                                            <p:strVal val="#ppt_x"/>
                                          </p:val>
                                        </p:tav>
                                      </p:tavLst>
                                    </p:anim>
                                    <p:anim calcmode="lin" valueType="num">
                                      <p:cBhvr additive="base">
                                        <p:cTn id="20"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 calcmode="lin" valueType="num">
                                      <p:cBhvr additive="base">
                                        <p:cTn id="25" dur="500" fill="hold"/>
                                        <p:tgtEl>
                                          <p:spTgt spid="29"/>
                                        </p:tgtEl>
                                        <p:attrNameLst>
                                          <p:attrName>ppt_x</p:attrName>
                                        </p:attrNameLst>
                                      </p:cBhvr>
                                      <p:tavLst>
                                        <p:tav tm="0">
                                          <p:val>
                                            <p:strVal val="#ppt_x"/>
                                          </p:val>
                                        </p:tav>
                                        <p:tav tm="100000">
                                          <p:val>
                                            <p:strVal val="#ppt_x"/>
                                          </p:val>
                                        </p:tav>
                                      </p:tavLst>
                                    </p:anim>
                                    <p:anim calcmode="lin" valueType="num">
                                      <p:cBhvr additive="base">
                                        <p:cTn id="26" dur="500" fill="hold"/>
                                        <p:tgtEl>
                                          <p:spTgt spid="29"/>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anim calcmode="lin" valueType="num">
                                      <p:cBhvr additive="base">
                                        <p:cTn id="33" dur="500" fill="hold"/>
                                        <p:tgtEl>
                                          <p:spTgt spid="37"/>
                                        </p:tgtEl>
                                        <p:attrNameLst>
                                          <p:attrName>ppt_x</p:attrName>
                                        </p:attrNameLst>
                                      </p:cBhvr>
                                      <p:tavLst>
                                        <p:tav tm="0">
                                          <p:val>
                                            <p:strVal val="#ppt_x"/>
                                          </p:val>
                                        </p:tav>
                                        <p:tav tm="100000">
                                          <p:val>
                                            <p:strVal val="#ppt_x"/>
                                          </p:val>
                                        </p:tav>
                                      </p:tavLst>
                                    </p:anim>
                                    <p:anim calcmode="lin" valueType="num">
                                      <p:cBhvr additive="base">
                                        <p:cTn id="34"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anim calcmode="lin" valueType="num">
                                      <p:cBhvr additive="base">
                                        <p:cTn id="39" dur="500" fill="hold"/>
                                        <p:tgtEl>
                                          <p:spTgt spid="21"/>
                                        </p:tgtEl>
                                        <p:attrNameLst>
                                          <p:attrName>ppt_x</p:attrName>
                                        </p:attrNameLst>
                                      </p:cBhvr>
                                      <p:tavLst>
                                        <p:tav tm="0">
                                          <p:val>
                                            <p:strVal val="#ppt_x"/>
                                          </p:val>
                                        </p:tav>
                                        <p:tav tm="100000">
                                          <p:val>
                                            <p:strVal val="#ppt_x"/>
                                          </p:val>
                                        </p:tav>
                                      </p:tavLst>
                                    </p:anim>
                                    <p:anim calcmode="lin" valueType="num">
                                      <p:cBhvr additive="base">
                                        <p:cTn id="40" dur="500" fill="hold"/>
                                        <p:tgtEl>
                                          <p:spTgt spid="21"/>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anim calcmode="lin" valueType="num">
                                      <p:cBhvr additive="base">
                                        <p:cTn id="43" dur="500" fill="hold"/>
                                        <p:tgtEl>
                                          <p:spTgt spid="39"/>
                                        </p:tgtEl>
                                        <p:attrNameLst>
                                          <p:attrName>ppt_x</p:attrName>
                                        </p:attrNameLst>
                                      </p:cBhvr>
                                      <p:tavLst>
                                        <p:tav tm="0">
                                          <p:val>
                                            <p:strVal val="#ppt_x"/>
                                          </p:val>
                                        </p:tav>
                                        <p:tav tm="100000">
                                          <p:val>
                                            <p:strVal val="#ppt_x"/>
                                          </p:val>
                                        </p:tav>
                                      </p:tavLst>
                                    </p:anim>
                                    <p:anim calcmode="lin" valueType="num">
                                      <p:cBhvr additive="base">
                                        <p:cTn id="44" dur="500" fill="hold"/>
                                        <p:tgtEl>
                                          <p:spTgt spid="39"/>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 calcmode="lin" valueType="num">
                                      <p:cBhvr additive="base">
                                        <p:cTn id="47" dur="500" fill="hold"/>
                                        <p:tgtEl>
                                          <p:spTgt spid="30"/>
                                        </p:tgtEl>
                                        <p:attrNameLst>
                                          <p:attrName>ppt_x</p:attrName>
                                        </p:attrNameLst>
                                      </p:cBhvr>
                                      <p:tavLst>
                                        <p:tav tm="0">
                                          <p:val>
                                            <p:strVal val="#ppt_x"/>
                                          </p:val>
                                        </p:tav>
                                        <p:tav tm="100000">
                                          <p:val>
                                            <p:strVal val="#ppt_x"/>
                                          </p:val>
                                        </p:tav>
                                      </p:tavLst>
                                    </p:anim>
                                    <p:anim calcmode="lin" valueType="num">
                                      <p:cBhvr additive="base">
                                        <p:cTn id="4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6"/>
                                        </p:tgtEl>
                                        <p:attrNameLst>
                                          <p:attrName>style.visibility</p:attrName>
                                        </p:attrNameLst>
                                      </p:cBhvr>
                                      <p:to>
                                        <p:strVal val="visible"/>
                                      </p:to>
                                    </p:set>
                                    <p:anim calcmode="lin" valueType="num">
                                      <p:cBhvr additive="base">
                                        <p:cTn id="53" dur="500" fill="hold"/>
                                        <p:tgtEl>
                                          <p:spTgt spid="36"/>
                                        </p:tgtEl>
                                        <p:attrNameLst>
                                          <p:attrName>ppt_x</p:attrName>
                                        </p:attrNameLst>
                                      </p:cBhvr>
                                      <p:tavLst>
                                        <p:tav tm="0">
                                          <p:val>
                                            <p:strVal val="#ppt_x"/>
                                          </p:val>
                                        </p:tav>
                                        <p:tav tm="100000">
                                          <p:val>
                                            <p:strVal val="#ppt_x"/>
                                          </p:val>
                                        </p:tav>
                                      </p:tavLst>
                                    </p:anim>
                                    <p:anim calcmode="lin" valueType="num">
                                      <p:cBhvr additive="base">
                                        <p:cTn id="54" dur="500" fill="hold"/>
                                        <p:tgtEl>
                                          <p:spTgt spid="36"/>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500" fill="hold"/>
                                        <p:tgtEl>
                                          <p:spTgt spid="12"/>
                                        </p:tgtEl>
                                        <p:attrNameLst>
                                          <p:attrName>ppt_x</p:attrName>
                                        </p:attrNameLst>
                                      </p:cBhvr>
                                      <p:tavLst>
                                        <p:tav tm="0">
                                          <p:val>
                                            <p:strVal val="#ppt_x"/>
                                          </p:val>
                                        </p:tav>
                                        <p:tav tm="100000">
                                          <p:val>
                                            <p:strVal val="#ppt_x"/>
                                          </p:val>
                                        </p:tav>
                                      </p:tavLst>
                                    </p:anim>
                                    <p:anim calcmode="lin" valueType="num">
                                      <p:cBhvr additive="base">
                                        <p:cTn id="58" dur="500" fill="hold"/>
                                        <p:tgtEl>
                                          <p:spTgt spid="1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ppt_x"/>
                                          </p:val>
                                        </p:tav>
                                        <p:tav tm="100000">
                                          <p:val>
                                            <p:strVal val="#ppt_x"/>
                                          </p:val>
                                        </p:tav>
                                      </p:tavLst>
                                    </p:anim>
                                    <p:anim calcmode="lin" valueType="num">
                                      <p:cBhvr additive="base">
                                        <p:cTn id="62"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2"/>
                                        </p:tgtEl>
                                        <p:attrNameLst>
                                          <p:attrName>style.visibility</p:attrName>
                                        </p:attrNameLst>
                                      </p:cBhvr>
                                      <p:to>
                                        <p:strVal val="visible"/>
                                      </p:to>
                                    </p:set>
                                    <p:anim calcmode="lin" valueType="num">
                                      <p:cBhvr additive="base">
                                        <p:cTn id="67" dur="500" fill="hold"/>
                                        <p:tgtEl>
                                          <p:spTgt spid="32"/>
                                        </p:tgtEl>
                                        <p:attrNameLst>
                                          <p:attrName>ppt_x</p:attrName>
                                        </p:attrNameLst>
                                      </p:cBhvr>
                                      <p:tavLst>
                                        <p:tav tm="0">
                                          <p:val>
                                            <p:strVal val="#ppt_x"/>
                                          </p:val>
                                        </p:tav>
                                        <p:tav tm="100000">
                                          <p:val>
                                            <p:strVal val="#ppt_x"/>
                                          </p:val>
                                        </p:tav>
                                      </p:tavLst>
                                    </p:anim>
                                    <p:anim calcmode="lin" valueType="num">
                                      <p:cBhvr additive="base">
                                        <p:cTn id="68" dur="500" fill="hold"/>
                                        <p:tgtEl>
                                          <p:spTgt spid="32"/>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18"/>
                                        </p:tgtEl>
                                        <p:attrNameLst>
                                          <p:attrName>style.visibility</p:attrName>
                                        </p:attrNameLst>
                                      </p:cBhvr>
                                      <p:to>
                                        <p:strVal val="visible"/>
                                      </p:to>
                                    </p:set>
                                    <p:anim calcmode="lin" valueType="num">
                                      <p:cBhvr additive="base">
                                        <p:cTn id="71" dur="500" fill="hold"/>
                                        <p:tgtEl>
                                          <p:spTgt spid="18"/>
                                        </p:tgtEl>
                                        <p:attrNameLst>
                                          <p:attrName>ppt_x</p:attrName>
                                        </p:attrNameLst>
                                      </p:cBhvr>
                                      <p:tavLst>
                                        <p:tav tm="0">
                                          <p:val>
                                            <p:strVal val="#ppt_x"/>
                                          </p:val>
                                        </p:tav>
                                        <p:tav tm="100000">
                                          <p:val>
                                            <p:strVal val="#ppt_x"/>
                                          </p:val>
                                        </p:tav>
                                      </p:tavLst>
                                    </p:anim>
                                    <p:anim calcmode="lin" valueType="num">
                                      <p:cBhvr additive="base">
                                        <p:cTn id="72" dur="500" fill="hold"/>
                                        <p:tgtEl>
                                          <p:spTgt spid="18"/>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8"/>
                                        </p:tgtEl>
                                        <p:attrNameLst>
                                          <p:attrName>style.visibility</p:attrName>
                                        </p:attrNameLst>
                                      </p:cBhvr>
                                      <p:to>
                                        <p:strVal val="visible"/>
                                      </p:to>
                                    </p:set>
                                    <p:anim calcmode="lin" valueType="num">
                                      <p:cBhvr additive="base">
                                        <p:cTn id="75" dur="500" fill="hold"/>
                                        <p:tgtEl>
                                          <p:spTgt spid="38"/>
                                        </p:tgtEl>
                                        <p:attrNameLst>
                                          <p:attrName>ppt_x</p:attrName>
                                        </p:attrNameLst>
                                      </p:cBhvr>
                                      <p:tavLst>
                                        <p:tav tm="0">
                                          <p:val>
                                            <p:strVal val="#ppt_x"/>
                                          </p:val>
                                        </p:tav>
                                        <p:tav tm="100000">
                                          <p:val>
                                            <p:strVal val="#ppt_x"/>
                                          </p:val>
                                        </p:tav>
                                      </p:tavLst>
                                    </p:anim>
                                    <p:anim calcmode="lin" valueType="num">
                                      <p:cBhvr additive="base">
                                        <p:cTn id="76"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33"/>
                                        </p:tgtEl>
                                        <p:attrNameLst>
                                          <p:attrName>style.visibility</p:attrName>
                                        </p:attrNameLst>
                                      </p:cBhvr>
                                      <p:to>
                                        <p:strVal val="visible"/>
                                      </p:to>
                                    </p:set>
                                    <p:animEffect transition="in" filter="fade">
                                      <p:cBhvr>
                                        <p:cTn id="81" dur="1000"/>
                                        <p:tgtEl>
                                          <p:spTgt spid="33"/>
                                        </p:tgtEl>
                                      </p:cBhvr>
                                    </p:animEffect>
                                    <p:anim calcmode="lin" valueType="num">
                                      <p:cBhvr>
                                        <p:cTn id="82" dur="1000" fill="hold"/>
                                        <p:tgtEl>
                                          <p:spTgt spid="33"/>
                                        </p:tgtEl>
                                        <p:attrNameLst>
                                          <p:attrName>ppt_x</p:attrName>
                                        </p:attrNameLst>
                                      </p:cBhvr>
                                      <p:tavLst>
                                        <p:tav tm="0">
                                          <p:val>
                                            <p:strVal val="#ppt_x"/>
                                          </p:val>
                                        </p:tav>
                                        <p:tav tm="100000">
                                          <p:val>
                                            <p:strVal val="#ppt_x"/>
                                          </p:val>
                                        </p:tav>
                                      </p:tavLst>
                                    </p:anim>
                                    <p:anim calcmode="lin" valueType="num">
                                      <p:cBhvr>
                                        <p:cTn id="83" dur="1000" fill="hold"/>
                                        <p:tgtEl>
                                          <p:spTgt spid="33"/>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24"/>
                                        </p:tgtEl>
                                        <p:attrNameLst>
                                          <p:attrName>style.visibility</p:attrName>
                                        </p:attrNameLst>
                                      </p:cBhvr>
                                      <p:to>
                                        <p:strVal val="visible"/>
                                      </p:to>
                                    </p:set>
                                    <p:animEffect transition="in" filter="fade">
                                      <p:cBhvr>
                                        <p:cTn id="86" dur="1000"/>
                                        <p:tgtEl>
                                          <p:spTgt spid="24"/>
                                        </p:tgtEl>
                                      </p:cBhvr>
                                    </p:animEffect>
                                    <p:anim calcmode="lin" valueType="num">
                                      <p:cBhvr>
                                        <p:cTn id="87" dur="1000" fill="hold"/>
                                        <p:tgtEl>
                                          <p:spTgt spid="24"/>
                                        </p:tgtEl>
                                        <p:attrNameLst>
                                          <p:attrName>ppt_x</p:attrName>
                                        </p:attrNameLst>
                                      </p:cBhvr>
                                      <p:tavLst>
                                        <p:tav tm="0">
                                          <p:val>
                                            <p:strVal val="#ppt_x"/>
                                          </p:val>
                                        </p:tav>
                                        <p:tav tm="100000">
                                          <p:val>
                                            <p:strVal val="#ppt_x"/>
                                          </p:val>
                                        </p:tav>
                                      </p:tavLst>
                                    </p:anim>
                                    <p:anim calcmode="lin" valueType="num">
                                      <p:cBhvr>
                                        <p:cTn id="88" dur="1000" fill="hold"/>
                                        <p:tgtEl>
                                          <p:spTgt spid="24"/>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40"/>
                                        </p:tgtEl>
                                        <p:attrNameLst>
                                          <p:attrName>style.visibility</p:attrName>
                                        </p:attrNameLst>
                                      </p:cBhvr>
                                      <p:to>
                                        <p:strVal val="visible"/>
                                      </p:to>
                                    </p:set>
                                    <p:animEffect transition="in" filter="fade">
                                      <p:cBhvr>
                                        <p:cTn id="91" dur="1000"/>
                                        <p:tgtEl>
                                          <p:spTgt spid="40"/>
                                        </p:tgtEl>
                                      </p:cBhvr>
                                    </p:animEffect>
                                    <p:anim calcmode="lin" valueType="num">
                                      <p:cBhvr>
                                        <p:cTn id="92" dur="1000" fill="hold"/>
                                        <p:tgtEl>
                                          <p:spTgt spid="40"/>
                                        </p:tgtEl>
                                        <p:attrNameLst>
                                          <p:attrName>ppt_x</p:attrName>
                                        </p:attrNameLst>
                                      </p:cBhvr>
                                      <p:tavLst>
                                        <p:tav tm="0">
                                          <p:val>
                                            <p:strVal val="#ppt_x"/>
                                          </p:val>
                                        </p:tav>
                                        <p:tav tm="100000">
                                          <p:val>
                                            <p:strVal val="#ppt_x"/>
                                          </p:val>
                                        </p:tav>
                                      </p:tavLst>
                                    </p:anim>
                                    <p:anim calcmode="lin" valueType="num">
                                      <p:cBhvr>
                                        <p:cTn id="93"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5" grpId="0"/>
      <p:bldP spid="36" grpId="0"/>
      <p:bldP spid="37" grpId="0"/>
      <p:bldP spid="38" grpId="0"/>
      <p:bldP spid="39" grpId="0"/>
      <p:bldP spid="40"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523922" y="1938233"/>
            <a:ext cx="2847048" cy="1858346"/>
            <a:chOff x="0" y="0"/>
            <a:chExt cx="3796064" cy="2477795"/>
          </a:xfrm>
        </p:grpSpPr>
        <p:sp>
          <p:nvSpPr>
            <p:cNvPr id="3" name="Freeform 3"/>
            <p:cNvSpPr/>
            <p:nvPr/>
          </p:nvSpPr>
          <p:spPr>
            <a:xfrm>
              <a:off x="0" y="0"/>
              <a:ext cx="3796064" cy="2477795"/>
            </a:xfrm>
            <a:custGeom>
              <a:avLst/>
              <a:gdLst/>
              <a:ahLst/>
              <a:cxnLst/>
              <a:rect l="l" t="t" r="r" b="b"/>
              <a:pathLst>
                <a:path w="3796064" h="2477795">
                  <a:moveTo>
                    <a:pt x="0" y="0"/>
                  </a:moveTo>
                  <a:lnTo>
                    <a:pt x="3796064" y="0"/>
                  </a:lnTo>
                  <a:lnTo>
                    <a:pt x="3796064" y="2477795"/>
                  </a:lnTo>
                  <a:lnTo>
                    <a:pt x="0" y="247779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Freeform 4"/>
            <p:cNvSpPr/>
            <p:nvPr/>
          </p:nvSpPr>
          <p:spPr>
            <a:xfrm>
              <a:off x="1151332" y="565301"/>
              <a:ext cx="1493399" cy="1460816"/>
            </a:xfrm>
            <a:custGeom>
              <a:avLst/>
              <a:gdLst/>
              <a:ahLst/>
              <a:cxnLst/>
              <a:rect l="l" t="t" r="r" b="b"/>
              <a:pathLst>
                <a:path w="1493399" h="1460816">
                  <a:moveTo>
                    <a:pt x="0" y="0"/>
                  </a:moveTo>
                  <a:lnTo>
                    <a:pt x="1493400" y="0"/>
                  </a:lnTo>
                  <a:lnTo>
                    <a:pt x="1493400" y="1460816"/>
                  </a:lnTo>
                  <a:lnTo>
                    <a:pt x="0" y="146081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sp>
        <p:nvSpPr>
          <p:cNvPr id="5" name="TextBox 5"/>
          <p:cNvSpPr txBox="1"/>
          <p:nvPr/>
        </p:nvSpPr>
        <p:spPr>
          <a:xfrm>
            <a:off x="3805554" y="1976333"/>
            <a:ext cx="13221708" cy="596331"/>
          </a:xfrm>
          <a:prstGeom prst="rect">
            <a:avLst/>
          </a:prstGeom>
        </p:spPr>
        <p:txBody>
          <a:bodyPr lIns="0" tIns="0" rIns="0" bIns="0" rtlCol="0" anchor="t">
            <a:spAutoFit/>
          </a:bodyPr>
          <a:lstStyle/>
          <a:p>
            <a:pPr algn="l">
              <a:lnSpc>
                <a:spcPts val="4620"/>
              </a:lnSpc>
            </a:pPr>
            <a:r>
              <a:rPr lang="en-US" sz="4200" dirty="0">
                <a:solidFill>
                  <a:srgbClr val="00B9EF"/>
                </a:solidFill>
                <a:latin typeface="Poppins Bold"/>
                <a:ea typeface="Poppins Bold"/>
                <a:cs typeface="Poppins Bold"/>
                <a:sym typeface="Poppins Bold"/>
              </a:rPr>
              <a:t>Preparing for Your Interview</a:t>
            </a:r>
          </a:p>
        </p:txBody>
      </p:sp>
      <p:sp>
        <p:nvSpPr>
          <p:cNvPr id="6" name="TextBox 6"/>
          <p:cNvSpPr txBox="1"/>
          <p:nvPr/>
        </p:nvSpPr>
        <p:spPr>
          <a:xfrm>
            <a:off x="3663743" y="2993160"/>
            <a:ext cx="11916954" cy="60642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Predicting the Interview Questions</a:t>
            </a:r>
          </a:p>
        </p:txBody>
      </p:sp>
      <p:sp>
        <p:nvSpPr>
          <p:cNvPr id="8" name="TextBox 8"/>
          <p:cNvSpPr txBox="1"/>
          <p:nvPr/>
        </p:nvSpPr>
        <p:spPr>
          <a:xfrm>
            <a:off x="3687189" y="4126342"/>
            <a:ext cx="11916954" cy="60642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Analyze the job description</a:t>
            </a:r>
          </a:p>
        </p:txBody>
      </p:sp>
      <p:sp>
        <p:nvSpPr>
          <p:cNvPr id="9" name="TextBox 9"/>
          <p:cNvSpPr txBox="1"/>
          <p:nvPr/>
        </p:nvSpPr>
        <p:spPr>
          <a:xfrm>
            <a:off x="3698912" y="5063030"/>
            <a:ext cx="11916954" cy="60642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Use more than one job description</a:t>
            </a:r>
          </a:p>
        </p:txBody>
      </p:sp>
      <p:sp>
        <p:nvSpPr>
          <p:cNvPr id="10" name="TextBox 10"/>
          <p:cNvSpPr txBox="1"/>
          <p:nvPr/>
        </p:nvSpPr>
        <p:spPr>
          <a:xfrm>
            <a:off x="3817277" y="6164812"/>
            <a:ext cx="11916954" cy="60642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Use the industry </a:t>
            </a:r>
          </a:p>
        </p:txBody>
      </p:sp>
      <p:sp>
        <p:nvSpPr>
          <p:cNvPr id="11" name="TextBox 11"/>
          <p:cNvSpPr txBox="1"/>
          <p:nvPr/>
        </p:nvSpPr>
        <p:spPr>
          <a:xfrm>
            <a:off x="3817277" y="7266594"/>
            <a:ext cx="11916954" cy="606425"/>
          </a:xfrm>
          <a:prstGeom prst="rect">
            <a:avLst/>
          </a:prstGeom>
        </p:spPr>
        <p:txBody>
          <a:bodyPr lIns="0" tIns="0" rIns="0" bIns="0" rtlCol="0" anchor="t">
            <a:spAutoFit/>
          </a:bodyPr>
          <a:lstStyle/>
          <a:p>
            <a:pPr marL="755651" lvl="1" indent="-377825" algn="l">
              <a:lnSpc>
                <a:spcPts val="4900"/>
              </a:lnSpc>
              <a:buFont typeface="Arial"/>
              <a:buChar char="•"/>
            </a:pPr>
            <a:r>
              <a:rPr lang="en-US" sz="3500" dirty="0">
                <a:solidFill>
                  <a:srgbClr val="FFFFFF"/>
                </a:solidFill>
                <a:latin typeface="Montserrat"/>
                <a:ea typeface="Montserrat"/>
                <a:cs typeface="Montserrat"/>
                <a:sym typeface="Montserrat"/>
              </a:rPr>
              <a:t>Prepare for questions about your resume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 calcmode="lin" valueType="num">
                                      <p:cBhvr additive="base">
                                        <p:cTn id="25" dur="500" fill="hold"/>
                                        <p:tgtEl>
                                          <p:spTgt spid="9"/>
                                        </p:tgtEl>
                                        <p:attrNameLst>
                                          <p:attrName>ppt_x</p:attrName>
                                        </p:attrNameLst>
                                      </p:cBhvr>
                                      <p:tavLst>
                                        <p:tav tm="0">
                                          <p:val>
                                            <p:strVal val="#ppt_x"/>
                                          </p:val>
                                        </p:tav>
                                        <p:tav tm="100000">
                                          <p:val>
                                            <p:strVal val="#ppt_x"/>
                                          </p:val>
                                        </p:tav>
                                      </p:tavLst>
                                    </p:anim>
                                    <p:anim calcmode="lin" valueType="num">
                                      <p:cBhvr additive="base">
                                        <p:cTn id="2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4914762" y="1327989"/>
            <a:ext cx="9664084" cy="604012"/>
          </a:xfrm>
          <a:prstGeom prst="rect">
            <a:avLst/>
          </a:prstGeom>
        </p:spPr>
        <p:txBody>
          <a:bodyPr lIns="0" tIns="0" rIns="0" bIns="0" rtlCol="0" anchor="t">
            <a:spAutoFit/>
          </a:bodyPr>
          <a:lstStyle/>
          <a:p>
            <a:pPr algn="r">
              <a:lnSpc>
                <a:spcPts val="4620"/>
              </a:lnSpc>
            </a:pPr>
            <a:r>
              <a:rPr lang="en-US" sz="4200" dirty="0">
                <a:solidFill>
                  <a:srgbClr val="00B9EF"/>
                </a:solidFill>
                <a:latin typeface="Poppins Bold"/>
                <a:ea typeface="Poppins Bold"/>
                <a:cs typeface="Poppins Bold"/>
                <a:sym typeface="Poppins Bold"/>
              </a:rPr>
              <a:t>Topic: TELL ME ABOUT YOURSELF</a:t>
            </a:r>
          </a:p>
        </p:txBody>
      </p:sp>
      <p:sp>
        <p:nvSpPr>
          <p:cNvPr id="3" name="TextBox 3"/>
          <p:cNvSpPr txBox="1"/>
          <p:nvPr/>
        </p:nvSpPr>
        <p:spPr>
          <a:xfrm>
            <a:off x="636695" y="2714895"/>
            <a:ext cx="6384232" cy="596331"/>
          </a:xfrm>
          <a:prstGeom prst="rect">
            <a:avLst/>
          </a:prstGeom>
        </p:spPr>
        <p:txBody>
          <a:bodyPr lIns="0" tIns="0" rIns="0" bIns="0" rtlCol="0" anchor="t">
            <a:spAutoFit/>
          </a:bodyPr>
          <a:lstStyle/>
          <a:p>
            <a:pPr algn="l">
              <a:lnSpc>
                <a:spcPts val="4620"/>
              </a:lnSpc>
            </a:pPr>
            <a:r>
              <a:rPr lang="en-US" sz="4200" dirty="0">
                <a:solidFill>
                  <a:srgbClr val="00B9EF"/>
                </a:solidFill>
                <a:latin typeface="Poppins Bold"/>
                <a:ea typeface="Poppins Bold"/>
                <a:cs typeface="Poppins Bold"/>
                <a:sym typeface="Poppins Bold"/>
              </a:rPr>
              <a:t>COVERED QUESTIONS </a:t>
            </a:r>
          </a:p>
        </p:txBody>
      </p:sp>
      <p:grpSp>
        <p:nvGrpSpPr>
          <p:cNvPr id="4" name="Group 4"/>
          <p:cNvGrpSpPr/>
          <p:nvPr/>
        </p:nvGrpSpPr>
        <p:grpSpPr>
          <a:xfrm>
            <a:off x="2651676" y="4063701"/>
            <a:ext cx="12314323" cy="5169383"/>
            <a:chOff x="0" y="0"/>
            <a:chExt cx="16419097" cy="6892511"/>
          </a:xfrm>
        </p:grpSpPr>
        <p:sp>
          <p:nvSpPr>
            <p:cNvPr id="5" name="Freeform 5"/>
            <p:cNvSpPr/>
            <p:nvPr/>
          </p:nvSpPr>
          <p:spPr>
            <a:xfrm>
              <a:off x="0" y="0"/>
              <a:ext cx="1495269" cy="1495269"/>
            </a:xfrm>
            <a:custGeom>
              <a:avLst/>
              <a:gdLst/>
              <a:ahLst/>
              <a:cxnLst/>
              <a:rect l="l" t="t" r="r" b="b"/>
              <a:pathLst>
                <a:path w="1495269" h="1495269">
                  <a:moveTo>
                    <a:pt x="0" y="0"/>
                  </a:moveTo>
                  <a:lnTo>
                    <a:pt x="1495269" y="0"/>
                  </a:lnTo>
                  <a:lnTo>
                    <a:pt x="1495269" y="1495269"/>
                  </a:lnTo>
                  <a:lnTo>
                    <a:pt x="0" y="14952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TextBox 6"/>
            <p:cNvSpPr txBox="1"/>
            <p:nvPr/>
          </p:nvSpPr>
          <p:spPr>
            <a:xfrm>
              <a:off x="1742369" y="401559"/>
              <a:ext cx="12179735" cy="644526"/>
            </a:xfrm>
            <a:prstGeom prst="rect">
              <a:avLst/>
            </a:prstGeom>
          </p:spPr>
          <p:txBody>
            <a:bodyPr lIns="0" tIns="0" rIns="0" bIns="0" rtlCol="0" anchor="t">
              <a:spAutoFit/>
            </a:bodyPr>
            <a:lstStyle/>
            <a:p>
              <a:pPr algn="l">
                <a:lnSpc>
                  <a:spcPts val="4199"/>
                </a:lnSpc>
              </a:pPr>
              <a:r>
                <a:rPr lang="en-US" sz="2999" b="1">
                  <a:solidFill>
                    <a:srgbClr val="FFFFFF"/>
                  </a:solidFill>
                  <a:latin typeface="Montserrat Bold"/>
                  <a:ea typeface="Montserrat Bold"/>
                  <a:cs typeface="Montserrat Bold"/>
                  <a:sym typeface="Montserrat Bold"/>
                </a:rPr>
                <a:t>1. Tell me about yourself</a:t>
              </a:r>
            </a:p>
          </p:txBody>
        </p:sp>
        <p:sp>
          <p:nvSpPr>
            <p:cNvPr id="7" name="TextBox 7"/>
            <p:cNvSpPr txBox="1"/>
            <p:nvPr/>
          </p:nvSpPr>
          <p:spPr>
            <a:xfrm>
              <a:off x="1742369" y="2201628"/>
              <a:ext cx="10820400" cy="644526"/>
            </a:xfrm>
            <a:prstGeom prst="rect">
              <a:avLst/>
            </a:prstGeom>
          </p:spPr>
          <p:txBody>
            <a:bodyPr lIns="0" tIns="0" rIns="0" bIns="0" rtlCol="0" anchor="t">
              <a:spAutoFit/>
            </a:bodyPr>
            <a:lstStyle/>
            <a:p>
              <a:pPr algn="l">
                <a:lnSpc>
                  <a:spcPts val="4199"/>
                </a:lnSpc>
              </a:pPr>
              <a:r>
                <a:rPr lang="en-US" sz="2999" b="1">
                  <a:solidFill>
                    <a:srgbClr val="FFFFFF"/>
                  </a:solidFill>
                  <a:latin typeface="Montserrat Bold"/>
                  <a:ea typeface="Montserrat Bold"/>
                  <a:cs typeface="Montserrat Bold"/>
                  <a:sym typeface="Montserrat Bold"/>
                </a:rPr>
                <a:t> 2. Tell me about your daily work</a:t>
              </a:r>
            </a:p>
          </p:txBody>
        </p:sp>
        <p:sp>
          <p:nvSpPr>
            <p:cNvPr id="8" name="Freeform 8"/>
            <p:cNvSpPr/>
            <p:nvPr/>
          </p:nvSpPr>
          <p:spPr>
            <a:xfrm>
              <a:off x="0" y="1800069"/>
              <a:ext cx="1495269" cy="1495269"/>
            </a:xfrm>
            <a:custGeom>
              <a:avLst/>
              <a:gdLst/>
              <a:ahLst/>
              <a:cxnLst/>
              <a:rect l="l" t="t" r="r" b="b"/>
              <a:pathLst>
                <a:path w="1495269" h="1495269">
                  <a:moveTo>
                    <a:pt x="0" y="0"/>
                  </a:moveTo>
                  <a:lnTo>
                    <a:pt x="1495269" y="0"/>
                  </a:lnTo>
                  <a:lnTo>
                    <a:pt x="1495269" y="1495268"/>
                  </a:lnTo>
                  <a:lnTo>
                    <a:pt x="0" y="14952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0" y="3600137"/>
              <a:ext cx="1495269" cy="1495269"/>
            </a:xfrm>
            <a:custGeom>
              <a:avLst/>
              <a:gdLst/>
              <a:ahLst/>
              <a:cxnLst/>
              <a:rect l="l" t="t" r="r" b="b"/>
              <a:pathLst>
                <a:path w="1495269" h="1495269">
                  <a:moveTo>
                    <a:pt x="0" y="0"/>
                  </a:moveTo>
                  <a:lnTo>
                    <a:pt x="1495269" y="0"/>
                  </a:lnTo>
                  <a:lnTo>
                    <a:pt x="1495269" y="1495269"/>
                  </a:lnTo>
                  <a:lnTo>
                    <a:pt x="0" y="14952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0" y="5397242"/>
              <a:ext cx="1495269" cy="1495269"/>
            </a:xfrm>
            <a:custGeom>
              <a:avLst/>
              <a:gdLst/>
              <a:ahLst/>
              <a:cxnLst/>
              <a:rect l="l" t="t" r="r" b="b"/>
              <a:pathLst>
                <a:path w="1495269" h="1495269">
                  <a:moveTo>
                    <a:pt x="0" y="0"/>
                  </a:moveTo>
                  <a:lnTo>
                    <a:pt x="1495269" y="0"/>
                  </a:lnTo>
                  <a:lnTo>
                    <a:pt x="1495269" y="1495269"/>
                  </a:lnTo>
                  <a:lnTo>
                    <a:pt x="0" y="14952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1742369" y="4005028"/>
              <a:ext cx="12748564" cy="644526"/>
            </a:xfrm>
            <a:prstGeom prst="rect">
              <a:avLst/>
            </a:prstGeom>
          </p:spPr>
          <p:txBody>
            <a:bodyPr lIns="0" tIns="0" rIns="0" bIns="0" rtlCol="0" anchor="t">
              <a:spAutoFit/>
            </a:bodyPr>
            <a:lstStyle/>
            <a:p>
              <a:pPr algn="l">
                <a:lnSpc>
                  <a:spcPts val="4199"/>
                </a:lnSpc>
              </a:pPr>
              <a:r>
                <a:rPr lang="en-US" sz="2999" b="1">
                  <a:solidFill>
                    <a:srgbClr val="FFFFFF"/>
                  </a:solidFill>
                  <a:latin typeface="Montserrat Bold"/>
                  <a:ea typeface="Montserrat Bold"/>
                  <a:cs typeface="Montserrat Bold"/>
                  <a:sym typeface="Montserrat Bold"/>
                </a:rPr>
                <a:t>3. Tell me about your proudest achievement</a:t>
              </a:r>
            </a:p>
          </p:txBody>
        </p:sp>
        <p:sp>
          <p:nvSpPr>
            <p:cNvPr id="12" name="TextBox 12"/>
            <p:cNvSpPr txBox="1"/>
            <p:nvPr/>
          </p:nvSpPr>
          <p:spPr>
            <a:xfrm>
              <a:off x="1742369" y="5808429"/>
              <a:ext cx="14676728" cy="644526"/>
            </a:xfrm>
            <a:prstGeom prst="rect">
              <a:avLst/>
            </a:prstGeom>
          </p:spPr>
          <p:txBody>
            <a:bodyPr lIns="0" tIns="0" rIns="0" bIns="0" rtlCol="0" anchor="t">
              <a:spAutoFit/>
            </a:bodyPr>
            <a:lstStyle/>
            <a:p>
              <a:pPr algn="l">
                <a:lnSpc>
                  <a:spcPts val="4199"/>
                </a:lnSpc>
              </a:pPr>
              <a:r>
                <a:rPr lang="en-US" sz="2999" b="1">
                  <a:solidFill>
                    <a:srgbClr val="FFFFFF"/>
                  </a:solidFill>
                  <a:latin typeface="Montserrat Bold"/>
                  <a:ea typeface="Montserrat Bold"/>
                  <a:cs typeface="Montserrat Bold"/>
                  <a:sym typeface="Montserrat Bold"/>
                </a:rPr>
                <a:t>4. Tell me about your strengths and weaknesses</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386107" y="227450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TextBox 4"/>
          <p:cNvSpPr txBox="1"/>
          <p:nvPr/>
        </p:nvSpPr>
        <p:spPr>
          <a:xfrm>
            <a:off x="2564885" y="2310462"/>
            <a:ext cx="11820339" cy="596901"/>
          </a:xfrm>
          <a:prstGeom prst="rect">
            <a:avLst/>
          </a:prstGeom>
        </p:spPr>
        <p:txBody>
          <a:bodyPr lIns="0" tIns="0" rIns="0" bIns="0" rtlCol="0" anchor="t">
            <a:spAutoFit/>
          </a:bodyPr>
          <a:lstStyle/>
          <a:p>
            <a:pPr algn="l">
              <a:lnSpc>
                <a:spcPts val="4899"/>
              </a:lnSpc>
            </a:pPr>
            <a:r>
              <a:rPr lang="en-US" sz="3499" b="1">
                <a:solidFill>
                  <a:srgbClr val="FFFFFF"/>
                </a:solidFill>
                <a:latin typeface="Montserrat Bold"/>
                <a:ea typeface="Montserrat Bold"/>
                <a:cs typeface="Montserrat Bold"/>
                <a:sym typeface="Montserrat Bold"/>
              </a:rPr>
              <a:t>Tell me about yourself</a:t>
            </a:r>
          </a:p>
        </p:txBody>
      </p:sp>
      <p:sp>
        <p:nvSpPr>
          <p:cNvPr id="5" name="TextBox 5"/>
          <p:cNvSpPr txBox="1"/>
          <p:nvPr/>
        </p:nvSpPr>
        <p:spPr>
          <a:xfrm>
            <a:off x="5604030" y="549159"/>
            <a:ext cx="7116559" cy="596331"/>
          </a:xfrm>
          <a:prstGeom prst="rect">
            <a:avLst/>
          </a:prstGeom>
        </p:spPr>
        <p:txBody>
          <a:bodyPr lIns="0" tIns="0" rIns="0" bIns="0" rtlCol="0" anchor="t">
            <a:spAutoFit/>
          </a:bodyPr>
          <a:lstStyle/>
          <a:p>
            <a:pPr algn="ctr">
              <a:lnSpc>
                <a:spcPts val="4620"/>
              </a:lnSpc>
            </a:pPr>
            <a:r>
              <a:rPr lang="en-US" sz="4200" dirty="0">
                <a:solidFill>
                  <a:srgbClr val="00B9EF"/>
                </a:solidFill>
                <a:latin typeface="Poppins Bold"/>
                <a:ea typeface="Poppins Bold"/>
                <a:cs typeface="Poppins Bold"/>
                <a:sym typeface="Poppins Bold"/>
              </a:rPr>
              <a:t>ANALYZING QUESTIONS</a:t>
            </a:r>
          </a:p>
        </p:txBody>
      </p:sp>
      <p:sp>
        <p:nvSpPr>
          <p:cNvPr id="6" name="Freeform 6"/>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386107" y="2358087"/>
            <a:ext cx="795045" cy="608838"/>
          </a:xfrm>
          <a:prstGeom prst="rect">
            <a:avLst/>
          </a:prstGeom>
        </p:spPr>
        <p:txBody>
          <a:bodyPr lIns="0" tIns="0" rIns="0" bIns="0" rtlCol="0" anchor="t">
            <a:spAutoFit/>
          </a:bodyPr>
          <a:lstStyle/>
          <a:p>
            <a:pPr algn="ctr">
              <a:lnSpc>
                <a:spcPts val="4836"/>
              </a:lnSpc>
            </a:pPr>
            <a:r>
              <a:rPr lang="en-US" sz="3900">
                <a:solidFill>
                  <a:srgbClr val="900EED"/>
                </a:solidFill>
                <a:latin typeface="Poppins Bold"/>
                <a:ea typeface="Poppins Bold"/>
                <a:cs typeface="Poppins Bold"/>
                <a:sym typeface="Poppins Bold"/>
              </a:rPr>
              <a:t>1</a:t>
            </a:r>
          </a:p>
        </p:txBody>
      </p:sp>
      <p:grpSp>
        <p:nvGrpSpPr>
          <p:cNvPr id="8" name="Group 8"/>
          <p:cNvGrpSpPr/>
          <p:nvPr/>
        </p:nvGrpSpPr>
        <p:grpSpPr>
          <a:xfrm>
            <a:off x="2181153" y="3617562"/>
            <a:ext cx="11100562" cy="993335"/>
            <a:chOff x="0" y="0"/>
            <a:chExt cx="12136263" cy="1112520"/>
          </a:xfrm>
        </p:grpSpPr>
        <p:sp>
          <p:nvSpPr>
            <p:cNvPr id="9" name="Freeform 9"/>
            <p:cNvSpPr/>
            <p:nvPr/>
          </p:nvSpPr>
          <p:spPr>
            <a:xfrm>
              <a:off x="0" y="0"/>
              <a:ext cx="12136262" cy="1113790"/>
            </a:xfrm>
            <a:custGeom>
              <a:avLst/>
              <a:gdLst/>
              <a:ahLst/>
              <a:cxnLst/>
              <a:rect l="l" t="t" r="r" b="b"/>
              <a:pathLst>
                <a:path w="12136262" h="1113790">
                  <a:moveTo>
                    <a:pt x="11583812" y="0"/>
                  </a:moveTo>
                  <a:lnTo>
                    <a:pt x="553720" y="0"/>
                  </a:lnTo>
                  <a:cubicBezTo>
                    <a:pt x="247650" y="0"/>
                    <a:pt x="0" y="247650"/>
                    <a:pt x="0" y="553720"/>
                  </a:cubicBezTo>
                  <a:cubicBezTo>
                    <a:pt x="0" y="859790"/>
                    <a:pt x="247650" y="1107440"/>
                    <a:pt x="553720" y="1107440"/>
                  </a:cubicBezTo>
                  <a:lnTo>
                    <a:pt x="11583812" y="1113790"/>
                  </a:lnTo>
                  <a:lnTo>
                    <a:pt x="12136262" y="558800"/>
                  </a:lnTo>
                  <a:lnTo>
                    <a:pt x="11583812" y="0"/>
                  </a:lnTo>
                  <a:close/>
                </a:path>
              </a:pathLst>
            </a:custGeom>
            <a:solidFill>
              <a:srgbClr val="13538A"/>
            </a:solidFill>
          </p:spPr>
          <p:txBody>
            <a:bodyPr/>
            <a:lstStyle/>
            <a:p>
              <a:endParaRPr lang="en-US"/>
            </a:p>
          </p:txBody>
        </p:sp>
        <p:sp>
          <p:nvSpPr>
            <p:cNvPr id="10" name="Freeform 10"/>
            <p:cNvSpPr/>
            <p:nvPr/>
          </p:nvSpPr>
          <p:spPr>
            <a:xfrm>
              <a:off x="144174" y="172686"/>
              <a:ext cx="796232" cy="762069"/>
            </a:xfrm>
            <a:custGeom>
              <a:avLst/>
              <a:gdLst/>
              <a:ahLst/>
              <a:cxnLst/>
              <a:rect l="l" t="t" r="r" b="b"/>
              <a:pathLst>
                <a:path w="796232" h="762069">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p:spPr>
          <p:txBody>
            <a:bodyPr/>
            <a:lstStyle/>
            <a:p>
              <a:endParaRPr lang="en-US"/>
            </a:p>
          </p:txBody>
        </p:sp>
      </p:grpSp>
      <p:sp>
        <p:nvSpPr>
          <p:cNvPr id="11" name="TextBox 11"/>
          <p:cNvSpPr txBox="1"/>
          <p:nvPr/>
        </p:nvSpPr>
        <p:spPr>
          <a:xfrm>
            <a:off x="3639058" y="3804699"/>
            <a:ext cx="6949713" cy="533335"/>
          </a:xfrm>
          <a:prstGeom prst="rect">
            <a:avLst/>
          </a:prstGeom>
        </p:spPr>
        <p:txBody>
          <a:bodyPr lIns="0" tIns="0" rIns="0" bIns="0" rtlCol="0" anchor="t">
            <a:spAutoFit/>
          </a:bodyPr>
          <a:lstStyle/>
          <a:p>
            <a:pPr algn="l">
              <a:lnSpc>
                <a:spcPts val="4499"/>
              </a:lnSpc>
            </a:pPr>
            <a:r>
              <a:rPr lang="en-US" sz="2999" b="1" spc="59" dirty="0">
                <a:solidFill>
                  <a:srgbClr val="FFFFFF"/>
                </a:solidFill>
                <a:latin typeface="Aileron Regular Bold"/>
                <a:ea typeface="Aileron Regular Bold"/>
                <a:cs typeface="Aileron Regular Bold"/>
                <a:sym typeface="Aileron Regular Bold"/>
              </a:rPr>
              <a:t>Understanding Your Background</a:t>
            </a:r>
          </a:p>
        </p:txBody>
      </p:sp>
      <p:grpSp>
        <p:nvGrpSpPr>
          <p:cNvPr id="12" name="Group 12"/>
          <p:cNvGrpSpPr/>
          <p:nvPr/>
        </p:nvGrpSpPr>
        <p:grpSpPr>
          <a:xfrm>
            <a:off x="2181153" y="5325272"/>
            <a:ext cx="11100562" cy="993368"/>
            <a:chOff x="0" y="0"/>
            <a:chExt cx="12136263" cy="1112520"/>
          </a:xfrm>
        </p:grpSpPr>
        <p:sp>
          <p:nvSpPr>
            <p:cNvPr id="13" name="Freeform 13"/>
            <p:cNvSpPr/>
            <p:nvPr/>
          </p:nvSpPr>
          <p:spPr>
            <a:xfrm>
              <a:off x="0" y="0"/>
              <a:ext cx="12136262" cy="1113790"/>
            </a:xfrm>
            <a:custGeom>
              <a:avLst/>
              <a:gdLst/>
              <a:ahLst/>
              <a:cxnLst/>
              <a:rect l="l" t="t" r="r" b="b"/>
              <a:pathLst>
                <a:path w="12136262" h="1113790">
                  <a:moveTo>
                    <a:pt x="11583812" y="0"/>
                  </a:moveTo>
                  <a:lnTo>
                    <a:pt x="553720" y="0"/>
                  </a:lnTo>
                  <a:cubicBezTo>
                    <a:pt x="247650" y="0"/>
                    <a:pt x="0" y="247650"/>
                    <a:pt x="0" y="553720"/>
                  </a:cubicBezTo>
                  <a:cubicBezTo>
                    <a:pt x="0" y="859790"/>
                    <a:pt x="247650" y="1107440"/>
                    <a:pt x="553720" y="1107440"/>
                  </a:cubicBezTo>
                  <a:lnTo>
                    <a:pt x="11583812" y="1113790"/>
                  </a:lnTo>
                  <a:lnTo>
                    <a:pt x="12136262" y="558800"/>
                  </a:lnTo>
                  <a:lnTo>
                    <a:pt x="11583812" y="0"/>
                  </a:lnTo>
                  <a:close/>
                </a:path>
              </a:pathLst>
            </a:custGeom>
            <a:solidFill>
              <a:srgbClr val="2C92D5"/>
            </a:solidFill>
          </p:spPr>
          <p:txBody>
            <a:bodyPr/>
            <a:lstStyle/>
            <a:p>
              <a:endParaRPr lang="en-US"/>
            </a:p>
          </p:txBody>
        </p:sp>
        <p:sp>
          <p:nvSpPr>
            <p:cNvPr id="14" name="Freeform 14"/>
            <p:cNvSpPr/>
            <p:nvPr/>
          </p:nvSpPr>
          <p:spPr>
            <a:xfrm>
              <a:off x="144174" y="172686"/>
              <a:ext cx="796232" cy="762069"/>
            </a:xfrm>
            <a:custGeom>
              <a:avLst/>
              <a:gdLst/>
              <a:ahLst/>
              <a:cxnLst/>
              <a:rect l="l" t="t" r="r" b="b"/>
              <a:pathLst>
                <a:path w="796232" h="762069">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p:spPr>
          <p:txBody>
            <a:bodyPr/>
            <a:lstStyle/>
            <a:p>
              <a:endParaRPr lang="en-US"/>
            </a:p>
          </p:txBody>
        </p:sp>
      </p:grpSp>
      <p:sp>
        <p:nvSpPr>
          <p:cNvPr id="15" name="TextBox 15"/>
          <p:cNvSpPr txBox="1"/>
          <p:nvPr/>
        </p:nvSpPr>
        <p:spPr>
          <a:xfrm>
            <a:off x="3639058" y="5512426"/>
            <a:ext cx="11046503" cy="533335"/>
          </a:xfrm>
          <a:prstGeom prst="rect">
            <a:avLst/>
          </a:prstGeom>
        </p:spPr>
        <p:txBody>
          <a:bodyPr lIns="0" tIns="0" rIns="0" bIns="0" rtlCol="0" anchor="t">
            <a:spAutoFit/>
          </a:bodyPr>
          <a:lstStyle/>
          <a:p>
            <a:pPr algn="l">
              <a:lnSpc>
                <a:spcPts val="4499"/>
              </a:lnSpc>
            </a:pPr>
            <a:r>
              <a:rPr lang="en-US" sz="2999" b="1" spc="59">
                <a:solidFill>
                  <a:srgbClr val="FFFFFF"/>
                </a:solidFill>
                <a:latin typeface="Aileron Regular Bold"/>
                <a:ea typeface="Aileron Regular Bold"/>
                <a:cs typeface="Aileron Regular Bold"/>
                <a:sym typeface="Aileron Regular Bold"/>
              </a:rPr>
              <a:t>Having insight into your experience</a:t>
            </a:r>
          </a:p>
        </p:txBody>
      </p:sp>
      <p:grpSp>
        <p:nvGrpSpPr>
          <p:cNvPr id="16" name="Group 16"/>
          <p:cNvGrpSpPr/>
          <p:nvPr/>
        </p:nvGrpSpPr>
        <p:grpSpPr>
          <a:xfrm>
            <a:off x="2181153" y="7043444"/>
            <a:ext cx="11100562" cy="993368"/>
            <a:chOff x="0" y="0"/>
            <a:chExt cx="12136263" cy="1112520"/>
          </a:xfrm>
        </p:grpSpPr>
        <p:sp>
          <p:nvSpPr>
            <p:cNvPr id="17" name="Freeform 17"/>
            <p:cNvSpPr/>
            <p:nvPr/>
          </p:nvSpPr>
          <p:spPr>
            <a:xfrm>
              <a:off x="0" y="0"/>
              <a:ext cx="12136262" cy="1113790"/>
            </a:xfrm>
            <a:custGeom>
              <a:avLst/>
              <a:gdLst/>
              <a:ahLst/>
              <a:cxnLst/>
              <a:rect l="l" t="t" r="r" b="b"/>
              <a:pathLst>
                <a:path w="12136262" h="1113790">
                  <a:moveTo>
                    <a:pt x="11583812" y="0"/>
                  </a:moveTo>
                  <a:lnTo>
                    <a:pt x="553720" y="0"/>
                  </a:lnTo>
                  <a:cubicBezTo>
                    <a:pt x="247650" y="0"/>
                    <a:pt x="0" y="247650"/>
                    <a:pt x="0" y="553720"/>
                  </a:cubicBezTo>
                  <a:cubicBezTo>
                    <a:pt x="0" y="859790"/>
                    <a:pt x="247650" y="1107440"/>
                    <a:pt x="553720" y="1107440"/>
                  </a:cubicBezTo>
                  <a:lnTo>
                    <a:pt x="11583812" y="1113790"/>
                  </a:lnTo>
                  <a:lnTo>
                    <a:pt x="12136262" y="558800"/>
                  </a:lnTo>
                  <a:lnTo>
                    <a:pt x="11583812" y="0"/>
                  </a:lnTo>
                  <a:close/>
                </a:path>
              </a:pathLst>
            </a:custGeom>
            <a:solidFill>
              <a:srgbClr val="37C9EF"/>
            </a:solidFill>
          </p:spPr>
          <p:txBody>
            <a:bodyPr/>
            <a:lstStyle/>
            <a:p>
              <a:endParaRPr lang="en-US"/>
            </a:p>
          </p:txBody>
        </p:sp>
        <p:sp>
          <p:nvSpPr>
            <p:cNvPr id="18" name="Freeform 18"/>
            <p:cNvSpPr/>
            <p:nvPr/>
          </p:nvSpPr>
          <p:spPr>
            <a:xfrm>
              <a:off x="144174" y="172686"/>
              <a:ext cx="796232" cy="762069"/>
            </a:xfrm>
            <a:custGeom>
              <a:avLst/>
              <a:gdLst/>
              <a:ahLst/>
              <a:cxnLst/>
              <a:rect l="l" t="t" r="r" b="b"/>
              <a:pathLst>
                <a:path w="796232" h="762069">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p:spPr>
          <p:txBody>
            <a:bodyPr/>
            <a:lstStyle/>
            <a:p>
              <a:endParaRPr lang="en-US"/>
            </a:p>
          </p:txBody>
        </p:sp>
      </p:grpSp>
      <p:sp>
        <p:nvSpPr>
          <p:cNvPr id="19" name="TextBox 19"/>
          <p:cNvSpPr txBox="1"/>
          <p:nvPr/>
        </p:nvSpPr>
        <p:spPr>
          <a:xfrm>
            <a:off x="3639058" y="7213990"/>
            <a:ext cx="5523252" cy="533335"/>
          </a:xfrm>
          <a:prstGeom prst="rect">
            <a:avLst/>
          </a:prstGeom>
        </p:spPr>
        <p:txBody>
          <a:bodyPr lIns="0" tIns="0" rIns="0" bIns="0" rtlCol="0" anchor="t">
            <a:spAutoFit/>
          </a:bodyPr>
          <a:lstStyle/>
          <a:p>
            <a:pPr algn="l">
              <a:lnSpc>
                <a:spcPts val="4499"/>
              </a:lnSpc>
            </a:pPr>
            <a:r>
              <a:rPr lang="en-US" sz="2999" b="1" spc="59">
                <a:solidFill>
                  <a:srgbClr val="FFFFFF"/>
                </a:solidFill>
                <a:latin typeface="Aileron Regular Bold"/>
                <a:ea typeface="Aileron Regular Bold"/>
                <a:cs typeface="Aileron Regular Bold"/>
                <a:sym typeface="Aileron Regular Bold"/>
              </a:rPr>
              <a:t>Evaluating Fit for the Role</a:t>
            </a:r>
          </a:p>
        </p:txBody>
      </p:sp>
      <p:grpSp>
        <p:nvGrpSpPr>
          <p:cNvPr id="20" name="Group 20"/>
          <p:cNvGrpSpPr/>
          <p:nvPr/>
        </p:nvGrpSpPr>
        <p:grpSpPr>
          <a:xfrm>
            <a:off x="2181153" y="8751187"/>
            <a:ext cx="11100562" cy="993368"/>
            <a:chOff x="0" y="0"/>
            <a:chExt cx="12136263" cy="1112520"/>
          </a:xfrm>
        </p:grpSpPr>
        <p:sp>
          <p:nvSpPr>
            <p:cNvPr id="21" name="Freeform 21"/>
            <p:cNvSpPr/>
            <p:nvPr/>
          </p:nvSpPr>
          <p:spPr>
            <a:xfrm>
              <a:off x="0" y="0"/>
              <a:ext cx="12136262" cy="1113790"/>
            </a:xfrm>
            <a:custGeom>
              <a:avLst/>
              <a:gdLst/>
              <a:ahLst/>
              <a:cxnLst/>
              <a:rect l="l" t="t" r="r" b="b"/>
              <a:pathLst>
                <a:path w="12136262" h="1113790">
                  <a:moveTo>
                    <a:pt x="11583812" y="0"/>
                  </a:moveTo>
                  <a:lnTo>
                    <a:pt x="553720" y="0"/>
                  </a:lnTo>
                  <a:cubicBezTo>
                    <a:pt x="247650" y="0"/>
                    <a:pt x="0" y="247650"/>
                    <a:pt x="0" y="553720"/>
                  </a:cubicBezTo>
                  <a:cubicBezTo>
                    <a:pt x="0" y="859790"/>
                    <a:pt x="247650" y="1107440"/>
                    <a:pt x="553720" y="1107440"/>
                  </a:cubicBezTo>
                  <a:lnTo>
                    <a:pt x="11583812" y="1113790"/>
                  </a:lnTo>
                  <a:lnTo>
                    <a:pt x="12136262" y="558800"/>
                  </a:lnTo>
                  <a:lnTo>
                    <a:pt x="11583812" y="0"/>
                  </a:lnTo>
                  <a:close/>
                </a:path>
              </a:pathLst>
            </a:custGeom>
            <a:solidFill>
              <a:srgbClr val="3EDAD8"/>
            </a:solidFill>
          </p:spPr>
          <p:txBody>
            <a:bodyPr/>
            <a:lstStyle/>
            <a:p>
              <a:endParaRPr lang="en-US"/>
            </a:p>
          </p:txBody>
        </p:sp>
        <p:sp>
          <p:nvSpPr>
            <p:cNvPr id="22" name="Freeform 22"/>
            <p:cNvSpPr/>
            <p:nvPr/>
          </p:nvSpPr>
          <p:spPr>
            <a:xfrm>
              <a:off x="144174" y="172686"/>
              <a:ext cx="796232" cy="762069"/>
            </a:xfrm>
            <a:custGeom>
              <a:avLst/>
              <a:gdLst/>
              <a:ahLst/>
              <a:cxnLst/>
              <a:rect l="l" t="t" r="r" b="b"/>
              <a:pathLst>
                <a:path w="796232" h="762069">
                  <a:moveTo>
                    <a:pt x="398116" y="34"/>
                  </a:moveTo>
                  <a:cubicBezTo>
                    <a:pt x="261975" y="0"/>
                    <a:pt x="136161" y="72610"/>
                    <a:pt x="68080" y="190506"/>
                  </a:cubicBezTo>
                  <a:cubicBezTo>
                    <a:pt x="0" y="308402"/>
                    <a:pt x="0" y="453666"/>
                    <a:pt x="68080" y="571562"/>
                  </a:cubicBezTo>
                  <a:cubicBezTo>
                    <a:pt x="136161" y="689458"/>
                    <a:pt x="261975" y="762068"/>
                    <a:pt x="398116" y="762034"/>
                  </a:cubicBezTo>
                  <a:cubicBezTo>
                    <a:pt x="534257" y="762068"/>
                    <a:pt x="660071" y="689458"/>
                    <a:pt x="728152" y="571562"/>
                  </a:cubicBezTo>
                  <a:cubicBezTo>
                    <a:pt x="796232" y="453666"/>
                    <a:pt x="796232" y="308402"/>
                    <a:pt x="728152" y="190506"/>
                  </a:cubicBezTo>
                  <a:cubicBezTo>
                    <a:pt x="660071" y="72610"/>
                    <a:pt x="534257" y="0"/>
                    <a:pt x="398116" y="34"/>
                  </a:cubicBezTo>
                  <a:close/>
                </a:path>
              </a:pathLst>
            </a:custGeom>
            <a:solidFill>
              <a:srgbClr val="FFFFFF"/>
            </a:solidFill>
          </p:spPr>
          <p:txBody>
            <a:bodyPr/>
            <a:lstStyle/>
            <a:p>
              <a:endParaRPr lang="en-US"/>
            </a:p>
          </p:txBody>
        </p:sp>
      </p:grpSp>
      <p:sp>
        <p:nvSpPr>
          <p:cNvPr id="23" name="TextBox 23"/>
          <p:cNvSpPr txBox="1"/>
          <p:nvPr/>
        </p:nvSpPr>
        <p:spPr>
          <a:xfrm>
            <a:off x="3620748" y="8998837"/>
            <a:ext cx="5523252" cy="533335"/>
          </a:xfrm>
          <a:prstGeom prst="rect">
            <a:avLst/>
          </a:prstGeom>
        </p:spPr>
        <p:txBody>
          <a:bodyPr lIns="0" tIns="0" rIns="0" bIns="0" rtlCol="0" anchor="t">
            <a:spAutoFit/>
          </a:bodyPr>
          <a:lstStyle/>
          <a:p>
            <a:pPr algn="l">
              <a:lnSpc>
                <a:spcPts val="4499"/>
              </a:lnSpc>
            </a:pPr>
            <a:r>
              <a:rPr lang="en-US" sz="2999" b="1" spc="59">
                <a:solidFill>
                  <a:srgbClr val="FFFFFF"/>
                </a:solidFill>
                <a:latin typeface="Aileron Regular Bold"/>
                <a:ea typeface="Aileron Regular Bold"/>
                <a:cs typeface="Aileron Regular Bold"/>
                <a:sym typeface="Aileron Regular Bold"/>
              </a:rPr>
              <a:t> Identifying Key Strengths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ppt_x"/>
                                          </p:val>
                                        </p:tav>
                                        <p:tav tm="100000">
                                          <p:val>
                                            <p:strVal val="#ppt_x"/>
                                          </p:val>
                                        </p:tav>
                                      </p:tavLst>
                                    </p:anim>
                                    <p:anim calcmode="lin" valueType="num">
                                      <p:cBhvr additive="base">
                                        <p:cTn id="36" dur="500" fill="hold"/>
                                        <p:tgtEl>
                                          <p:spTgt spid="16"/>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 calcmode="lin" valueType="num">
                                      <p:cBhvr additive="base">
                                        <p:cTn id="39" dur="500" fill="hold"/>
                                        <p:tgtEl>
                                          <p:spTgt spid="19"/>
                                        </p:tgtEl>
                                        <p:attrNameLst>
                                          <p:attrName>ppt_x</p:attrName>
                                        </p:attrNameLst>
                                      </p:cBhvr>
                                      <p:tavLst>
                                        <p:tav tm="0">
                                          <p:val>
                                            <p:strVal val="#ppt_x"/>
                                          </p:val>
                                        </p:tav>
                                        <p:tav tm="100000">
                                          <p:val>
                                            <p:strVal val="#ppt_x"/>
                                          </p:val>
                                        </p:tav>
                                      </p:tavLst>
                                    </p:anim>
                                    <p:anim calcmode="lin" valueType="num">
                                      <p:cBhvr additive="base">
                                        <p:cTn id="4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1" grpId="0"/>
      <p:bldP spid="15" grpId="0"/>
      <p:bldP spid="19" grpId="0"/>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849405"/>
            <a:ext cx="15822356" cy="6588190"/>
            <a:chOff x="0" y="0"/>
            <a:chExt cx="21096474" cy="8784253"/>
          </a:xfrm>
        </p:grpSpPr>
        <p:grpSp>
          <p:nvGrpSpPr>
            <p:cNvPr id="3" name="Group 3"/>
            <p:cNvGrpSpPr/>
            <p:nvPr/>
          </p:nvGrpSpPr>
          <p:grpSpPr>
            <a:xfrm>
              <a:off x="0" y="6077156"/>
              <a:ext cx="4700029" cy="2707097"/>
              <a:chOff x="0" y="0"/>
              <a:chExt cx="928401" cy="534735"/>
            </a:xfrm>
          </p:grpSpPr>
          <p:sp>
            <p:nvSpPr>
              <p:cNvPr id="4" name="Freeform 4"/>
              <p:cNvSpPr/>
              <p:nvPr/>
            </p:nvSpPr>
            <p:spPr>
              <a:xfrm>
                <a:off x="0" y="0"/>
                <a:ext cx="928401" cy="534735"/>
              </a:xfrm>
              <a:custGeom>
                <a:avLst/>
                <a:gdLst/>
                <a:ahLst/>
                <a:cxnLst/>
                <a:rect l="l" t="t" r="r" b="b"/>
                <a:pathLst>
                  <a:path w="928401" h="534735">
                    <a:moveTo>
                      <a:pt x="0" y="0"/>
                    </a:moveTo>
                    <a:lnTo>
                      <a:pt x="928401" y="0"/>
                    </a:lnTo>
                    <a:lnTo>
                      <a:pt x="928401" y="534735"/>
                    </a:lnTo>
                    <a:lnTo>
                      <a:pt x="0" y="534735"/>
                    </a:lnTo>
                    <a:close/>
                  </a:path>
                </a:pathLst>
              </a:custGeom>
              <a:solidFill>
                <a:srgbClr val="4FCDCC"/>
              </a:solidFill>
            </p:spPr>
            <p:txBody>
              <a:bodyPr/>
              <a:lstStyle/>
              <a:p>
                <a:endParaRPr lang="en-US"/>
              </a:p>
            </p:txBody>
          </p:sp>
          <p:sp>
            <p:nvSpPr>
              <p:cNvPr id="5" name="TextBox 5"/>
              <p:cNvSpPr txBox="1"/>
              <p:nvPr/>
            </p:nvSpPr>
            <p:spPr>
              <a:xfrm>
                <a:off x="0" y="-76200"/>
                <a:ext cx="928401" cy="610935"/>
              </a:xfrm>
              <a:prstGeom prst="rect">
                <a:avLst/>
              </a:prstGeom>
            </p:spPr>
            <p:txBody>
              <a:bodyPr lIns="50800" tIns="50800" rIns="50800" bIns="50800" rtlCol="0" anchor="ctr"/>
              <a:lstStyle/>
              <a:p>
                <a:pPr algn="ctr">
                  <a:lnSpc>
                    <a:spcPts val="5599"/>
                  </a:lnSpc>
                </a:pPr>
                <a:r>
                  <a:rPr lang="en-US" sz="3999" b="1" spc="199">
                    <a:solidFill>
                      <a:srgbClr val="FFFFFF"/>
                    </a:solidFill>
                    <a:latin typeface="Aileron Ultra-Bold"/>
                    <a:ea typeface="Aileron Ultra-Bold"/>
                    <a:cs typeface="Aileron Ultra-Bold"/>
                    <a:sym typeface="Aileron Ultra-Bold"/>
                  </a:rPr>
                  <a:t>1</a:t>
                </a:r>
              </a:p>
            </p:txBody>
          </p:sp>
        </p:grpSp>
        <p:grpSp>
          <p:nvGrpSpPr>
            <p:cNvPr id="6" name="Group 6"/>
            <p:cNvGrpSpPr/>
            <p:nvPr/>
          </p:nvGrpSpPr>
          <p:grpSpPr>
            <a:xfrm rot="-10800000">
              <a:off x="3841330" y="7961362"/>
              <a:ext cx="858699" cy="822891"/>
              <a:chOff x="0" y="0"/>
              <a:chExt cx="6350000" cy="6339840"/>
            </a:xfrm>
          </p:grpSpPr>
          <p:sp>
            <p:nvSpPr>
              <p:cNvPr id="7" name="Freeform 7"/>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18B6B4">
                  <a:alpha val="49804"/>
                </a:srgbClr>
              </a:solidFill>
            </p:spPr>
            <p:txBody>
              <a:bodyPr/>
              <a:lstStyle/>
              <a:p>
                <a:endParaRPr lang="en-US"/>
              </a:p>
            </p:txBody>
          </p:sp>
        </p:grpSp>
        <p:grpSp>
          <p:nvGrpSpPr>
            <p:cNvPr id="8" name="Group 8"/>
            <p:cNvGrpSpPr/>
            <p:nvPr/>
          </p:nvGrpSpPr>
          <p:grpSpPr>
            <a:xfrm>
              <a:off x="3841330" y="5254265"/>
              <a:ext cx="4700029" cy="2707097"/>
              <a:chOff x="0" y="0"/>
              <a:chExt cx="928401" cy="534735"/>
            </a:xfrm>
          </p:grpSpPr>
          <p:sp>
            <p:nvSpPr>
              <p:cNvPr id="9" name="Freeform 9"/>
              <p:cNvSpPr/>
              <p:nvPr/>
            </p:nvSpPr>
            <p:spPr>
              <a:xfrm>
                <a:off x="0" y="0"/>
                <a:ext cx="928401" cy="534735"/>
              </a:xfrm>
              <a:custGeom>
                <a:avLst/>
                <a:gdLst/>
                <a:ahLst/>
                <a:cxnLst/>
                <a:rect l="l" t="t" r="r" b="b"/>
                <a:pathLst>
                  <a:path w="928401" h="534735">
                    <a:moveTo>
                      <a:pt x="0" y="0"/>
                    </a:moveTo>
                    <a:lnTo>
                      <a:pt x="928401" y="0"/>
                    </a:lnTo>
                    <a:lnTo>
                      <a:pt x="928401" y="534735"/>
                    </a:lnTo>
                    <a:lnTo>
                      <a:pt x="0" y="534735"/>
                    </a:lnTo>
                    <a:close/>
                  </a:path>
                </a:pathLst>
              </a:custGeom>
              <a:solidFill>
                <a:srgbClr val="18B6B4"/>
              </a:solidFill>
            </p:spPr>
            <p:txBody>
              <a:bodyPr/>
              <a:lstStyle/>
              <a:p>
                <a:endParaRPr lang="en-US"/>
              </a:p>
            </p:txBody>
          </p:sp>
          <p:sp>
            <p:nvSpPr>
              <p:cNvPr id="10" name="TextBox 10"/>
              <p:cNvSpPr txBox="1"/>
              <p:nvPr/>
            </p:nvSpPr>
            <p:spPr>
              <a:xfrm>
                <a:off x="0" y="-76200"/>
                <a:ext cx="928401" cy="610935"/>
              </a:xfrm>
              <a:prstGeom prst="rect">
                <a:avLst/>
              </a:prstGeom>
            </p:spPr>
            <p:txBody>
              <a:bodyPr lIns="50800" tIns="50800" rIns="50800" bIns="50800" rtlCol="0" anchor="ctr"/>
              <a:lstStyle/>
              <a:p>
                <a:pPr algn="ctr">
                  <a:lnSpc>
                    <a:spcPts val="5599"/>
                  </a:lnSpc>
                </a:pPr>
                <a:r>
                  <a:rPr lang="en-US" sz="3999" b="1" spc="199">
                    <a:solidFill>
                      <a:srgbClr val="FFFFFF"/>
                    </a:solidFill>
                    <a:latin typeface="Aileron Ultra-Bold"/>
                    <a:ea typeface="Aileron Ultra-Bold"/>
                    <a:cs typeface="Aileron Ultra-Bold"/>
                    <a:sym typeface="Aileron Ultra-Bold"/>
                  </a:rPr>
                  <a:t>2</a:t>
                </a:r>
              </a:p>
            </p:txBody>
          </p:sp>
        </p:grpSp>
        <p:grpSp>
          <p:nvGrpSpPr>
            <p:cNvPr id="11" name="Group 11"/>
            <p:cNvGrpSpPr/>
            <p:nvPr/>
          </p:nvGrpSpPr>
          <p:grpSpPr>
            <a:xfrm>
              <a:off x="7751640" y="4431374"/>
              <a:ext cx="4700029" cy="2707097"/>
              <a:chOff x="0" y="0"/>
              <a:chExt cx="928401" cy="534735"/>
            </a:xfrm>
          </p:grpSpPr>
          <p:sp>
            <p:nvSpPr>
              <p:cNvPr id="12" name="Freeform 12"/>
              <p:cNvSpPr/>
              <p:nvPr/>
            </p:nvSpPr>
            <p:spPr>
              <a:xfrm>
                <a:off x="0" y="0"/>
                <a:ext cx="928401" cy="534735"/>
              </a:xfrm>
              <a:custGeom>
                <a:avLst/>
                <a:gdLst/>
                <a:ahLst/>
                <a:cxnLst/>
                <a:rect l="l" t="t" r="r" b="b"/>
                <a:pathLst>
                  <a:path w="928401" h="534735">
                    <a:moveTo>
                      <a:pt x="0" y="0"/>
                    </a:moveTo>
                    <a:lnTo>
                      <a:pt x="928401" y="0"/>
                    </a:lnTo>
                    <a:lnTo>
                      <a:pt x="928401" y="534735"/>
                    </a:lnTo>
                    <a:lnTo>
                      <a:pt x="0" y="534735"/>
                    </a:lnTo>
                    <a:close/>
                  </a:path>
                </a:pathLst>
              </a:custGeom>
              <a:solidFill>
                <a:srgbClr val="37C9EF"/>
              </a:solidFill>
            </p:spPr>
            <p:txBody>
              <a:bodyPr/>
              <a:lstStyle/>
              <a:p>
                <a:endParaRPr lang="en-US"/>
              </a:p>
            </p:txBody>
          </p:sp>
          <p:sp>
            <p:nvSpPr>
              <p:cNvPr id="13" name="TextBox 13"/>
              <p:cNvSpPr txBox="1"/>
              <p:nvPr/>
            </p:nvSpPr>
            <p:spPr>
              <a:xfrm>
                <a:off x="0" y="-76200"/>
                <a:ext cx="928401" cy="610935"/>
              </a:xfrm>
              <a:prstGeom prst="rect">
                <a:avLst/>
              </a:prstGeom>
            </p:spPr>
            <p:txBody>
              <a:bodyPr lIns="50800" tIns="50800" rIns="50800" bIns="50800" rtlCol="0" anchor="ctr"/>
              <a:lstStyle/>
              <a:p>
                <a:pPr algn="ctr">
                  <a:lnSpc>
                    <a:spcPts val="5599"/>
                  </a:lnSpc>
                </a:pPr>
                <a:r>
                  <a:rPr lang="en-US" sz="3999" b="1" spc="199">
                    <a:solidFill>
                      <a:srgbClr val="FFFFFF"/>
                    </a:solidFill>
                    <a:latin typeface="Aileron Ultra-Bold"/>
                    <a:ea typeface="Aileron Ultra-Bold"/>
                    <a:cs typeface="Aileron Ultra-Bold"/>
                    <a:sym typeface="Aileron Ultra-Bold"/>
                  </a:rPr>
                  <a:t>3</a:t>
                </a:r>
              </a:p>
            </p:txBody>
          </p:sp>
        </p:grpSp>
        <p:grpSp>
          <p:nvGrpSpPr>
            <p:cNvPr id="14" name="Group 14"/>
            <p:cNvGrpSpPr/>
            <p:nvPr/>
          </p:nvGrpSpPr>
          <p:grpSpPr>
            <a:xfrm>
              <a:off x="11627460" y="3615630"/>
              <a:ext cx="4700029" cy="2707097"/>
              <a:chOff x="0" y="0"/>
              <a:chExt cx="928401" cy="534735"/>
            </a:xfrm>
          </p:grpSpPr>
          <p:sp>
            <p:nvSpPr>
              <p:cNvPr id="15" name="Freeform 15"/>
              <p:cNvSpPr/>
              <p:nvPr/>
            </p:nvSpPr>
            <p:spPr>
              <a:xfrm>
                <a:off x="0" y="0"/>
                <a:ext cx="928401" cy="534735"/>
              </a:xfrm>
              <a:custGeom>
                <a:avLst/>
                <a:gdLst/>
                <a:ahLst/>
                <a:cxnLst/>
                <a:rect l="l" t="t" r="r" b="b"/>
                <a:pathLst>
                  <a:path w="928401" h="534735">
                    <a:moveTo>
                      <a:pt x="0" y="0"/>
                    </a:moveTo>
                    <a:lnTo>
                      <a:pt x="928401" y="0"/>
                    </a:lnTo>
                    <a:lnTo>
                      <a:pt x="928401" y="534735"/>
                    </a:lnTo>
                    <a:lnTo>
                      <a:pt x="0" y="534735"/>
                    </a:lnTo>
                    <a:close/>
                  </a:path>
                </a:pathLst>
              </a:custGeom>
              <a:solidFill>
                <a:srgbClr val="2C92D5"/>
              </a:solidFill>
            </p:spPr>
            <p:txBody>
              <a:bodyPr/>
              <a:lstStyle/>
              <a:p>
                <a:endParaRPr lang="en-US"/>
              </a:p>
            </p:txBody>
          </p:sp>
          <p:sp>
            <p:nvSpPr>
              <p:cNvPr id="16" name="TextBox 16"/>
              <p:cNvSpPr txBox="1"/>
              <p:nvPr/>
            </p:nvSpPr>
            <p:spPr>
              <a:xfrm>
                <a:off x="0" y="-76200"/>
                <a:ext cx="928401" cy="610935"/>
              </a:xfrm>
              <a:prstGeom prst="rect">
                <a:avLst/>
              </a:prstGeom>
            </p:spPr>
            <p:txBody>
              <a:bodyPr lIns="50800" tIns="50800" rIns="50800" bIns="50800" rtlCol="0" anchor="ctr"/>
              <a:lstStyle/>
              <a:p>
                <a:pPr algn="ctr">
                  <a:lnSpc>
                    <a:spcPts val="5599"/>
                  </a:lnSpc>
                </a:pPr>
                <a:r>
                  <a:rPr lang="en-US" sz="3999" b="1" spc="199">
                    <a:solidFill>
                      <a:srgbClr val="FFFFFF"/>
                    </a:solidFill>
                    <a:latin typeface="Aileron Ultra-Bold"/>
                    <a:ea typeface="Aileron Ultra-Bold"/>
                    <a:cs typeface="Aileron Ultra-Bold"/>
                    <a:sym typeface="Aileron Ultra-Bold"/>
                  </a:rPr>
                  <a:t>4</a:t>
                </a:r>
              </a:p>
            </p:txBody>
          </p:sp>
        </p:grpSp>
        <p:grpSp>
          <p:nvGrpSpPr>
            <p:cNvPr id="17" name="Group 17"/>
            <p:cNvGrpSpPr/>
            <p:nvPr/>
          </p:nvGrpSpPr>
          <p:grpSpPr>
            <a:xfrm rot="-10800000">
              <a:off x="11614760" y="6315581"/>
              <a:ext cx="824209" cy="822891"/>
              <a:chOff x="0" y="0"/>
              <a:chExt cx="6350000" cy="6339840"/>
            </a:xfrm>
          </p:grpSpPr>
          <p:sp>
            <p:nvSpPr>
              <p:cNvPr id="18" name="Freeform 18"/>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2C92D5">
                  <a:alpha val="49804"/>
                </a:srgbClr>
              </a:solidFill>
            </p:spPr>
            <p:txBody>
              <a:bodyPr/>
              <a:lstStyle/>
              <a:p>
                <a:endParaRPr lang="en-US"/>
              </a:p>
            </p:txBody>
          </p:sp>
        </p:grpSp>
        <p:grpSp>
          <p:nvGrpSpPr>
            <p:cNvPr id="19" name="Group 19"/>
            <p:cNvGrpSpPr/>
            <p:nvPr/>
          </p:nvGrpSpPr>
          <p:grpSpPr>
            <a:xfrm rot="-10800000">
              <a:off x="7729850" y="7138471"/>
              <a:ext cx="824209" cy="822891"/>
              <a:chOff x="0" y="0"/>
              <a:chExt cx="6350000" cy="6339840"/>
            </a:xfrm>
          </p:grpSpPr>
          <p:sp>
            <p:nvSpPr>
              <p:cNvPr id="20" name="Freeform 20"/>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37C9EF">
                  <a:alpha val="49804"/>
                </a:srgbClr>
              </a:solidFill>
            </p:spPr>
            <p:txBody>
              <a:bodyPr/>
              <a:lstStyle/>
              <a:p>
                <a:endParaRPr lang="en-US"/>
              </a:p>
            </p:txBody>
          </p:sp>
        </p:grpSp>
        <p:grpSp>
          <p:nvGrpSpPr>
            <p:cNvPr id="21" name="Group 21"/>
            <p:cNvGrpSpPr/>
            <p:nvPr/>
          </p:nvGrpSpPr>
          <p:grpSpPr>
            <a:xfrm>
              <a:off x="15461291" y="1659259"/>
              <a:ext cx="5635183" cy="5067767"/>
              <a:chOff x="0" y="0"/>
              <a:chExt cx="977479" cy="879055"/>
            </a:xfrm>
          </p:grpSpPr>
          <p:sp>
            <p:nvSpPr>
              <p:cNvPr id="22" name="Freeform 22"/>
              <p:cNvSpPr/>
              <p:nvPr/>
            </p:nvSpPr>
            <p:spPr>
              <a:xfrm>
                <a:off x="0" y="0"/>
                <a:ext cx="977479" cy="879055"/>
              </a:xfrm>
              <a:custGeom>
                <a:avLst/>
                <a:gdLst/>
                <a:ahLst/>
                <a:cxnLst/>
                <a:rect l="l" t="t" r="r" b="b"/>
                <a:pathLst>
                  <a:path w="977479" h="879055">
                    <a:moveTo>
                      <a:pt x="977479" y="439528"/>
                    </a:moveTo>
                    <a:lnTo>
                      <a:pt x="571079" y="0"/>
                    </a:lnTo>
                    <a:lnTo>
                      <a:pt x="571079" y="203200"/>
                    </a:lnTo>
                    <a:lnTo>
                      <a:pt x="0" y="203200"/>
                    </a:lnTo>
                    <a:lnTo>
                      <a:pt x="0" y="675855"/>
                    </a:lnTo>
                    <a:lnTo>
                      <a:pt x="571079" y="675855"/>
                    </a:lnTo>
                    <a:lnTo>
                      <a:pt x="571079" y="879055"/>
                    </a:lnTo>
                    <a:lnTo>
                      <a:pt x="977479" y="439528"/>
                    </a:lnTo>
                    <a:close/>
                  </a:path>
                </a:pathLst>
              </a:custGeom>
              <a:solidFill>
                <a:srgbClr val="13538A"/>
              </a:solidFill>
            </p:spPr>
            <p:txBody>
              <a:bodyPr/>
              <a:lstStyle/>
              <a:p>
                <a:endParaRPr lang="en-US"/>
              </a:p>
            </p:txBody>
          </p:sp>
          <p:sp>
            <p:nvSpPr>
              <p:cNvPr id="23" name="TextBox 23"/>
              <p:cNvSpPr txBox="1"/>
              <p:nvPr/>
            </p:nvSpPr>
            <p:spPr>
              <a:xfrm>
                <a:off x="0" y="127000"/>
                <a:ext cx="875879" cy="548855"/>
              </a:xfrm>
              <a:prstGeom prst="rect">
                <a:avLst/>
              </a:prstGeom>
            </p:spPr>
            <p:txBody>
              <a:bodyPr lIns="50800" tIns="50800" rIns="50800" bIns="50800" rtlCol="0" anchor="ctr"/>
              <a:lstStyle/>
              <a:p>
                <a:pPr algn="ctr">
                  <a:lnSpc>
                    <a:spcPts val="5599"/>
                  </a:lnSpc>
                </a:pPr>
                <a:r>
                  <a:rPr lang="en-US" sz="3999" b="1" spc="199">
                    <a:solidFill>
                      <a:srgbClr val="FFFFFF"/>
                    </a:solidFill>
                    <a:latin typeface="Aileron Ultra-Bold"/>
                    <a:ea typeface="Aileron Ultra-Bold"/>
                    <a:cs typeface="Aileron Ultra-Bold"/>
                    <a:sym typeface="Aileron Ultra-Bold"/>
                  </a:rPr>
                  <a:t>5</a:t>
                </a:r>
              </a:p>
            </p:txBody>
          </p:sp>
        </p:grpSp>
        <p:grpSp>
          <p:nvGrpSpPr>
            <p:cNvPr id="24" name="Group 24"/>
            <p:cNvGrpSpPr/>
            <p:nvPr/>
          </p:nvGrpSpPr>
          <p:grpSpPr>
            <a:xfrm rot="-10800000">
              <a:off x="15482945" y="5492690"/>
              <a:ext cx="824209" cy="822891"/>
              <a:chOff x="0" y="0"/>
              <a:chExt cx="6350000" cy="6339840"/>
            </a:xfrm>
          </p:grpSpPr>
          <p:sp>
            <p:nvSpPr>
              <p:cNvPr id="25" name="Freeform 25"/>
              <p:cNvSpPr/>
              <p:nvPr/>
            </p:nvSpPr>
            <p:spPr>
              <a:xfrm>
                <a:off x="0" y="0"/>
                <a:ext cx="6350000" cy="6339840"/>
              </a:xfrm>
              <a:custGeom>
                <a:avLst/>
                <a:gdLst/>
                <a:ahLst/>
                <a:cxnLst/>
                <a:rect l="l" t="t" r="r" b="b"/>
                <a:pathLst>
                  <a:path w="6350000" h="6339840">
                    <a:moveTo>
                      <a:pt x="6350000" y="6339840"/>
                    </a:moveTo>
                    <a:lnTo>
                      <a:pt x="0" y="6339840"/>
                    </a:lnTo>
                    <a:lnTo>
                      <a:pt x="0" y="0"/>
                    </a:lnTo>
                    <a:close/>
                  </a:path>
                </a:pathLst>
              </a:custGeom>
              <a:solidFill>
                <a:srgbClr val="13538A">
                  <a:alpha val="49804"/>
                </a:srgbClr>
              </a:solidFill>
            </p:spPr>
            <p:txBody>
              <a:bodyPr/>
              <a:lstStyle/>
              <a:p>
                <a:endParaRPr lang="en-US"/>
              </a:p>
            </p:txBody>
          </p:sp>
        </p:grpSp>
        <p:sp>
          <p:nvSpPr>
            <p:cNvPr id="26" name="TextBox 26"/>
            <p:cNvSpPr txBox="1"/>
            <p:nvPr/>
          </p:nvSpPr>
          <p:spPr>
            <a:xfrm>
              <a:off x="247595" y="4397271"/>
              <a:ext cx="3593735" cy="1387651"/>
            </a:xfrm>
            <a:prstGeom prst="rect">
              <a:avLst/>
            </a:prstGeom>
          </p:spPr>
          <p:txBody>
            <a:bodyPr lIns="0" tIns="0" rIns="0" bIns="0" rtlCol="0" anchor="t">
              <a:spAutoFit/>
            </a:bodyPr>
            <a:lstStyle/>
            <a:p>
              <a:pPr marL="0" lvl="0" indent="0" algn="ctr">
                <a:lnSpc>
                  <a:spcPts val="4200"/>
                </a:lnSpc>
              </a:pPr>
              <a:r>
                <a:rPr lang="en-US" sz="3000" spc="89">
                  <a:solidFill>
                    <a:srgbClr val="FFFFFF"/>
                  </a:solidFill>
                  <a:latin typeface="Aileron"/>
                  <a:ea typeface="Aileron"/>
                  <a:cs typeface="Aileron"/>
                  <a:sym typeface="Aileron"/>
                </a:rPr>
                <a:t>Start with Your Background</a:t>
              </a:r>
            </a:p>
          </p:txBody>
        </p:sp>
        <p:sp>
          <p:nvSpPr>
            <p:cNvPr id="27" name="TextBox 27"/>
            <p:cNvSpPr txBox="1"/>
            <p:nvPr/>
          </p:nvSpPr>
          <p:spPr>
            <a:xfrm>
              <a:off x="3568137" y="3581527"/>
              <a:ext cx="4573818" cy="1387651"/>
            </a:xfrm>
            <a:prstGeom prst="rect">
              <a:avLst/>
            </a:prstGeom>
          </p:spPr>
          <p:txBody>
            <a:bodyPr lIns="0" tIns="0" rIns="0" bIns="0" rtlCol="0" anchor="t">
              <a:spAutoFit/>
            </a:bodyPr>
            <a:lstStyle/>
            <a:p>
              <a:pPr marL="0" lvl="0" indent="0" algn="ctr">
                <a:lnSpc>
                  <a:spcPts val="4200"/>
                </a:lnSpc>
              </a:pPr>
              <a:r>
                <a:rPr lang="en-US" sz="3000" spc="89">
                  <a:solidFill>
                    <a:srgbClr val="FFFFFF"/>
                  </a:solidFill>
                  <a:latin typeface="Aileron"/>
                  <a:ea typeface="Aileron"/>
                  <a:cs typeface="Aileron"/>
                  <a:sym typeface="Aileron"/>
                </a:rPr>
                <a:t>Highlight Relevant Experience</a:t>
              </a:r>
            </a:p>
          </p:txBody>
        </p:sp>
        <p:sp>
          <p:nvSpPr>
            <p:cNvPr id="28" name="TextBox 28"/>
            <p:cNvSpPr txBox="1"/>
            <p:nvPr/>
          </p:nvSpPr>
          <p:spPr>
            <a:xfrm>
              <a:off x="8141955" y="2439495"/>
              <a:ext cx="3165507" cy="1387651"/>
            </a:xfrm>
            <a:prstGeom prst="rect">
              <a:avLst/>
            </a:prstGeom>
          </p:spPr>
          <p:txBody>
            <a:bodyPr lIns="0" tIns="0" rIns="0" bIns="0" rtlCol="0" anchor="t">
              <a:spAutoFit/>
            </a:bodyPr>
            <a:lstStyle/>
            <a:p>
              <a:pPr marL="0" lvl="0" indent="0" algn="ctr">
                <a:lnSpc>
                  <a:spcPts val="4200"/>
                </a:lnSpc>
              </a:pPr>
              <a:r>
                <a:rPr lang="en-US" sz="3000" spc="89">
                  <a:solidFill>
                    <a:srgbClr val="FFFFFF"/>
                  </a:solidFill>
                  <a:latin typeface="Aileron"/>
                  <a:ea typeface="Aileron"/>
                  <a:cs typeface="Aileron"/>
                  <a:sym typeface="Aileron"/>
                </a:rPr>
                <a:t>Showcase Your Skills</a:t>
              </a:r>
            </a:p>
          </p:txBody>
        </p:sp>
        <p:sp>
          <p:nvSpPr>
            <p:cNvPr id="29" name="TextBox 29"/>
            <p:cNvSpPr txBox="1"/>
            <p:nvPr/>
          </p:nvSpPr>
          <p:spPr>
            <a:xfrm>
              <a:off x="11307462" y="1387839"/>
              <a:ext cx="4072705" cy="2098940"/>
            </a:xfrm>
            <a:prstGeom prst="rect">
              <a:avLst/>
            </a:prstGeom>
          </p:spPr>
          <p:txBody>
            <a:bodyPr lIns="0" tIns="0" rIns="0" bIns="0" rtlCol="0" anchor="t">
              <a:spAutoFit/>
            </a:bodyPr>
            <a:lstStyle/>
            <a:p>
              <a:pPr marL="0" lvl="0" indent="0" algn="ctr">
                <a:lnSpc>
                  <a:spcPts val="4200"/>
                </a:lnSpc>
              </a:pPr>
              <a:r>
                <a:rPr lang="en-US" sz="3000" spc="89">
                  <a:solidFill>
                    <a:srgbClr val="FFFFFF"/>
                  </a:solidFill>
                  <a:latin typeface="Aileron"/>
                  <a:ea typeface="Aileron"/>
                  <a:cs typeface="Aileron"/>
                  <a:sym typeface="Aileron"/>
                </a:rPr>
                <a:t>Connect to XYZ company's Culture</a:t>
              </a:r>
            </a:p>
          </p:txBody>
        </p:sp>
        <p:sp>
          <p:nvSpPr>
            <p:cNvPr id="30" name="TextBox 30"/>
            <p:cNvSpPr txBox="1"/>
            <p:nvPr/>
          </p:nvSpPr>
          <p:spPr>
            <a:xfrm>
              <a:off x="15380167" y="-66675"/>
              <a:ext cx="4138259" cy="1387651"/>
            </a:xfrm>
            <a:prstGeom prst="rect">
              <a:avLst/>
            </a:prstGeom>
          </p:spPr>
          <p:txBody>
            <a:bodyPr lIns="0" tIns="0" rIns="0" bIns="0" rtlCol="0" anchor="t">
              <a:spAutoFit/>
            </a:bodyPr>
            <a:lstStyle/>
            <a:p>
              <a:pPr marL="0" lvl="0" indent="0" algn="ctr">
                <a:lnSpc>
                  <a:spcPts val="4200"/>
                </a:lnSpc>
              </a:pPr>
              <a:r>
                <a:rPr lang="en-US" sz="3000" spc="89">
                  <a:solidFill>
                    <a:srgbClr val="FFFFFF"/>
                  </a:solidFill>
                  <a:latin typeface="Aileron"/>
                  <a:ea typeface="Aileron"/>
                  <a:cs typeface="Aileron"/>
                  <a:sym typeface="Aileron"/>
                </a:rPr>
                <a:t>End with Your Future Goals</a:t>
              </a:r>
            </a:p>
          </p:txBody>
        </p:sp>
      </p:grpSp>
      <p:sp>
        <p:nvSpPr>
          <p:cNvPr id="31" name="TextBox 31"/>
          <p:cNvSpPr txBox="1"/>
          <p:nvPr/>
        </p:nvSpPr>
        <p:spPr>
          <a:xfrm>
            <a:off x="3388853" y="477476"/>
            <a:ext cx="11510293" cy="693834"/>
          </a:xfrm>
          <a:prstGeom prst="rect">
            <a:avLst/>
          </a:prstGeom>
        </p:spPr>
        <p:txBody>
          <a:bodyPr lIns="0" tIns="0" rIns="0" bIns="0" rtlCol="0" anchor="t">
            <a:spAutoFit/>
          </a:bodyPr>
          <a:lstStyle/>
          <a:p>
            <a:pPr marL="0" lvl="0" indent="0" algn="ctr">
              <a:lnSpc>
                <a:spcPts val="5501"/>
              </a:lnSpc>
              <a:spcBef>
                <a:spcPct val="0"/>
              </a:spcBef>
            </a:pPr>
            <a:r>
              <a:rPr lang="en-US" sz="4199" spc="125">
                <a:solidFill>
                  <a:srgbClr val="00B9EF"/>
                </a:solidFill>
                <a:latin typeface="Aileron Heavy"/>
                <a:ea typeface="Aileron Heavy"/>
                <a:cs typeface="Aileron Heavy"/>
                <a:sym typeface="Aileron Heavy"/>
              </a:rPr>
              <a:t>STRUCTURING ANSWER</a:t>
            </a:r>
          </a:p>
        </p:txBody>
      </p:sp>
      <p:grpSp>
        <p:nvGrpSpPr>
          <p:cNvPr id="32" name="Group 32"/>
          <p:cNvGrpSpPr/>
          <p:nvPr/>
        </p:nvGrpSpPr>
        <p:grpSpPr>
          <a:xfrm>
            <a:off x="923075" y="8576112"/>
            <a:ext cx="16523280" cy="1546551"/>
            <a:chOff x="0" y="0"/>
            <a:chExt cx="22031039" cy="2062068"/>
          </a:xfrm>
        </p:grpSpPr>
        <p:grpSp>
          <p:nvGrpSpPr>
            <p:cNvPr id="33" name="Group 33"/>
            <p:cNvGrpSpPr/>
            <p:nvPr/>
          </p:nvGrpSpPr>
          <p:grpSpPr>
            <a:xfrm>
              <a:off x="360261" y="964908"/>
              <a:ext cx="20850683" cy="318296"/>
              <a:chOff x="0" y="0"/>
              <a:chExt cx="9983306" cy="152400"/>
            </a:xfrm>
          </p:grpSpPr>
          <p:sp>
            <p:nvSpPr>
              <p:cNvPr id="34" name="Freeform 34"/>
              <p:cNvSpPr/>
              <p:nvPr/>
            </p:nvSpPr>
            <p:spPr>
              <a:xfrm>
                <a:off x="0" y="0"/>
                <a:ext cx="9983306" cy="152400"/>
              </a:xfrm>
              <a:custGeom>
                <a:avLst/>
                <a:gdLst/>
                <a:ahLst/>
                <a:cxnLst/>
                <a:rect l="l" t="t" r="r" b="b"/>
                <a:pathLst>
                  <a:path w="9983306" h="152400">
                    <a:moveTo>
                      <a:pt x="0" y="0"/>
                    </a:moveTo>
                    <a:lnTo>
                      <a:pt x="9983306" y="0"/>
                    </a:lnTo>
                    <a:lnTo>
                      <a:pt x="9983306" y="152400"/>
                    </a:lnTo>
                    <a:lnTo>
                      <a:pt x="0" y="152400"/>
                    </a:lnTo>
                    <a:close/>
                  </a:path>
                </a:pathLst>
              </a:custGeom>
              <a:solidFill>
                <a:srgbClr val="FFFFFF"/>
              </a:solidFill>
            </p:spPr>
            <p:txBody>
              <a:bodyPr/>
              <a:lstStyle/>
              <a:p>
                <a:endParaRPr lang="en-US"/>
              </a:p>
            </p:txBody>
          </p:sp>
        </p:grpSp>
        <p:sp>
          <p:nvSpPr>
            <p:cNvPr id="35" name="Freeform 35"/>
            <p:cNvSpPr/>
            <p:nvPr/>
          </p:nvSpPr>
          <p:spPr>
            <a:xfrm>
              <a:off x="0" y="186044"/>
              <a:ext cx="1672006" cy="1876024"/>
            </a:xfrm>
            <a:custGeom>
              <a:avLst/>
              <a:gdLst/>
              <a:ahLst/>
              <a:cxnLst/>
              <a:rect l="l" t="t" r="r" b="b"/>
              <a:pathLst>
                <a:path w="1672006" h="1876024">
                  <a:moveTo>
                    <a:pt x="0" y="0"/>
                  </a:moveTo>
                  <a:lnTo>
                    <a:pt x="1672006" y="0"/>
                  </a:lnTo>
                  <a:lnTo>
                    <a:pt x="1672006" y="1876024"/>
                  </a:lnTo>
                  <a:lnTo>
                    <a:pt x="0" y="18760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6" name="TextBox 36"/>
            <p:cNvSpPr txBox="1"/>
            <p:nvPr/>
          </p:nvSpPr>
          <p:spPr>
            <a:xfrm>
              <a:off x="1672006" y="19050"/>
              <a:ext cx="4907236" cy="542754"/>
            </a:xfrm>
            <a:prstGeom prst="rect">
              <a:avLst/>
            </a:prstGeom>
          </p:spPr>
          <p:txBody>
            <a:bodyPr lIns="0" tIns="0" rIns="0" bIns="0" rtlCol="0" anchor="t">
              <a:spAutoFit/>
            </a:bodyPr>
            <a:lstStyle/>
            <a:p>
              <a:pPr algn="ctr">
                <a:lnSpc>
                  <a:spcPts val="3191"/>
                </a:lnSpc>
              </a:pPr>
              <a:r>
                <a:rPr lang="en-US" sz="2799">
                  <a:solidFill>
                    <a:srgbClr val="FFFFFF"/>
                  </a:solidFill>
                  <a:latin typeface="Montserrat Classic"/>
                  <a:ea typeface="Montserrat Classic"/>
                  <a:cs typeface="Montserrat Classic"/>
                  <a:sym typeface="Montserrat Classic"/>
                </a:rPr>
                <a:t>The past</a:t>
              </a:r>
            </a:p>
          </p:txBody>
        </p:sp>
        <p:sp>
          <p:nvSpPr>
            <p:cNvPr id="37" name="TextBox 37"/>
            <p:cNvSpPr txBox="1"/>
            <p:nvPr/>
          </p:nvSpPr>
          <p:spPr>
            <a:xfrm>
              <a:off x="8235452" y="19050"/>
              <a:ext cx="4907236" cy="542754"/>
            </a:xfrm>
            <a:prstGeom prst="rect">
              <a:avLst/>
            </a:prstGeom>
          </p:spPr>
          <p:txBody>
            <a:bodyPr lIns="0" tIns="0" rIns="0" bIns="0" rtlCol="0" anchor="t">
              <a:spAutoFit/>
            </a:bodyPr>
            <a:lstStyle/>
            <a:p>
              <a:pPr algn="ctr">
                <a:lnSpc>
                  <a:spcPts val="3191"/>
                </a:lnSpc>
              </a:pPr>
              <a:r>
                <a:rPr lang="en-US" sz="2799">
                  <a:solidFill>
                    <a:srgbClr val="FFFFFF"/>
                  </a:solidFill>
                  <a:latin typeface="Montserrat Classic"/>
                  <a:ea typeface="Montserrat Classic"/>
                  <a:cs typeface="Montserrat Classic"/>
                  <a:sym typeface="Montserrat Classic"/>
                </a:rPr>
                <a:t>The present</a:t>
              </a:r>
            </a:p>
          </p:txBody>
        </p:sp>
        <p:sp>
          <p:nvSpPr>
            <p:cNvPr id="38" name="TextBox 38"/>
            <p:cNvSpPr txBox="1"/>
            <p:nvPr/>
          </p:nvSpPr>
          <p:spPr>
            <a:xfrm>
              <a:off x="15193872" y="19050"/>
              <a:ext cx="4907236" cy="542754"/>
            </a:xfrm>
            <a:prstGeom prst="rect">
              <a:avLst/>
            </a:prstGeom>
          </p:spPr>
          <p:txBody>
            <a:bodyPr lIns="0" tIns="0" rIns="0" bIns="0" rtlCol="0" anchor="t">
              <a:spAutoFit/>
            </a:bodyPr>
            <a:lstStyle/>
            <a:p>
              <a:pPr algn="ctr">
                <a:lnSpc>
                  <a:spcPts val="3191"/>
                </a:lnSpc>
              </a:pPr>
              <a:r>
                <a:rPr lang="en-US" sz="2799">
                  <a:solidFill>
                    <a:srgbClr val="FFFFFF"/>
                  </a:solidFill>
                  <a:latin typeface="Montserrat Classic"/>
                  <a:ea typeface="Montserrat Classic"/>
                  <a:cs typeface="Montserrat Classic"/>
                  <a:sym typeface="Montserrat Classic"/>
                </a:rPr>
                <a:t>The future</a:t>
              </a:r>
            </a:p>
          </p:txBody>
        </p:sp>
        <p:sp>
          <p:nvSpPr>
            <p:cNvPr id="39" name="Freeform 39"/>
            <p:cNvSpPr/>
            <p:nvPr/>
          </p:nvSpPr>
          <p:spPr>
            <a:xfrm>
              <a:off x="20443576" y="233473"/>
              <a:ext cx="1587464" cy="1781166"/>
            </a:xfrm>
            <a:custGeom>
              <a:avLst/>
              <a:gdLst/>
              <a:ahLst/>
              <a:cxnLst/>
              <a:rect l="l" t="t" r="r" b="b"/>
              <a:pathLst>
                <a:path w="1587464" h="1781166">
                  <a:moveTo>
                    <a:pt x="0" y="0"/>
                  </a:moveTo>
                  <a:lnTo>
                    <a:pt x="1587463" y="0"/>
                  </a:lnTo>
                  <a:lnTo>
                    <a:pt x="1587463" y="1781165"/>
                  </a:lnTo>
                  <a:lnTo>
                    <a:pt x="0" y="178116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2476499"/>
            <a:ext cx="16856018" cy="6781801"/>
          </a:xfrm>
          <a:prstGeom prst="rect">
            <a:avLst/>
          </a:prstGeom>
        </p:spPr>
        <p:txBody>
          <a:bodyPr lIns="0" tIns="0" rIns="0" bIns="0" rtlCol="0" anchor="t">
            <a:spAutoFit/>
          </a:bodyPr>
          <a:lstStyle/>
          <a:p>
            <a:pPr algn="l">
              <a:lnSpc>
                <a:spcPts val="4199"/>
              </a:lnSpc>
            </a:pPr>
            <a:r>
              <a:rPr lang="en-US" sz="2999" b="1">
                <a:solidFill>
                  <a:srgbClr val="CB6CE6"/>
                </a:solidFill>
                <a:latin typeface="Montserrat Bold"/>
                <a:ea typeface="Montserrat Bold"/>
                <a:cs typeface="Montserrat Bold"/>
                <a:sym typeface="Montserrat Bold"/>
              </a:rPr>
              <a:t>Background &amp;  Relevant Experiences</a:t>
            </a:r>
          </a:p>
          <a:p>
            <a:pPr algn="l">
              <a:lnSpc>
                <a:spcPts val="4199"/>
              </a:lnSpc>
            </a:pPr>
            <a:r>
              <a:rPr lang="en-US" sz="2999">
                <a:solidFill>
                  <a:srgbClr val="FFFFFF"/>
                </a:solidFill>
                <a:latin typeface="Montserrat"/>
                <a:ea typeface="Montserrat"/>
                <a:cs typeface="Montserrat"/>
                <a:sym typeface="Montserrat"/>
              </a:rPr>
              <a:t>Sure! </a:t>
            </a:r>
            <a:r>
              <a:rPr lang="en-US" sz="2999">
                <a:solidFill>
                  <a:srgbClr val="FF5757"/>
                </a:solidFill>
                <a:latin typeface="Montserrat"/>
                <a:ea typeface="Montserrat"/>
                <a:cs typeface="Montserrat"/>
                <a:sym typeface="Montserrat"/>
              </a:rPr>
              <a:t>I have a degree in </a:t>
            </a:r>
            <a:r>
              <a:rPr lang="en-US" sz="2999">
                <a:solidFill>
                  <a:srgbClr val="FFFFFF"/>
                </a:solidFill>
                <a:latin typeface="Montserrat"/>
                <a:ea typeface="Montserrat"/>
                <a:cs typeface="Montserrat"/>
                <a:sym typeface="Montserrat"/>
              </a:rPr>
              <a:t>Computer Science from XYZ University, </a:t>
            </a:r>
            <a:r>
              <a:rPr lang="en-US" sz="2999">
                <a:solidFill>
                  <a:srgbClr val="FF5757"/>
                </a:solidFill>
                <a:latin typeface="Montserrat"/>
                <a:ea typeface="Montserrat"/>
                <a:cs typeface="Montserrat"/>
                <a:sym typeface="Montserrat"/>
              </a:rPr>
              <a:t>where I</a:t>
            </a:r>
            <a:r>
              <a:rPr lang="en-US" sz="2999">
                <a:solidFill>
                  <a:srgbClr val="FFFFFF"/>
                </a:solidFill>
                <a:latin typeface="Montserrat"/>
                <a:ea typeface="Montserrat"/>
                <a:cs typeface="Montserrat"/>
                <a:sym typeface="Montserrat"/>
              </a:rPr>
              <a:t> developed a strong foundation in software development and problem-solving. </a:t>
            </a:r>
            <a:r>
              <a:rPr lang="en-US" sz="2999">
                <a:solidFill>
                  <a:srgbClr val="FF5757"/>
                </a:solidFill>
                <a:latin typeface="Montserrat"/>
                <a:ea typeface="Montserrat"/>
                <a:cs typeface="Montserrat"/>
                <a:sym typeface="Montserrat"/>
              </a:rPr>
              <a:t>After graduation, I joined</a:t>
            </a:r>
            <a:r>
              <a:rPr lang="en-US" sz="2999">
                <a:solidFill>
                  <a:srgbClr val="FFFFFF"/>
                </a:solidFill>
                <a:latin typeface="Montserrat"/>
                <a:ea typeface="Montserrat"/>
                <a:cs typeface="Montserrat"/>
                <a:sym typeface="Montserrat"/>
              </a:rPr>
              <a:t> ABC Company </a:t>
            </a:r>
            <a:r>
              <a:rPr lang="en-US" sz="2999">
                <a:solidFill>
                  <a:srgbClr val="FF5757"/>
                </a:solidFill>
                <a:latin typeface="Montserrat"/>
                <a:ea typeface="Montserrat"/>
                <a:cs typeface="Montserrat"/>
                <a:sym typeface="Montserrat"/>
              </a:rPr>
              <a:t>as a backend developer, where I worked on</a:t>
            </a:r>
            <a:r>
              <a:rPr lang="en-US" sz="2999">
                <a:solidFill>
                  <a:srgbClr val="FFFFFF"/>
                </a:solidFill>
                <a:latin typeface="Montserrat"/>
                <a:ea typeface="Montserrat"/>
                <a:cs typeface="Montserrat"/>
                <a:sym typeface="Montserrat"/>
              </a:rPr>
              <a:t> optimizing our e-commerce platform. </a:t>
            </a:r>
          </a:p>
          <a:p>
            <a:pPr algn="l">
              <a:lnSpc>
                <a:spcPts val="4199"/>
              </a:lnSpc>
            </a:pPr>
            <a:endParaRPr lang="en-US" sz="2999">
              <a:solidFill>
                <a:srgbClr val="FFFFFF"/>
              </a:solidFill>
              <a:latin typeface="Montserrat"/>
              <a:ea typeface="Montserrat"/>
              <a:cs typeface="Montserrat"/>
              <a:sym typeface="Montserrat"/>
            </a:endParaRPr>
          </a:p>
          <a:p>
            <a:pPr algn="l">
              <a:lnSpc>
                <a:spcPts val="4199"/>
              </a:lnSpc>
            </a:pPr>
            <a:r>
              <a:rPr lang="en-US" sz="2999" b="1">
                <a:solidFill>
                  <a:srgbClr val="3EDAD8"/>
                </a:solidFill>
                <a:latin typeface="Montserrat Bold"/>
                <a:ea typeface="Montserrat Bold"/>
                <a:cs typeface="Montserrat Bold"/>
                <a:sym typeface="Montserrat Bold"/>
              </a:rPr>
              <a:t>Showcase Your Skills &amp; connect XYZ Company’s culture</a:t>
            </a:r>
          </a:p>
          <a:p>
            <a:pPr algn="l">
              <a:lnSpc>
                <a:spcPts val="4199"/>
              </a:lnSpc>
            </a:pPr>
            <a:r>
              <a:rPr lang="en-US" sz="2999">
                <a:solidFill>
                  <a:srgbClr val="FF5757"/>
                </a:solidFill>
                <a:latin typeface="Montserrat"/>
                <a:ea typeface="Montserrat"/>
                <a:cs typeface="Montserrat"/>
                <a:sym typeface="Montserrat"/>
              </a:rPr>
              <a:t>One of my key achievements was</a:t>
            </a:r>
            <a:r>
              <a:rPr lang="en-US" sz="2999">
                <a:solidFill>
                  <a:srgbClr val="FFFFFF"/>
                </a:solidFill>
                <a:latin typeface="Montserrat"/>
                <a:ea typeface="Montserrat"/>
                <a:cs typeface="Montserrat"/>
                <a:sym typeface="Montserrat"/>
              </a:rPr>
              <a:t> improving the API response time by 40%, which significantly enhanced user experience. </a:t>
            </a:r>
            <a:r>
              <a:rPr lang="en-US" sz="2999">
                <a:solidFill>
                  <a:srgbClr val="FF5757"/>
                </a:solidFill>
                <a:latin typeface="Montserrat"/>
                <a:ea typeface="Montserrat"/>
                <a:cs typeface="Montserrat"/>
                <a:sym typeface="Montserrat"/>
              </a:rPr>
              <a:t>I’m particularly skilled in</a:t>
            </a:r>
            <a:r>
              <a:rPr lang="en-US" sz="2999">
                <a:solidFill>
                  <a:srgbClr val="FFFFFF"/>
                </a:solidFill>
                <a:latin typeface="Montserrat"/>
                <a:ea typeface="Montserrat"/>
                <a:cs typeface="Montserrat"/>
                <a:sym typeface="Montserrat"/>
              </a:rPr>
              <a:t> data analysis and coding, which I used to identify bottlenecks in our system. </a:t>
            </a:r>
            <a:r>
              <a:rPr lang="en-US" sz="2999">
                <a:solidFill>
                  <a:srgbClr val="FF5757"/>
                </a:solidFill>
                <a:latin typeface="Montserrat"/>
                <a:ea typeface="Montserrat"/>
                <a:cs typeface="Montserrat"/>
                <a:sym typeface="Montserrat"/>
              </a:rPr>
              <a:t>I’m passionate about</a:t>
            </a:r>
            <a:r>
              <a:rPr lang="en-US" sz="2999">
                <a:solidFill>
                  <a:srgbClr val="FFFFFF"/>
                </a:solidFill>
                <a:latin typeface="Montserrat"/>
                <a:ea typeface="Montserrat"/>
                <a:cs typeface="Montserrat"/>
                <a:sym typeface="Montserrat"/>
              </a:rPr>
              <a:t> using technology to solve complex problems, and I believe in a customer-first approach, </a:t>
            </a:r>
            <a:r>
              <a:rPr lang="en-US" sz="2999">
                <a:solidFill>
                  <a:srgbClr val="FF5757"/>
                </a:solidFill>
                <a:latin typeface="Montserrat"/>
                <a:ea typeface="Montserrat"/>
                <a:cs typeface="Montserrat"/>
                <a:sym typeface="Montserrat"/>
              </a:rPr>
              <a:t>which aligns with</a:t>
            </a:r>
            <a:r>
              <a:rPr lang="en-US" sz="2999">
                <a:solidFill>
                  <a:srgbClr val="FFFFFF"/>
                </a:solidFill>
                <a:latin typeface="Montserrat"/>
                <a:ea typeface="Montserrat"/>
                <a:cs typeface="Montserrat"/>
                <a:sym typeface="Montserrat"/>
              </a:rPr>
              <a:t> Amazon’s commitment to customer obsession.</a:t>
            </a:r>
          </a:p>
          <a:p>
            <a:pPr algn="l">
              <a:lnSpc>
                <a:spcPts val="4199"/>
              </a:lnSpc>
            </a:pPr>
            <a:endParaRPr lang="en-US" sz="2999">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1990724"/>
            <a:ext cx="16856018" cy="6257926"/>
          </a:xfrm>
          <a:prstGeom prst="rect">
            <a:avLst/>
          </a:prstGeom>
        </p:spPr>
        <p:txBody>
          <a:bodyPr lIns="0" tIns="0" rIns="0" bIns="0" rtlCol="0" anchor="t">
            <a:spAutoFit/>
          </a:bodyPr>
          <a:lstStyle/>
          <a:p>
            <a:pPr algn="l">
              <a:lnSpc>
                <a:spcPts val="4199"/>
              </a:lnSpc>
            </a:pPr>
            <a:endParaRPr/>
          </a:p>
          <a:p>
            <a:pPr algn="l">
              <a:lnSpc>
                <a:spcPts val="4199"/>
              </a:lnSpc>
            </a:pPr>
            <a:r>
              <a:rPr lang="en-US" sz="2999" b="1">
                <a:solidFill>
                  <a:srgbClr val="95C740"/>
                </a:solidFill>
                <a:latin typeface="Montserrat Bold"/>
                <a:ea typeface="Montserrat Bold"/>
                <a:cs typeface="Montserrat Bold"/>
                <a:sym typeface="Montserrat Bold"/>
              </a:rPr>
              <a:t>Connect to Amazon's Culture</a:t>
            </a:r>
          </a:p>
          <a:p>
            <a:pPr algn="l">
              <a:lnSpc>
                <a:spcPts val="4199"/>
              </a:lnSpc>
            </a:pPr>
            <a:r>
              <a:rPr lang="en-US" sz="2999">
                <a:solidFill>
                  <a:srgbClr val="FF5757"/>
                </a:solidFill>
                <a:latin typeface="Montserrat"/>
                <a:ea typeface="Montserrat"/>
                <a:cs typeface="Montserrat"/>
                <a:sym typeface="Montserrat"/>
              </a:rPr>
              <a:t>I’m excited about the opportunity at</a:t>
            </a:r>
            <a:r>
              <a:rPr lang="en-US" sz="2999">
                <a:solidFill>
                  <a:srgbClr val="FFFFFF"/>
                </a:solidFill>
                <a:latin typeface="Montserrat"/>
                <a:ea typeface="Montserrat"/>
                <a:cs typeface="Montserrat"/>
                <a:sym typeface="Montserrat"/>
              </a:rPr>
              <a:t> Amazon because I admire the company’s focus on innovation and its leadership principles, especially in areas like frugality and delivering results. I</a:t>
            </a:r>
            <a:r>
              <a:rPr lang="en-US" sz="2999">
                <a:solidFill>
                  <a:srgbClr val="FF5757"/>
                </a:solidFill>
                <a:latin typeface="Montserrat"/>
                <a:ea typeface="Montserrat"/>
                <a:cs typeface="Montserrat"/>
                <a:sym typeface="Montserrat"/>
              </a:rPr>
              <a:t>’m eager to contribute to</a:t>
            </a:r>
            <a:r>
              <a:rPr lang="en-US" sz="2999">
                <a:solidFill>
                  <a:srgbClr val="FFFFFF"/>
                </a:solidFill>
                <a:latin typeface="Montserrat"/>
                <a:ea typeface="Montserrat"/>
                <a:cs typeface="Montserrat"/>
                <a:sym typeface="Montserrat"/>
              </a:rPr>
              <a:t> a team that continuously strives to improve and innovate.</a:t>
            </a:r>
          </a:p>
          <a:p>
            <a:pPr algn="l">
              <a:lnSpc>
                <a:spcPts val="4199"/>
              </a:lnSpc>
            </a:pPr>
            <a:endParaRPr lang="en-US" sz="2999">
              <a:solidFill>
                <a:srgbClr val="FFFFFF"/>
              </a:solidFill>
              <a:latin typeface="Montserrat"/>
              <a:ea typeface="Montserrat"/>
              <a:cs typeface="Montserrat"/>
              <a:sym typeface="Montserrat"/>
            </a:endParaRPr>
          </a:p>
          <a:p>
            <a:pPr algn="l">
              <a:lnSpc>
                <a:spcPts val="4199"/>
              </a:lnSpc>
            </a:pPr>
            <a:r>
              <a:rPr lang="en-US" sz="2999" b="1">
                <a:solidFill>
                  <a:srgbClr val="3EDAD8"/>
                </a:solidFill>
                <a:latin typeface="Montserrat Bold"/>
                <a:ea typeface="Montserrat Bold"/>
                <a:cs typeface="Montserrat Bold"/>
                <a:sym typeface="Montserrat Bold"/>
              </a:rPr>
              <a:t>End with Your Future Goals</a:t>
            </a:r>
          </a:p>
          <a:p>
            <a:pPr algn="l">
              <a:lnSpc>
                <a:spcPts val="4199"/>
              </a:lnSpc>
            </a:pPr>
            <a:r>
              <a:rPr lang="en-US" sz="2999">
                <a:solidFill>
                  <a:srgbClr val="FF5757"/>
                </a:solidFill>
                <a:latin typeface="Montserrat"/>
                <a:ea typeface="Montserrat"/>
                <a:cs typeface="Montserrat"/>
                <a:sym typeface="Montserrat"/>
              </a:rPr>
              <a:t>Looking ahead, I hope to</a:t>
            </a:r>
            <a:r>
              <a:rPr lang="en-US" sz="2999">
                <a:solidFill>
                  <a:srgbClr val="FFFFFF"/>
                </a:solidFill>
                <a:latin typeface="Montserrat"/>
                <a:ea typeface="Montserrat"/>
                <a:cs typeface="Montserrat"/>
                <a:sym typeface="Montserrat"/>
              </a:rPr>
              <a:t> grow my career in a fast-paced environment like Amazon, where I can further develop my technical skills and lead projects that make a meaningful impact on customers.</a:t>
            </a:r>
          </a:p>
          <a:p>
            <a:pPr algn="l">
              <a:lnSpc>
                <a:spcPts val="4199"/>
              </a:lnSpc>
            </a:pPr>
            <a:endParaRPr lang="en-US" sz="2999">
              <a:solidFill>
                <a:srgbClr val="FFFFFF"/>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2476499"/>
            <a:ext cx="16856018" cy="6781801"/>
          </a:xfrm>
          <a:prstGeom prst="rect">
            <a:avLst/>
          </a:prstGeom>
        </p:spPr>
        <p:txBody>
          <a:bodyPr lIns="0" tIns="0" rIns="0" bIns="0" rtlCol="0" anchor="t">
            <a:spAutoFit/>
          </a:bodyPr>
          <a:lstStyle/>
          <a:p>
            <a:pPr algn="l">
              <a:lnSpc>
                <a:spcPts val="4199"/>
              </a:lnSpc>
            </a:pPr>
            <a:r>
              <a:rPr lang="en-US" sz="2999" b="1" dirty="0">
                <a:solidFill>
                  <a:srgbClr val="CB6CE6"/>
                </a:solidFill>
                <a:latin typeface="Montserrat Bold"/>
                <a:ea typeface="Montserrat Bold"/>
                <a:cs typeface="Montserrat Bold"/>
                <a:sym typeface="Montserrat Bold"/>
              </a:rPr>
              <a:t>Background &amp;  Relevant Experiences</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 graduated with a degree in </a:t>
            </a:r>
            <a:r>
              <a:rPr lang="en-US" sz="2999" dirty="0">
                <a:solidFill>
                  <a:srgbClr val="95C740"/>
                </a:solidFill>
                <a:latin typeface="Montserrat"/>
                <a:ea typeface="Montserrat"/>
                <a:cs typeface="Montserrat"/>
                <a:sym typeface="Montserrat"/>
              </a:rPr>
              <a:t>[Degree]</a:t>
            </a:r>
            <a:r>
              <a:rPr lang="en-US" sz="2999" dirty="0">
                <a:solidFill>
                  <a:srgbClr val="FFFFFF"/>
                </a:solidFill>
                <a:latin typeface="Montserrat"/>
                <a:ea typeface="Montserrat"/>
                <a:cs typeface="Montserrat"/>
                <a:sym typeface="Montserrat"/>
              </a:rPr>
              <a:t> from </a:t>
            </a:r>
            <a:r>
              <a:rPr lang="en-US" sz="2999" dirty="0">
                <a:solidFill>
                  <a:srgbClr val="95C740"/>
                </a:solidFill>
                <a:latin typeface="Montserrat"/>
                <a:ea typeface="Montserrat"/>
                <a:cs typeface="Montserrat"/>
                <a:sym typeface="Montserrat"/>
              </a:rPr>
              <a:t>[Your University]</a:t>
            </a:r>
            <a:r>
              <a:rPr lang="en-US" sz="2999" dirty="0">
                <a:solidFill>
                  <a:srgbClr val="FFFFFF"/>
                </a:solidFill>
                <a:latin typeface="Montserrat"/>
                <a:ea typeface="Montserrat"/>
                <a:cs typeface="Montserrat"/>
                <a:sym typeface="Montserrat"/>
              </a:rPr>
              <a:t>, where I developed skills in </a:t>
            </a:r>
            <a:r>
              <a:rPr lang="en-US" sz="2999" dirty="0">
                <a:solidFill>
                  <a:srgbClr val="95C740"/>
                </a:solidFill>
                <a:latin typeface="Montserrat"/>
                <a:ea typeface="Montserrat"/>
                <a:cs typeface="Montserrat"/>
                <a:sym typeface="Montserrat"/>
              </a:rPr>
              <a:t>[Relevant Skills/Subjects]</a:t>
            </a:r>
            <a:r>
              <a:rPr lang="en-US" sz="2999" dirty="0">
                <a:solidFill>
                  <a:srgbClr val="FFFFFF"/>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After completing my studies, I began my career at </a:t>
            </a:r>
            <a:r>
              <a:rPr lang="en-US" sz="2999" dirty="0">
                <a:solidFill>
                  <a:srgbClr val="95C740"/>
                </a:solidFill>
                <a:latin typeface="Montserrat"/>
                <a:ea typeface="Montserrat"/>
                <a:cs typeface="Montserrat"/>
                <a:sym typeface="Montserrat"/>
              </a:rPr>
              <a:t>[Company Name]</a:t>
            </a:r>
            <a:r>
              <a:rPr lang="en-US" sz="2999" dirty="0">
                <a:solidFill>
                  <a:srgbClr val="FFFFFF"/>
                </a:solidFill>
                <a:latin typeface="Montserrat"/>
                <a:ea typeface="Montserrat"/>
                <a:cs typeface="Montserrat"/>
                <a:sym typeface="Montserrat"/>
              </a:rPr>
              <a:t> as a </a:t>
            </a:r>
            <a:r>
              <a:rPr lang="en-US" sz="2999" dirty="0">
                <a:solidFill>
                  <a:srgbClr val="95C740"/>
                </a:solidFill>
                <a:latin typeface="Montserrat"/>
                <a:ea typeface="Montserrat"/>
                <a:cs typeface="Montserrat"/>
                <a:sym typeface="Montserrat"/>
              </a:rPr>
              <a:t>[Your Job Title]</a:t>
            </a:r>
            <a:r>
              <a:rPr lang="en-US" sz="2999" dirty="0">
                <a:solidFill>
                  <a:srgbClr val="FFFFFF"/>
                </a:solidFill>
                <a:latin typeface="Montserrat"/>
                <a:ea typeface="Montserrat"/>
                <a:cs typeface="Montserrat"/>
                <a:sym typeface="Montserrat"/>
              </a:rPr>
              <a:t>, where I had the opportunity to </a:t>
            </a:r>
            <a:r>
              <a:rPr lang="en-US" sz="2999" dirty="0">
                <a:solidFill>
                  <a:srgbClr val="95C740"/>
                </a:solidFill>
                <a:latin typeface="Montserrat"/>
                <a:ea typeface="Montserrat"/>
                <a:cs typeface="Montserrat"/>
                <a:sym typeface="Montserrat"/>
              </a:rPr>
              <a:t>[Briefly Describe Your Role]</a:t>
            </a:r>
            <a:r>
              <a:rPr lang="en-US" sz="2999" dirty="0">
                <a:solidFill>
                  <a:srgbClr val="FFFFFF"/>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In my role at </a:t>
            </a:r>
            <a:r>
              <a:rPr lang="en-US" sz="2999" dirty="0">
                <a:solidFill>
                  <a:srgbClr val="95C740"/>
                </a:solidFill>
                <a:latin typeface="Montserrat"/>
                <a:ea typeface="Montserrat"/>
                <a:cs typeface="Montserrat"/>
                <a:sym typeface="Montserrat"/>
              </a:rPr>
              <a:t>[Company Name]</a:t>
            </a:r>
            <a:r>
              <a:rPr lang="en-US" sz="2999" dirty="0">
                <a:solidFill>
                  <a:srgbClr val="FFFFFF"/>
                </a:solidFill>
                <a:latin typeface="Montserrat"/>
                <a:ea typeface="Montserrat"/>
                <a:cs typeface="Montserrat"/>
                <a:sym typeface="Montserrat"/>
              </a:rPr>
              <a:t>, I worked on </a:t>
            </a:r>
            <a:r>
              <a:rPr lang="en-US" sz="2999" dirty="0">
                <a:solidFill>
                  <a:srgbClr val="95C740"/>
                </a:solidFill>
                <a:latin typeface="Montserrat"/>
                <a:ea typeface="Montserrat"/>
                <a:cs typeface="Montserrat"/>
                <a:sym typeface="Montserrat"/>
              </a:rPr>
              <a:t>[Specific Project or Responsibility]</a:t>
            </a:r>
            <a:r>
              <a:rPr lang="en-US" sz="2999" dirty="0">
                <a:solidFill>
                  <a:srgbClr val="FFFFFF"/>
                </a:solidFill>
                <a:latin typeface="Montserrat"/>
                <a:ea typeface="Montserrat"/>
                <a:cs typeface="Montserrat"/>
                <a:sym typeface="Montserrat"/>
              </a:rPr>
              <a:t>, which allowed me to </a:t>
            </a:r>
            <a:r>
              <a:rPr lang="en-US" sz="2999" dirty="0">
                <a:solidFill>
                  <a:srgbClr val="95C740"/>
                </a:solidFill>
                <a:latin typeface="Montserrat"/>
                <a:ea typeface="Montserrat"/>
                <a:cs typeface="Montserrat"/>
                <a:sym typeface="Montserrat"/>
              </a:rPr>
              <a:t>[Describe Achievements or Skills Developed]</a:t>
            </a:r>
            <a:r>
              <a:rPr lang="en-US" sz="2999" dirty="0">
                <a:solidFill>
                  <a:srgbClr val="FFFFFF"/>
                </a:solidFill>
                <a:latin typeface="Montserrat"/>
                <a:ea typeface="Montserrat"/>
                <a:cs typeface="Montserrat"/>
                <a:sym typeface="Montserrat"/>
              </a:rPr>
              <a:t>.</a:t>
            </a:r>
          </a:p>
          <a:p>
            <a:pPr algn="l">
              <a:lnSpc>
                <a:spcPts val="4199"/>
              </a:lnSpc>
            </a:pPr>
            <a:endParaRPr lang="en-US" sz="2999" dirty="0">
              <a:solidFill>
                <a:srgbClr val="FFFFFF"/>
              </a:solidFill>
              <a:latin typeface="Montserrat"/>
              <a:ea typeface="Montserrat"/>
              <a:cs typeface="Montserrat"/>
              <a:sym typeface="Montserrat"/>
            </a:endParaRPr>
          </a:p>
          <a:p>
            <a:pPr algn="l">
              <a:lnSpc>
                <a:spcPts val="4199"/>
              </a:lnSpc>
            </a:pPr>
            <a:r>
              <a:rPr lang="en-US" sz="2999" b="1" dirty="0">
                <a:solidFill>
                  <a:srgbClr val="CB6CE6"/>
                </a:solidFill>
                <a:latin typeface="Montserrat Bold"/>
                <a:ea typeface="Montserrat Bold"/>
                <a:cs typeface="Montserrat Bold"/>
                <a:sym typeface="Montserrat Bold"/>
              </a:rPr>
              <a:t>Showcase Your Skills &amp; connect XYZ Company’s culture</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 have strong skills in</a:t>
            </a:r>
            <a:r>
              <a:rPr lang="en-US" sz="2999" dirty="0">
                <a:solidFill>
                  <a:srgbClr val="95C740"/>
                </a:solidFill>
                <a:latin typeface="Montserrat"/>
                <a:ea typeface="Montserrat"/>
                <a:cs typeface="Montserrat"/>
                <a:sym typeface="Montserrat"/>
              </a:rPr>
              <a:t> [List Key Skills]</a:t>
            </a:r>
            <a:r>
              <a:rPr lang="en-US" sz="2999" dirty="0">
                <a:solidFill>
                  <a:srgbClr val="FFFFFF"/>
                </a:solidFill>
                <a:latin typeface="Montserrat"/>
                <a:ea typeface="Montserrat"/>
                <a:cs typeface="Montserrat"/>
                <a:sym typeface="Montserrat"/>
              </a:rPr>
              <a:t>, which I have applied in </a:t>
            </a:r>
            <a:r>
              <a:rPr lang="en-US" sz="2999" dirty="0">
                <a:solidFill>
                  <a:srgbClr val="95C740"/>
                </a:solidFill>
                <a:latin typeface="Montserrat"/>
                <a:ea typeface="Montserrat"/>
                <a:cs typeface="Montserrat"/>
                <a:sym typeface="Montserrat"/>
              </a:rPr>
              <a:t>[Describe How You've Used These Skills]</a:t>
            </a:r>
            <a:r>
              <a:rPr lang="en-US" sz="2999" dirty="0">
                <a:solidFill>
                  <a:srgbClr val="FFFFFF"/>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 am particularly passionate about </a:t>
            </a:r>
            <a:r>
              <a:rPr lang="en-US" sz="2999" dirty="0">
                <a:solidFill>
                  <a:srgbClr val="95C740"/>
                </a:solidFill>
                <a:latin typeface="Montserrat"/>
                <a:ea typeface="Montserrat"/>
                <a:cs typeface="Montserrat"/>
                <a:sym typeface="Montserrat"/>
              </a:rPr>
              <a:t>[Relevant Area of Interest]</a:t>
            </a:r>
            <a:r>
              <a:rPr lang="en-US" sz="2999" dirty="0">
                <a:solidFill>
                  <a:srgbClr val="FFFFFF"/>
                </a:solidFill>
                <a:latin typeface="Montserrat"/>
                <a:ea typeface="Montserrat"/>
                <a:cs typeface="Montserrat"/>
                <a:sym typeface="Montserrat"/>
              </a:rPr>
              <a:t>, and I believe that my experience in </a:t>
            </a:r>
            <a:r>
              <a:rPr lang="en-US" sz="2999" dirty="0">
                <a:solidFill>
                  <a:srgbClr val="95C740"/>
                </a:solidFill>
                <a:latin typeface="Montserrat"/>
                <a:ea typeface="Montserrat"/>
                <a:cs typeface="Montserrat"/>
                <a:sym typeface="Montserrat"/>
              </a:rPr>
              <a:t>[Related Experience]</a:t>
            </a:r>
            <a:r>
              <a:rPr lang="en-US" sz="2999" dirty="0">
                <a:solidFill>
                  <a:srgbClr val="FFFFFF"/>
                </a:solidFill>
                <a:latin typeface="Montserrat"/>
                <a:ea typeface="Montserrat"/>
                <a:cs typeface="Montserrat"/>
                <a:sym typeface="Montserrat"/>
              </a:rPr>
              <a:t> aligns well with this position.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2547928"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1990724"/>
            <a:ext cx="16856018" cy="7500900"/>
          </a:xfrm>
          <a:prstGeom prst="rect">
            <a:avLst/>
          </a:prstGeom>
        </p:spPr>
        <p:txBody>
          <a:bodyPr lIns="0" tIns="0" rIns="0" bIns="0" rtlCol="0" anchor="t">
            <a:spAutoFit/>
          </a:bodyPr>
          <a:lstStyle/>
          <a:p>
            <a:pPr algn="l">
              <a:lnSpc>
                <a:spcPts val="4199"/>
              </a:lnSpc>
            </a:pPr>
            <a:endParaRPr dirty="0"/>
          </a:p>
          <a:p>
            <a:pPr algn="l">
              <a:lnSpc>
                <a:spcPts val="4199"/>
              </a:lnSpc>
            </a:pPr>
            <a:r>
              <a:rPr lang="en-US" sz="2999" b="1" dirty="0">
                <a:solidFill>
                  <a:srgbClr val="CB6CE6"/>
                </a:solidFill>
                <a:latin typeface="Montserrat Bold"/>
                <a:ea typeface="Montserrat Bold"/>
                <a:cs typeface="Montserrat Bold"/>
                <a:sym typeface="Montserrat Bold"/>
              </a:rPr>
              <a:t>Connect to XYZ's Culture</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I’m drawn to XYZ because.................................................., especially in terms of </a:t>
            </a:r>
            <a:r>
              <a:rPr lang="en-US" sz="2999" dirty="0">
                <a:solidFill>
                  <a:srgbClr val="95C740"/>
                </a:solidFill>
                <a:latin typeface="Montserrat"/>
                <a:ea typeface="Montserrat"/>
                <a:cs typeface="Montserrat"/>
                <a:sym typeface="Montserrat"/>
              </a:rPr>
              <a:t>[Specific XYZ  principle or value]</a:t>
            </a:r>
            <a:r>
              <a:rPr lang="en-US" sz="2999" dirty="0">
                <a:solidFill>
                  <a:srgbClr val="FFFFFF"/>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 admire how XYZ prioritizes [Aspect of XYZ’s Mission or Culture], and I see a strong alignment with my own values, particularly </a:t>
            </a:r>
            <a:r>
              <a:rPr lang="en-US" sz="2999" dirty="0">
                <a:solidFill>
                  <a:srgbClr val="95C740"/>
                </a:solidFill>
                <a:latin typeface="Montserrat"/>
                <a:ea typeface="Montserrat"/>
                <a:cs typeface="Montserrat"/>
                <a:sym typeface="Montserrat"/>
              </a:rPr>
              <a:t>[Your Relevant Value]</a:t>
            </a:r>
            <a:r>
              <a:rPr lang="en-US" sz="2999" dirty="0">
                <a:solidFill>
                  <a:srgbClr val="FFFFFF"/>
                </a:solidFill>
                <a:latin typeface="Montserrat"/>
                <a:ea typeface="Montserrat"/>
                <a:cs typeface="Montserrat"/>
                <a:sym typeface="Montserrat"/>
              </a:rPr>
              <a:t>.</a:t>
            </a:r>
          </a:p>
          <a:p>
            <a:pPr algn="l">
              <a:lnSpc>
                <a:spcPts val="4199"/>
              </a:lnSpc>
            </a:pPr>
            <a:endParaRPr lang="en-US" sz="2999" dirty="0">
              <a:solidFill>
                <a:srgbClr val="FFFFFF"/>
              </a:solidFill>
              <a:latin typeface="Montserrat"/>
              <a:ea typeface="Montserrat"/>
              <a:cs typeface="Montserrat"/>
              <a:sym typeface="Montserrat"/>
            </a:endParaRPr>
          </a:p>
          <a:p>
            <a:pPr algn="l">
              <a:lnSpc>
                <a:spcPts val="4199"/>
              </a:lnSpc>
            </a:pPr>
            <a:r>
              <a:rPr lang="en-US" sz="2999" b="1" dirty="0">
                <a:solidFill>
                  <a:srgbClr val="CB6CE6"/>
                </a:solidFill>
                <a:latin typeface="Montserrat Bold"/>
                <a:ea typeface="Montserrat Bold"/>
                <a:cs typeface="Montserrat Bold"/>
                <a:sym typeface="Montserrat Bold"/>
              </a:rPr>
              <a:t>End with Your Future Goals</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"Looking ahead, I hope to </a:t>
            </a:r>
            <a:r>
              <a:rPr lang="en-US" sz="2999" dirty="0">
                <a:solidFill>
                  <a:srgbClr val="95C740"/>
                </a:solidFill>
                <a:latin typeface="Montserrat"/>
                <a:ea typeface="Montserrat"/>
                <a:cs typeface="Montserrat"/>
                <a:sym typeface="Montserrat"/>
              </a:rPr>
              <a:t>[Describe Your Career Aspirations]</a:t>
            </a:r>
            <a:r>
              <a:rPr lang="en-US" sz="2999" dirty="0">
                <a:solidFill>
                  <a:srgbClr val="FFFFFF"/>
                </a:solidFill>
                <a:latin typeface="Montserrat"/>
                <a:ea typeface="Montserrat"/>
                <a:cs typeface="Montserrat"/>
                <a:sym typeface="Montserrat"/>
              </a:rPr>
              <a:t> and believe that this position at XYZ will allow me to .....................................................</a:t>
            </a:r>
          </a:p>
          <a:p>
            <a:pPr marL="647695" lvl="1" indent="-323848" algn="l">
              <a:lnSpc>
                <a:spcPts val="4199"/>
              </a:lnSpc>
              <a:buFont typeface="Arial"/>
              <a:buChar char="•"/>
            </a:pPr>
            <a:r>
              <a:rPr lang="en-US" sz="2999" dirty="0">
                <a:solidFill>
                  <a:srgbClr val="FFFFFF"/>
                </a:solidFill>
                <a:latin typeface="Montserrat"/>
                <a:ea typeface="Montserrat"/>
                <a:cs typeface="Montserrat"/>
                <a:sym typeface="Montserrat"/>
              </a:rPr>
              <a:t>I am eager to contribute to </a:t>
            </a:r>
            <a:r>
              <a:rPr lang="en-US" sz="2999" dirty="0">
                <a:solidFill>
                  <a:srgbClr val="95C740"/>
                </a:solidFill>
                <a:latin typeface="Montserrat"/>
                <a:ea typeface="Montserrat"/>
                <a:cs typeface="Montserrat"/>
                <a:sym typeface="Montserrat"/>
              </a:rPr>
              <a:t>[Specific Area or Project]</a:t>
            </a:r>
            <a:r>
              <a:rPr lang="en-US" sz="2999" dirty="0">
                <a:solidFill>
                  <a:srgbClr val="FFFFFF"/>
                </a:solidFill>
                <a:latin typeface="Montserrat"/>
                <a:ea typeface="Montserrat"/>
                <a:cs typeface="Montserrat"/>
                <a:sym typeface="Montserrat"/>
              </a:rPr>
              <a:t> at XYZ, as I believe it will help me grow in </a:t>
            </a:r>
            <a:r>
              <a:rPr lang="en-US" sz="2999" dirty="0">
                <a:solidFill>
                  <a:srgbClr val="95C740"/>
                </a:solidFill>
                <a:latin typeface="Montserrat"/>
                <a:ea typeface="Montserrat"/>
                <a:cs typeface="Montserrat"/>
                <a:sym typeface="Montserrat"/>
              </a:rPr>
              <a:t>[Relevant Skill or Area]</a:t>
            </a:r>
            <a:r>
              <a:rPr lang="en-US" sz="2999" dirty="0">
                <a:solidFill>
                  <a:srgbClr val="FFFFFF"/>
                </a:solidFill>
                <a:latin typeface="Montserrat"/>
                <a:ea typeface="Montserrat"/>
                <a:cs typeface="Montserrat"/>
                <a:sym typeface="Montserrat"/>
              </a:rPr>
              <a:t>.</a:t>
            </a:r>
          </a:p>
          <a:p>
            <a:pPr algn="l">
              <a:lnSpc>
                <a:spcPts val="4199"/>
              </a:lnSpc>
            </a:pPr>
            <a:endParaRPr lang="en-US" sz="2999" dirty="0">
              <a:solidFill>
                <a:srgbClr val="FFFFFF"/>
              </a:solidFill>
              <a:latin typeface="Montserrat"/>
              <a:ea typeface="Montserrat"/>
              <a:cs typeface="Montserrat"/>
              <a:sym typeface="Montserrat"/>
            </a:endParaRPr>
          </a:p>
          <a:p>
            <a:pPr algn="l">
              <a:lnSpc>
                <a:spcPts val="4199"/>
              </a:lnSpc>
            </a:pPr>
            <a:endParaRPr lang="en-US" sz="2999" dirty="0">
              <a:solidFill>
                <a:srgbClr val="FFFFFF"/>
              </a:solidFill>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197653"/>
            <a:ext cx="14013896" cy="1121451"/>
            <a:chOff x="0" y="0"/>
            <a:chExt cx="18685194" cy="1495269"/>
          </a:xfrm>
        </p:grpSpPr>
        <p:sp>
          <p:nvSpPr>
            <p:cNvPr id="3" name="TextBox 3"/>
            <p:cNvSpPr txBox="1"/>
            <p:nvPr/>
          </p:nvSpPr>
          <p:spPr>
            <a:xfrm>
              <a:off x="1954624" y="362780"/>
              <a:ext cx="16730571" cy="807808"/>
            </a:xfrm>
            <a:prstGeom prst="rect">
              <a:avLst/>
            </a:prstGeom>
          </p:spPr>
          <p:txBody>
            <a:bodyPr lIns="0" tIns="0" rIns="0" bIns="0" rtlCol="0" anchor="t">
              <a:spAutoFit/>
            </a:bodyPr>
            <a:lstStyle/>
            <a:p>
              <a:pPr algn="just">
                <a:lnSpc>
                  <a:spcPts val="4620"/>
                </a:lnSpc>
              </a:pPr>
              <a:r>
                <a:rPr lang="en-US" sz="4200" b="1">
                  <a:solidFill>
                    <a:srgbClr val="00B9EF"/>
                  </a:solidFill>
                  <a:latin typeface="Poppins Bold"/>
                  <a:ea typeface="Poppins Bold"/>
                  <a:cs typeface="Poppins Bold"/>
                  <a:sym typeface="Poppins Bold"/>
                </a:rPr>
                <a:t>Variations of "Tell me about yourself”</a:t>
              </a:r>
            </a:p>
          </p:txBody>
        </p:sp>
        <p:sp>
          <p:nvSpPr>
            <p:cNvPr id="4" name="Freeform 4"/>
            <p:cNvSpPr/>
            <p:nvPr/>
          </p:nvSpPr>
          <p:spPr>
            <a:xfrm>
              <a:off x="0" y="0"/>
              <a:ext cx="1495269" cy="1495269"/>
            </a:xfrm>
            <a:custGeom>
              <a:avLst/>
              <a:gdLst/>
              <a:ahLst/>
              <a:cxnLst/>
              <a:rect l="l" t="t" r="r" b="b"/>
              <a:pathLst>
                <a:path w="1495269" h="1495269">
                  <a:moveTo>
                    <a:pt x="0" y="0"/>
                  </a:moveTo>
                  <a:lnTo>
                    <a:pt x="1495269" y="0"/>
                  </a:lnTo>
                  <a:lnTo>
                    <a:pt x="1495269" y="1495269"/>
                  </a:lnTo>
                  <a:lnTo>
                    <a:pt x="0" y="14952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5" name="TextBox 5"/>
          <p:cNvSpPr txBox="1"/>
          <p:nvPr/>
        </p:nvSpPr>
        <p:spPr>
          <a:xfrm>
            <a:off x="1933942" y="2014304"/>
            <a:ext cx="13876966" cy="6067815"/>
          </a:xfrm>
          <a:prstGeom prst="rect">
            <a:avLst/>
          </a:prstGeom>
        </p:spPr>
        <p:txBody>
          <a:bodyPr lIns="0" tIns="0" rIns="0" bIns="0" rtlCol="0" anchor="t">
            <a:spAutoFit/>
          </a:bodyPr>
          <a:lstStyle/>
          <a:p>
            <a:pPr algn="l">
              <a:lnSpc>
                <a:spcPts val="6899"/>
              </a:lnSpc>
            </a:pPr>
            <a:endParaRPr dirty="0"/>
          </a:p>
          <a:p>
            <a:pPr marL="647695" lvl="1" indent="-323848" algn="l">
              <a:lnSpc>
                <a:spcPts val="6899"/>
              </a:lnSpc>
              <a:buFont typeface="Arial"/>
              <a:buChar char="•"/>
            </a:pPr>
            <a:r>
              <a:rPr lang="en-US" sz="2999" dirty="0">
                <a:solidFill>
                  <a:srgbClr val="FFFFFF"/>
                </a:solidFill>
                <a:latin typeface="Montserrat"/>
                <a:ea typeface="Montserrat"/>
                <a:cs typeface="Montserrat"/>
                <a:sym typeface="Montserrat"/>
              </a:rPr>
              <a:t>I have your resume in front of me, but tell me more about yourself.</a:t>
            </a:r>
          </a:p>
          <a:p>
            <a:pPr marL="647695" lvl="1" indent="-323848" algn="l">
              <a:lnSpc>
                <a:spcPts val="6899"/>
              </a:lnSpc>
              <a:buFont typeface="Arial"/>
              <a:buChar char="•"/>
            </a:pPr>
            <a:r>
              <a:rPr lang="en-US" sz="2999" i="1" dirty="0">
                <a:solidFill>
                  <a:srgbClr val="FFFFFF"/>
                </a:solidFill>
                <a:latin typeface="Montserrat"/>
                <a:ea typeface="Montserrat"/>
                <a:cs typeface="Montserrat"/>
                <a:sym typeface="Montserrat"/>
              </a:rPr>
              <a:t>Take me through your resume</a:t>
            </a:r>
            <a:r>
              <a:rPr lang="en-US" sz="2999" dirty="0">
                <a:solidFill>
                  <a:srgbClr val="FFFFFF"/>
                </a:solidFill>
                <a:latin typeface="Montserrat"/>
                <a:ea typeface="Montserrat"/>
                <a:cs typeface="Montserrat"/>
                <a:sym typeface="Montserrat"/>
              </a:rPr>
              <a:t>.</a:t>
            </a:r>
          </a:p>
          <a:p>
            <a:pPr marL="647695" lvl="1" indent="-323848" algn="l">
              <a:lnSpc>
                <a:spcPts val="6899"/>
              </a:lnSpc>
              <a:buFont typeface="Arial"/>
              <a:buChar char="•"/>
            </a:pPr>
            <a:r>
              <a:rPr lang="en-US" sz="2999" dirty="0">
                <a:solidFill>
                  <a:srgbClr val="FFFFFF"/>
                </a:solidFill>
                <a:latin typeface="Montserrat"/>
                <a:ea typeface="Montserrat"/>
                <a:cs typeface="Montserrat"/>
                <a:sym typeface="Montserrat"/>
              </a:rPr>
              <a:t>I'd love to learn more about your journey.</a:t>
            </a:r>
          </a:p>
          <a:p>
            <a:pPr marL="647695" lvl="1" indent="-323848" algn="l">
              <a:lnSpc>
                <a:spcPts val="6899"/>
              </a:lnSpc>
              <a:buFont typeface="Arial"/>
              <a:buChar char="•"/>
            </a:pPr>
            <a:r>
              <a:rPr lang="en-US" sz="2999" dirty="0">
                <a:solidFill>
                  <a:srgbClr val="FFFFFF"/>
                </a:solidFill>
                <a:latin typeface="Montserrat"/>
                <a:ea typeface="Montserrat"/>
                <a:cs typeface="Montserrat"/>
                <a:sym typeface="Montserrat"/>
              </a:rPr>
              <a:t>Tell me a little bit more about your background</a:t>
            </a:r>
          </a:p>
          <a:p>
            <a:pPr marL="647695" lvl="1" indent="-323848" algn="l">
              <a:lnSpc>
                <a:spcPts val="6899"/>
              </a:lnSpc>
              <a:buFont typeface="Arial"/>
              <a:buChar char="•"/>
            </a:pPr>
            <a:r>
              <a:rPr lang="en-US" sz="2999" dirty="0">
                <a:solidFill>
                  <a:srgbClr val="FFFFFF"/>
                </a:solidFill>
                <a:latin typeface="Montserrat"/>
                <a:ea typeface="Montserrat"/>
                <a:cs typeface="Montserrat"/>
                <a:sym typeface="Montserrat"/>
              </a:rPr>
              <a:t>Tell me something about yourself that's not on your resume.</a:t>
            </a:r>
          </a:p>
          <a:p>
            <a:pPr algn="l">
              <a:lnSpc>
                <a:spcPts val="6899"/>
              </a:lnSpc>
            </a:pPr>
            <a:endParaRPr lang="en-US" sz="2999" dirty="0">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BRAINSTORMING</a:t>
            </a:r>
          </a:p>
          <a:p>
            <a:pPr algn="ctr">
              <a:lnSpc>
                <a:spcPts val="5500"/>
              </a:lnSpc>
            </a:pPr>
            <a:r>
              <a:rPr lang="en-US" sz="5000">
                <a:solidFill>
                  <a:srgbClr val="00B9EF"/>
                </a:solidFill>
                <a:latin typeface="Poppins Bold"/>
                <a:ea typeface="Poppins Bold"/>
                <a:cs typeface="Poppins Bold"/>
                <a:sym typeface="Poppins Bold"/>
              </a:rPr>
              <a:t>Writing Time</a:t>
            </a:r>
          </a:p>
        </p:txBody>
      </p:sp>
      <p:sp>
        <p:nvSpPr>
          <p:cNvPr id="3" name="Freeform 3"/>
          <p:cNvSpPr/>
          <p:nvPr/>
        </p:nvSpPr>
        <p:spPr>
          <a:xfrm>
            <a:off x="6645303" y="1714048"/>
            <a:ext cx="4417378" cy="4411856"/>
          </a:xfrm>
          <a:custGeom>
            <a:avLst/>
            <a:gdLst/>
            <a:ahLst/>
            <a:cxnLst/>
            <a:rect l="l" t="t" r="r" b="b"/>
            <a:pathLst>
              <a:path w="4417378" h="4411856">
                <a:moveTo>
                  <a:pt x="0" y="0"/>
                </a:moveTo>
                <a:lnTo>
                  <a:pt x="4417378" y="0"/>
                </a:lnTo>
                <a:lnTo>
                  <a:pt x="4417378" y="4411857"/>
                </a:lnTo>
                <a:lnTo>
                  <a:pt x="0" y="4411857"/>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386107" y="2274509"/>
            <a:ext cx="795045" cy="795045"/>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15E8C2"/>
            </a:solidFill>
          </p:spPr>
          <p:txBody>
            <a:bodyPr/>
            <a:lstStyle/>
            <a:p>
              <a:endParaRPr lang="en-US"/>
            </a:p>
          </p:txBody>
        </p:sp>
      </p:grpSp>
      <p:sp>
        <p:nvSpPr>
          <p:cNvPr id="4" name="TextBox 4"/>
          <p:cNvSpPr txBox="1"/>
          <p:nvPr/>
        </p:nvSpPr>
        <p:spPr>
          <a:xfrm>
            <a:off x="2564885" y="2310462"/>
            <a:ext cx="11820339" cy="596901"/>
          </a:xfrm>
          <a:prstGeom prst="rect">
            <a:avLst/>
          </a:prstGeom>
        </p:spPr>
        <p:txBody>
          <a:bodyPr lIns="0" tIns="0" rIns="0" bIns="0" rtlCol="0" anchor="t">
            <a:spAutoFit/>
          </a:bodyPr>
          <a:lstStyle/>
          <a:p>
            <a:pPr algn="l">
              <a:lnSpc>
                <a:spcPts val="4899"/>
              </a:lnSpc>
            </a:pPr>
            <a:r>
              <a:rPr lang="en-US" sz="3499" b="1" dirty="0">
                <a:solidFill>
                  <a:srgbClr val="FFFFFF"/>
                </a:solidFill>
                <a:latin typeface="Montserrat Bold"/>
                <a:ea typeface="Montserrat Bold"/>
                <a:cs typeface="Montserrat Bold"/>
                <a:sym typeface="Montserrat Bold"/>
              </a:rPr>
              <a:t>Tell me about your daily work</a:t>
            </a:r>
          </a:p>
        </p:txBody>
      </p:sp>
      <p:sp>
        <p:nvSpPr>
          <p:cNvPr id="5" name="TextBox 5"/>
          <p:cNvSpPr txBox="1"/>
          <p:nvPr/>
        </p:nvSpPr>
        <p:spPr>
          <a:xfrm>
            <a:off x="5604030" y="549159"/>
            <a:ext cx="7116559" cy="596331"/>
          </a:xfrm>
          <a:prstGeom prst="rect">
            <a:avLst/>
          </a:prstGeom>
        </p:spPr>
        <p:txBody>
          <a:bodyPr lIns="0" tIns="0" rIns="0" bIns="0" rtlCol="0" anchor="t">
            <a:spAutoFit/>
          </a:bodyPr>
          <a:lstStyle/>
          <a:p>
            <a:pPr algn="ctr">
              <a:lnSpc>
                <a:spcPts val="4620"/>
              </a:lnSpc>
            </a:pPr>
            <a:r>
              <a:rPr lang="en-US" sz="4200">
                <a:solidFill>
                  <a:srgbClr val="00B9EF"/>
                </a:solidFill>
                <a:latin typeface="Poppins Bold"/>
                <a:ea typeface="Poppins Bold"/>
                <a:cs typeface="Poppins Bold"/>
                <a:sym typeface="Poppins Bold"/>
              </a:rPr>
              <a:t>ANALYZING QUESTIONS</a:t>
            </a:r>
          </a:p>
        </p:txBody>
      </p:sp>
      <p:sp>
        <p:nvSpPr>
          <p:cNvPr id="6" name="Freeform 6"/>
          <p:cNvSpPr/>
          <p:nvPr/>
        </p:nvSpPr>
        <p:spPr>
          <a:xfrm>
            <a:off x="4784229" y="330603"/>
            <a:ext cx="819801" cy="995343"/>
          </a:xfrm>
          <a:custGeom>
            <a:avLst/>
            <a:gdLst/>
            <a:ahLst/>
            <a:cxnLst/>
            <a:rect l="l" t="t" r="r" b="b"/>
            <a:pathLst>
              <a:path w="819801" h="995343">
                <a:moveTo>
                  <a:pt x="0" y="0"/>
                </a:moveTo>
                <a:lnTo>
                  <a:pt x="819801" y="0"/>
                </a:lnTo>
                <a:lnTo>
                  <a:pt x="819801" y="995343"/>
                </a:lnTo>
                <a:lnTo>
                  <a:pt x="0" y="99534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386107" y="2358087"/>
            <a:ext cx="795045" cy="608772"/>
          </a:xfrm>
          <a:prstGeom prst="rect">
            <a:avLst/>
          </a:prstGeom>
        </p:spPr>
        <p:txBody>
          <a:bodyPr lIns="0" tIns="0" rIns="0" bIns="0" rtlCol="0" anchor="t">
            <a:spAutoFit/>
          </a:bodyPr>
          <a:lstStyle/>
          <a:p>
            <a:pPr algn="ctr">
              <a:lnSpc>
                <a:spcPts val="4836"/>
              </a:lnSpc>
            </a:pPr>
            <a:r>
              <a:rPr lang="en-US" sz="3900" dirty="0">
                <a:solidFill>
                  <a:srgbClr val="900EED"/>
                </a:solidFill>
                <a:latin typeface="Poppins Bold"/>
                <a:ea typeface="Poppins Bold"/>
                <a:cs typeface="Poppins Bold"/>
                <a:sym typeface="Poppins Bold"/>
              </a:rPr>
              <a:t>2</a:t>
            </a:r>
          </a:p>
        </p:txBody>
      </p:sp>
      <p:sp>
        <p:nvSpPr>
          <p:cNvPr id="8" name="TextBox 8"/>
          <p:cNvSpPr txBox="1"/>
          <p:nvPr/>
        </p:nvSpPr>
        <p:spPr>
          <a:xfrm>
            <a:off x="3167714" y="3983688"/>
            <a:ext cx="7426106" cy="501716"/>
          </a:xfrm>
          <a:prstGeom prst="rect">
            <a:avLst/>
          </a:prstGeom>
        </p:spPr>
        <p:txBody>
          <a:bodyPr lIns="0" tIns="0" rIns="0" bIns="0" rtlCol="0" anchor="t">
            <a:spAutoFit/>
          </a:bodyPr>
          <a:lstStyle/>
          <a:p>
            <a:pPr marL="755651" lvl="1" indent="-377825" algn="l">
              <a:lnSpc>
                <a:spcPts val="3850"/>
              </a:lnSpc>
              <a:spcBef>
                <a:spcPct val="0"/>
              </a:spcBef>
              <a:buFont typeface="Arial"/>
              <a:buChar char="•"/>
            </a:pPr>
            <a:r>
              <a:rPr lang="en-US" sz="3500" dirty="0">
                <a:solidFill>
                  <a:srgbClr val="FFFFFF"/>
                </a:solidFill>
                <a:latin typeface="Montserrat"/>
                <a:ea typeface="Montserrat"/>
                <a:cs typeface="Montserrat"/>
                <a:sym typeface="Montserrat"/>
              </a:rPr>
              <a:t>Understanding Job Role</a:t>
            </a:r>
          </a:p>
        </p:txBody>
      </p:sp>
      <p:sp>
        <p:nvSpPr>
          <p:cNvPr id="9" name="TextBox 9"/>
          <p:cNvSpPr txBox="1"/>
          <p:nvPr/>
        </p:nvSpPr>
        <p:spPr>
          <a:xfrm>
            <a:off x="3167714" y="5172075"/>
            <a:ext cx="10384893" cy="501716"/>
          </a:xfrm>
          <a:prstGeom prst="rect">
            <a:avLst/>
          </a:prstGeom>
        </p:spPr>
        <p:txBody>
          <a:bodyPr lIns="0" tIns="0" rIns="0" bIns="0" rtlCol="0" anchor="t">
            <a:spAutoFit/>
          </a:bodyPr>
          <a:lstStyle/>
          <a:p>
            <a:pPr marL="755651" lvl="1" indent="-377825" algn="l">
              <a:lnSpc>
                <a:spcPts val="3850"/>
              </a:lnSpc>
              <a:spcBef>
                <a:spcPct val="0"/>
              </a:spcBef>
              <a:buFont typeface="Arial"/>
              <a:buChar char="•"/>
            </a:pPr>
            <a:r>
              <a:rPr lang="en-US" sz="3500" dirty="0">
                <a:solidFill>
                  <a:srgbClr val="FFFFFF"/>
                </a:solidFill>
                <a:latin typeface="Montserrat"/>
                <a:ea typeface="Montserrat"/>
                <a:cs typeface="Montserrat"/>
                <a:sym typeface="Montserrat"/>
              </a:rPr>
              <a:t>Evaluating Skills and Competencies</a:t>
            </a:r>
          </a:p>
        </p:txBody>
      </p:sp>
      <p:sp>
        <p:nvSpPr>
          <p:cNvPr id="10" name="TextBox 10"/>
          <p:cNvSpPr txBox="1"/>
          <p:nvPr/>
        </p:nvSpPr>
        <p:spPr>
          <a:xfrm>
            <a:off x="3167714" y="6362634"/>
            <a:ext cx="10384893" cy="501716"/>
          </a:xfrm>
          <a:prstGeom prst="rect">
            <a:avLst/>
          </a:prstGeom>
        </p:spPr>
        <p:txBody>
          <a:bodyPr lIns="0" tIns="0" rIns="0" bIns="0" rtlCol="0" anchor="t">
            <a:spAutoFit/>
          </a:bodyPr>
          <a:lstStyle/>
          <a:p>
            <a:pPr marL="755651" lvl="1" indent="-377825" algn="l">
              <a:lnSpc>
                <a:spcPts val="3850"/>
              </a:lnSpc>
              <a:spcBef>
                <a:spcPct val="0"/>
              </a:spcBef>
              <a:buFont typeface="Arial"/>
              <a:buChar char="•"/>
            </a:pPr>
            <a:r>
              <a:rPr lang="en-US" sz="3500" dirty="0">
                <a:solidFill>
                  <a:srgbClr val="FFFFFF"/>
                </a:solidFill>
                <a:latin typeface="Montserrat"/>
                <a:ea typeface="Montserrat"/>
                <a:cs typeface="Montserrat"/>
                <a:sym typeface="Montserrat"/>
              </a:rPr>
              <a:t>Assessing Work Style and Approach</a:t>
            </a:r>
          </a:p>
        </p:txBody>
      </p:sp>
      <p:sp>
        <p:nvSpPr>
          <p:cNvPr id="11" name="TextBox 11"/>
          <p:cNvSpPr txBox="1"/>
          <p:nvPr/>
        </p:nvSpPr>
        <p:spPr>
          <a:xfrm>
            <a:off x="3167714" y="7553193"/>
            <a:ext cx="10384893" cy="501716"/>
          </a:xfrm>
          <a:prstGeom prst="rect">
            <a:avLst/>
          </a:prstGeom>
        </p:spPr>
        <p:txBody>
          <a:bodyPr lIns="0" tIns="0" rIns="0" bIns="0" rtlCol="0" anchor="t">
            <a:spAutoFit/>
          </a:bodyPr>
          <a:lstStyle/>
          <a:p>
            <a:pPr marL="755651" lvl="1" indent="-377825" algn="l">
              <a:lnSpc>
                <a:spcPts val="3850"/>
              </a:lnSpc>
              <a:spcBef>
                <a:spcPct val="0"/>
              </a:spcBef>
              <a:buFont typeface="Arial"/>
              <a:buChar char="•"/>
            </a:pPr>
            <a:r>
              <a:rPr lang="en-US" sz="3500" dirty="0">
                <a:solidFill>
                  <a:srgbClr val="FFFFFF"/>
                </a:solidFill>
                <a:latin typeface="Montserrat"/>
                <a:ea typeface="Montserrat"/>
                <a:cs typeface="Montserrat"/>
                <a:sym typeface="Montserrat"/>
              </a:rPr>
              <a:t>Identifying Cultural Fit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ppt_x"/>
                                          </p:val>
                                        </p:tav>
                                        <p:tav tm="100000">
                                          <p:val>
                                            <p:strVal val="#ppt_x"/>
                                          </p:val>
                                        </p:tav>
                                      </p:tavLst>
                                    </p:anim>
                                    <p:anim calcmode="lin" valueType="num">
                                      <p:cBhvr additive="base">
                                        <p:cTn id="2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0"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252395" y="5347989"/>
            <a:ext cx="15638012" cy="238722"/>
            <a:chOff x="0" y="0"/>
            <a:chExt cx="9983306" cy="152400"/>
          </a:xfrm>
        </p:grpSpPr>
        <p:sp>
          <p:nvSpPr>
            <p:cNvPr id="3" name="Freeform 3"/>
            <p:cNvSpPr/>
            <p:nvPr/>
          </p:nvSpPr>
          <p:spPr>
            <a:xfrm>
              <a:off x="0" y="0"/>
              <a:ext cx="9983306" cy="152400"/>
            </a:xfrm>
            <a:custGeom>
              <a:avLst/>
              <a:gdLst/>
              <a:ahLst/>
              <a:cxnLst/>
              <a:rect l="l" t="t" r="r" b="b"/>
              <a:pathLst>
                <a:path w="9983306" h="152400">
                  <a:moveTo>
                    <a:pt x="0" y="0"/>
                  </a:moveTo>
                  <a:lnTo>
                    <a:pt x="9983306" y="0"/>
                  </a:lnTo>
                  <a:lnTo>
                    <a:pt x="9983306" y="152400"/>
                  </a:lnTo>
                  <a:lnTo>
                    <a:pt x="0" y="152400"/>
                  </a:lnTo>
                  <a:close/>
                </a:path>
              </a:pathLst>
            </a:custGeom>
            <a:solidFill>
              <a:srgbClr val="FFFFFF"/>
            </a:solidFill>
          </p:spPr>
          <p:txBody>
            <a:bodyPr/>
            <a:lstStyle/>
            <a:p>
              <a:endParaRPr lang="en-US"/>
            </a:p>
          </p:txBody>
        </p:sp>
      </p:grpSp>
      <p:sp>
        <p:nvSpPr>
          <p:cNvPr id="4" name="Freeform 4"/>
          <p:cNvSpPr/>
          <p:nvPr/>
        </p:nvSpPr>
        <p:spPr>
          <a:xfrm>
            <a:off x="610625" y="4432048"/>
            <a:ext cx="2049479" cy="2049479"/>
          </a:xfrm>
          <a:custGeom>
            <a:avLst/>
            <a:gdLst/>
            <a:ahLst/>
            <a:cxnLst/>
            <a:rect l="l" t="t" r="r" b="b"/>
            <a:pathLst>
              <a:path w="2049479" h="2049479">
                <a:moveTo>
                  <a:pt x="0" y="0"/>
                </a:moveTo>
                <a:lnTo>
                  <a:pt x="2049479" y="0"/>
                </a:lnTo>
                <a:lnTo>
                  <a:pt x="2049479" y="2049478"/>
                </a:lnTo>
                <a:lnTo>
                  <a:pt x="0" y="20494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4146004" y="4453567"/>
            <a:ext cx="2006440" cy="2006440"/>
          </a:xfrm>
          <a:custGeom>
            <a:avLst/>
            <a:gdLst/>
            <a:ahLst/>
            <a:cxnLst/>
            <a:rect l="l" t="t" r="r" b="b"/>
            <a:pathLst>
              <a:path w="2006440" h="2006440">
                <a:moveTo>
                  <a:pt x="0" y="0"/>
                </a:moveTo>
                <a:lnTo>
                  <a:pt x="2006440" y="0"/>
                </a:lnTo>
                <a:lnTo>
                  <a:pt x="2006440" y="2006440"/>
                </a:lnTo>
                <a:lnTo>
                  <a:pt x="0" y="20064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Freeform 6"/>
          <p:cNvSpPr/>
          <p:nvPr/>
        </p:nvSpPr>
        <p:spPr>
          <a:xfrm>
            <a:off x="7638344" y="4474693"/>
            <a:ext cx="1985314" cy="1985314"/>
          </a:xfrm>
          <a:custGeom>
            <a:avLst/>
            <a:gdLst/>
            <a:ahLst/>
            <a:cxnLst/>
            <a:rect l="l" t="t" r="r" b="b"/>
            <a:pathLst>
              <a:path w="1985314" h="1985314">
                <a:moveTo>
                  <a:pt x="0" y="0"/>
                </a:moveTo>
                <a:lnTo>
                  <a:pt x="1985313" y="0"/>
                </a:lnTo>
                <a:lnTo>
                  <a:pt x="1985313" y="1985314"/>
                </a:lnTo>
                <a:lnTo>
                  <a:pt x="0" y="19853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7" name="Freeform 7"/>
          <p:cNvSpPr/>
          <p:nvPr/>
        </p:nvSpPr>
        <p:spPr>
          <a:xfrm>
            <a:off x="11111388" y="4338353"/>
            <a:ext cx="1985314" cy="1985314"/>
          </a:xfrm>
          <a:custGeom>
            <a:avLst/>
            <a:gdLst/>
            <a:ahLst/>
            <a:cxnLst/>
            <a:rect l="l" t="t" r="r" b="b"/>
            <a:pathLst>
              <a:path w="1985314" h="1985314">
                <a:moveTo>
                  <a:pt x="0" y="0"/>
                </a:moveTo>
                <a:lnTo>
                  <a:pt x="1985314" y="0"/>
                </a:lnTo>
                <a:lnTo>
                  <a:pt x="1985314" y="1985314"/>
                </a:lnTo>
                <a:lnTo>
                  <a:pt x="0" y="198531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8" name="Freeform 8"/>
          <p:cNvSpPr/>
          <p:nvPr/>
        </p:nvSpPr>
        <p:spPr>
          <a:xfrm>
            <a:off x="15285006" y="4338353"/>
            <a:ext cx="2006440" cy="2006440"/>
          </a:xfrm>
          <a:custGeom>
            <a:avLst/>
            <a:gdLst/>
            <a:ahLst/>
            <a:cxnLst/>
            <a:rect l="l" t="t" r="r" b="b"/>
            <a:pathLst>
              <a:path w="2006440" h="2006440">
                <a:moveTo>
                  <a:pt x="0" y="0"/>
                </a:moveTo>
                <a:lnTo>
                  <a:pt x="2006440" y="0"/>
                </a:lnTo>
                <a:lnTo>
                  <a:pt x="2006440" y="2006440"/>
                </a:lnTo>
                <a:lnTo>
                  <a:pt x="0" y="200644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9" name="Freeform 9"/>
          <p:cNvSpPr/>
          <p:nvPr/>
        </p:nvSpPr>
        <p:spPr>
          <a:xfrm>
            <a:off x="1491151" y="5067020"/>
            <a:ext cx="288427" cy="779533"/>
          </a:xfrm>
          <a:custGeom>
            <a:avLst/>
            <a:gdLst/>
            <a:ahLst/>
            <a:cxnLst/>
            <a:rect l="l" t="t" r="r" b="b"/>
            <a:pathLst>
              <a:path w="288427" h="779533">
                <a:moveTo>
                  <a:pt x="0" y="0"/>
                </a:moveTo>
                <a:lnTo>
                  <a:pt x="288427" y="0"/>
                </a:lnTo>
                <a:lnTo>
                  <a:pt x="288427" y="779534"/>
                </a:lnTo>
                <a:lnTo>
                  <a:pt x="0" y="77953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10" name="Freeform 10"/>
          <p:cNvSpPr/>
          <p:nvPr/>
        </p:nvSpPr>
        <p:spPr>
          <a:xfrm>
            <a:off x="4878335" y="5023365"/>
            <a:ext cx="541778" cy="866844"/>
          </a:xfrm>
          <a:custGeom>
            <a:avLst/>
            <a:gdLst/>
            <a:ahLst/>
            <a:cxnLst/>
            <a:rect l="l" t="t" r="r" b="b"/>
            <a:pathLst>
              <a:path w="541778" h="866844">
                <a:moveTo>
                  <a:pt x="0" y="0"/>
                </a:moveTo>
                <a:lnTo>
                  <a:pt x="541777" y="0"/>
                </a:lnTo>
                <a:lnTo>
                  <a:pt x="541777" y="866844"/>
                </a:lnTo>
                <a:lnTo>
                  <a:pt x="0" y="86684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11" name="Freeform 11"/>
          <p:cNvSpPr/>
          <p:nvPr/>
        </p:nvSpPr>
        <p:spPr>
          <a:xfrm>
            <a:off x="8396261" y="5023091"/>
            <a:ext cx="625380" cy="909644"/>
          </a:xfrm>
          <a:custGeom>
            <a:avLst/>
            <a:gdLst/>
            <a:ahLst/>
            <a:cxnLst/>
            <a:rect l="l" t="t" r="r" b="b"/>
            <a:pathLst>
              <a:path w="625380" h="909644">
                <a:moveTo>
                  <a:pt x="0" y="0"/>
                </a:moveTo>
                <a:lnTo>
                  <a:pt x="625381" y="0"/>
                </a:lnTo>
                <a:lnTo>
                  <a:pt x="625381" y="909644"/>
                </a:lnTo>
                <a:lnTo>
                  <a:pt x="0" y="909644"/>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12" name="Freeform 12"/>
          <p:cNvSpPr/>
          <p:nvPr/>
        </p:nvSpPr>
        <p:spPr>
          <a:xfrm>
            <a:off x="11735764" y="4886751"/>
            <a:ext cx="625380" cy="909644"/>
          </a:xfrm>
          <a:custGeom>
            <a:avLst/>
            <a:gdLst/>
            <a:ahLst/>
            <a:cxnLst/>
            <a:rect l="l" t="t" r="r" b="b"/>
            <a:pathLst>
              <a:path w="625380" h="909644">
                <a:moveTo>
                  <a:pt x="0" y="0"/>
                </a:moveTo>
                <a:lnTo>
                  <a:pt x="625380" y="0"/>
                </a:lnTo>
                <a:lnTo>
                  <a:pt x="625380" y="909644"/>
                </a:lnTo>
                <a:lnTo>
                  <a:pt x="0" y="90964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endParaRPr lang="en-US"/>
          </a:p>
        </p:txBody>
      </p:sp>
      <p:sp>
        <p:nvSpPr>
          <p:cNvPr id="13" name="Freeform 13"/>
          <p:cNvSpPr/>
          <p:nvPr/>
        </p:nvSpPr>
        <p:spPr>
          <a:xfrm>
            <a:off x="16035232" y="4853750"/>
            <a:ext cx="604778" cy="879676"/>
          </a:xfrm>
          <a:custGeom>
            <a:avLst/>
            <a:gdLst/>
            <a:ahLst/>
            <a:cxnLst/>
            <a:rect l="l" t="t" r="r" b="b"/>
            <a:pathLst>
              <a:path w="604778" h="879676">
                <a:moveTo>
                  <a:pt x="0" y="0"/>
                </a:moveTo>
                <a:lnTo>
                  <a:pt x="604777" y="0"/>
                </a:lnTo>
                <a:lnTo>
                  <a:pt x="604777" y="879676"/>
                </a:lnTo>
                <a:lnTo>
                  <a:pt x="0" y="879676"/>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txBody>
          <a:bodyPr/>
          <a:lstStyle/>
          <a:p>
            <a:endParaRPr lang="en-US"/>
          </a:p>
        </p:txBody>
      </p:sp>
      <p:sp>
        <p:nvSpPr>
          <p:cNvPr id="14" name="TextBox 14"/>
          <p:cNvSpPr txBox="1"/>
          <p:nvPr/>
        </p:nvSpPr>
        <p:spPr>
          <a:xfrm>
            <a:off x="222400" y="2491312"/>
            <a:ext cx="3680427" cy="1727465"/>
          </a:xfrm>
          <a:prstGeom prst="rect">
            <a:avLst/>
          </a:prstGeom>
        </p:spPr>
        <p:txBody>
          <a:bodyPr lIns="0" tIns="0" rIns="0" bIns="0" rtlCol="0" anchor="t">
            <a:spAutoFit/>
          </a:bodyPr>
          <a:lstStyle/>
          <a:p>
            <a:pPr algn="ctr">
              <a:lnSpc>
                <a:spcPts val="3499"/>
              </a:lnSpc>
            </a:pPr>
            <a:r>
              <a:rPr lang="en-US" sz="2499" dirty="0">
                <a:solidFill>
                  <a:srgbClr val="FFFFFF"/>
                </a:solidFill>
                <a:latin typeface="Montserrat"/>
                <a:ea typeface="Montserrat"/>
                <a:cs typeface="Montserrat"/>
                <a:sym typeface="Montserrat"/>
              </a:rPr>
              <a:t>Briefly state your current job title and the company you work for</a:t>
            </a:r>
          </a:p>
        </p:txBody>
      </p:sp>
      <p:sp>
        <p:nvSpPr>
          <p:cNvPr id="15" name="TextBox 15"/>
          <p:cNvSpPr txBox="1"/>
          <p:nvPr/>
        </p:nvSpPr>
        <p:spPr>
          <a:xfrm>
            <a:off x="6198352" y="2053096"/>
            <a:ext cx="5381579" cy="2165681"/>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FFFFFF"/>
                </a:solidFill>
                <a:latin typeface="Montserrat"/>
                <a:ea typeface="Montserrat"/>
                <a:cs typeface="Montserrat"/>
                <a:sym typeface="Montserrat"/>
              </a:rPr>
              <a:t>Describe your main tasks and responsibilities in detail</a:t>
            </a:r>
          </a:p>
          <a:p>
            <a:pPr marL="539748" lvl="1" indent="-269874" algn="l">
              <a:lnSpc>
                <a:spcPts val="3499"/>
              </a:lnSpc>
              <a:buFont typeface="Arial"/>
              <a:buChar char="•"/>
            </a:pPr>
            <a:r>
              <a:rPr lang="en-US" sz="2499">
                <a:solidFill>
                  <a:srgbClr val="FFFFFF"/>
                </a:solidFill>
                <a:latin typeface="Montserrat"/>
                <a:ea typeface="Montserrat"/>
                <a:cs typeface="Montserrat"/>
                <a:sym typeface="Montserrat"/>
              </a:rPr>
              <a:t>Emphasize any problem-solving or decision-making aspects</a:t>
            </a:r>
          </a:p>
        </p:txBody>
      </p:sp>
      <p:sp>
        <p:nvSpPr>
          <p:cNvPr id="16" name="TextBox 16"/>
          <p:cNvSpPr txBox="1"/>
          <p:nvPr/>
        </p:nvSpPr>
        <p:spPr>
          <a:xfrm>
            <a:off x="4146004" y="6818207"/>
            <a:ext cx="6173104" cy="2603897"/>
          </a:xfrm>
          <a:prstGeom prst="rect">
            <a:avLst/>
          </a:prstGeom>
        </p:spPr>
        <p:txBody>
          <a:bodyPr lIns="0" tIns="0" rIns="0" bIns="0" rtlCol="0" anchor="t">
            <a:spAutoFit/>
          </a:bodyPr>
          <a:lstStyle/>
          <a:p>
            <a:pPr marL="539748" lvl="1" indent="-269874" algn="l">
              <a:lnSpc>
                <a:spcPts val="3499"/>
              </a:lnSpc>
              <a:buFont typeface="Arial"/>
              <a:buChar char="•"/>
            </a:pPr>
            <a:r>
              <a:rPr lang="en-US" sz="2499">
                <a:solidFill>
                  <a:srgbClr val="FFFFFF"/>
                </a:solidFill>
                <a:latin typeface="Montserrat"/>
                <a:ea typeface="Montserrat"/>
                <a:cs typeface="Montserrat"/>
                <a:sym typeface="Montserrat"/>
              </a:rPr>
              <a:t>Outline the key activities you engage in throughout your day.</a:t>
            </a:r>
          </a:p>
          <a:p>
            <a:pPr marL="539748" lvl="1" indent="-269874" algn="l">
              <a:lnSpc>
                <a:spcPts val="3499"/>
              </a:lnSpc>
              <a:buFont typeface="Arial"/>
              <a:buChar char="•"/>
            </a:pPr>
            <a:r>
              <a:rPr lang="en-US" sz="2499">
                <a:solidFill>
                  <a:srgbClr val="FFFFFF"/>
                </a:solidFill>
                <a:latin typeface="Montserrat"/>
                <a:ea typeface="Montserrat"/>
                <a:cs typeface="Montserrat"/>
                <a:sym typeface="Montserrat"/>
              </a:rPr>
              <a:t>Mention any specific routines or practices that are crucial to your work.</a:t>
            </a:r>
          </a:p>
          <a:p>
            <a:pPr algn="l">
              <a:lnSpc>
                <a:spcPts val="3499"/>
              </a:lnSpc>
            </a:pPr>
            <a:endParaRPr lang="en-US" sz="2499">
              <a:solidFill>
                <a:srgbClr val="FFFFFF"/>
              </a:solidFill>
              <a:latin typeface="Montserrat"/>
              <a:ea typeface="Montserrat"/>
              <a:cs typeface="Montserrat"/>
              <a:sym typeface="Montserrat"/>
            </a:endParaRPr>
          </a:p>
        </p:txBody>
      </p:sp>
      <p:sp>
        <p:nvSpPr>
          <p:cNvPr id="17" name="TextBox 17"/>
          <p:cNvSpPr txBox="1"/>
          <p:nvPr/>
        </p:nvSpPr>
        <p:spPr>
          <a:xfrm>
            <a:off x="10946482" y="6724418"/>
            <a:ext cx="5943925" cy="2533882"/>
          </a:xfrm>
          <a:prstGeom prst="rect">
            <a:avLst/>
          </a:prstGeom>
        </p:spPr>
        <p:txBody>
          <a:bodyPr lIns="0" tIns="0" rIns="0" bIns="0" rtlCol="0" anchor="t">
            <a:spAutoFit/>
          </a:bodyPr>
          <a:lstStyle/>
          <a:p>
            <a:pPr marL="539751" lvl="1" indent="-269876" algn="l">
              <a:lnSpc>
                <a:spcPts val="2850"/>
              </a:lnSpc>
              <a:buFont typeface="Arial"/>
              <a:buChar char="•"/>
            </a:pPr>
            <a:r>
              <a:rPr lang="en-US" sz="2500">
                <a:solidFill>
                  <a:srgbClr val="FFFFFF"/>
                </a:solidFill>
                <a:latin typeface="Montserrat"/>
                <a:ea typeface="Montserrat"/>
                <a:cs typeface="Montserrat"/>
                <a:sym typeface="Montserrat"/>
              </a:rPr>
              <a:t>Discuss how you interact with team members and other departments.</a:t>
            </a:r>
          </a:p>
          <a:p>
            <a:pPr marL="539751" lvl="1" indent="-269876" algn="l">
              <a:lnSpc>
                <a:spcPts val="2850"/>
              </a:lnSpc>
              <a:buFont typeface="Arial"/>
              <a:buChar char="•"/>
            </a:pPr>
            <a:r>
              <a:rPr lang="en-US" sz="2500">
                <a:solidFill>
                  <a:srgbClr val="FFFFFF"/>
                </a:solidFill>
                <a:latin typeface="Montserrat"/>
                <a:ea typeface="Montserrat"/>
                <a:cs typeface="Montserrat"/>
                <a:sym typeface="Montserrat"/>
              </a:rPr>
              <a:t>Mention any meetings or collaborative efforts you participate in.</a:t>
            </a:r>
          </a:p>
          <a:p>
            <a:pPr algn="l">
              <a:lnSpc>
                <a:spcPts val="2850"/>
              </a:lnSpc>
            </a:pPr>
            <a:endParaRPr lang="en-US" sz="2500">
              <a:solidFill>
                <a:srgbClr val="FFFFFF"/>
              </a:solidFill>
              <a:latin typeface="Montserrat"/>
              <a:ea typeface="Montserrat"/>
              <a:cs typeface="Montserrat"/>
              <a:sym typeface="Montserrat"/>
            </a:endParaRPr>
          </a:p>
        </p:txBody>
      </p:sp>
      <p:sp>
        <p:nvSpPr>
          <p:cNvPr id="18" name="TextBox 18"/>
          <p:cNvSpPr txBox="1"/>
          <p:nvPr/>
        </p:nvSpPr>
        <p:spPr>
          <a:xfrm>
            <a:off x="4194205" y="509082"/>
            <a:ext cx="9389874" cy="654873"/>
          </a:xfrm>
          <a:prstGeom prst="rect">
            <a:avLst/>
          </a:prstGeom>
        </p:spPr>
        <p:txBody>
          <a:bodyPr lIns="0" tIns="0" rIns="0" bIns="0" rtlCol="0" anchor="t">
            <a:spAutoFit/>
          </a:bodyPr>
          <a:lstStyle/>
          <a:p>
            <a:pPr algn="ctr">
              <a:lnSpc>
                <a:spcPts val="5208"/>
              </a:lnSpc>
            </a:pPr>
            <a:r>
              <a:rPr lang="en-US" sz="4200">
                <a:solidFill>
                  <a:srgbClr val="00B9EF"/>
                </a:solidFill>
                <a:latin typeface="Poppins Bold"/>
                <a:ea typeface="Poppins Bold"/>
                <a:cs typeface="Poppins Bold"/>
                <a:sym typeface="Poppins Bold"/>
              </a:rPr>
              <a:t>STRUCTURING ANSWER</a:t>
            </a:r>
          </a:p>
        </p:txBody>
      </p:sp>
      <p:sp>
        <p:nvSpPr>
          <p:cNvPr id="19" name="TextBox 19"/>
          <p:cNvSpPr txBox="1"/>
          <p:nvPr/>
        </p:nvSpPr>
        <p:spPr>
          <a:xfrm>
            <a:off x="13872129" y="2754104"/>
            <a:ext cx="4182713" cy="1032073"/>
          </a:xfrm>
          <a:prstGeom prst="rect">
            <a:avLst/>
          </a:prstGeom>
        </p:spPr>
        <p:txBody>
          <a:bodyPr lIns="0" tIns="0" rIns="0" bIns="0" rtlCol="0" anchor="t">
            <a:spAutoFit/>
          </a:bodyPr>
          <a:lstStyle/>
          <a:p>
            <a:pPr algn="ctr">
              <a:lnSpc>
                <a:spcPts val="2749"/>
              </a:lnSpc>
              <a:spcBef>
                <a:spcPct val="0"/>
              </a:spcBef>
            </a:pPr>
            <a:r>
              <a:rPr lang="en-US" sz="2499">
                <a:solidFill>
                  <a:srgbClr val="FFFFFF"/>
                </a:solidFill>
                <a:latin typeface="Montserrat"/>
                <a:ea typeface="Montserrat"/>
                <a:cs typeface="Montserrat"/>
                <a:sym typeface="Montserrat"/>
              </a:rPr>
              <a:t>Share how you reflect on your work and plan for the future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1909060"/>
            <a:ext cx="16856018" cy="7305676"/>
          </a:xfrm>
          <a:prstGeom prst="rect">
            <a:avLst/>
          </a:prstGeom>
        </p:spPr>
        <p:txBody>
          <a:bodyPr lIns="0" tIns="0" rIns="0" bIns="0" rtlCol="0" anchor="t">
            <a:spAutoFit/>
          </a:bodyPr>
          <a:lstStyle/>
          <a:p>
            <a:pPr algn="just">
              <a:lnSpc>
                <a:spcPts val="4199"/>
              </a:lnSpc>
            </a:pPr>
            <a:endParaRPr/>
          </a:p>
          <a:p>
            <a:pPr algn="just">
              <a:lnSpc>
                <a:spcPts val="4199"/>
              </a:lnSpc>
            </a:pPr>
            <a:r>
              <a:rPr lang="en-US" sz="2999" b="1">
                <a:solidFill>
                  <a:srgbClr val="3EDAD8"/>
                </a:solidFill>
                <a:latin typeface="Montserrat Bold"/>
                <a:ea typeface="Montserrat Bold"/>
                <a:cs typeface="Montserrat Bold"/>
                <a:sym typeface="Montserrat Bold"/>
              </a:rPr>
              <a:t>Introduction &amp; Daily Routine Overview</a:t>
            </a:r>
          </a:p>
          <a:p>
            <a:pPr algn="just">
              <a:lnSpc>
                <a:spcPts val="4199"/>
              </a:lnSpc>
            </a:pPr>
            <a:r>
              <a:rPr lang="en-US" sz="2999">
                <a:solidFill>
                  <a:srgbClr val="FFFFFF"/>
                </a:solidFill>
                <a:latin typeface="Montserrat"/>
                <a:ea typeface="Montserrat"/>
                <a:cs typeface="Montserrat"/>
                <a:sym typeface="Montserrat"/>
              </a:rPr>
              <a:t> I’m currently a backend developer at XYZ Company, where I focus on optimizing our web services and ensuring system reliability. My day typically starts by reviewing system metrics and any alerts that came in overnight. This initial check is crucial for identifying any potential issues before they affect our users.</a:t>
            </a:r>
          </a:p>
          <a:p>
            <a:pPr algn="just">
              <a:lnSpc>
                <a:spcPts val="4199"/>
              </a:lnSpc>
            </a:pPr>
            <a:endParaRPr lang="en-US" sz="2999">
              <a:solidFill>
                <a:srgbClr val="FFFFFF"/>
              </a:solidFill>
              <a:latin typeface="Montserrat"/>
              <a:ea typeface="Montserrat"/>
              <a:cs typeface="Montserrat"/>
              <a:sym typeface="Montserrat"/>
            </a:endParaRPr>
          </a:p>
          <a:p>
            <a:pPr algn="just">
              <a:lnSpc>
                <a:spcPts val="4199"/>
              </a:lnSpc>
            </a:pPr>
            <a:r>
              <a:rPr lang="en-US" sz="2999" b="1">
                <a:solidFill>
                  <a:srgbClr val="CB6CE6"/>
                </a:solidFill>
                <a:latin typeface="Montserrat Bold"/>
                <a:ea typeface="Montserrat Bold"/>
                <a:cs typeface="Montserrat Bold"/>
                <a:sym typeface="Montserrat Bold"/>
              </a:rPr>
              <a:t>Highlight Key Responsibilities</a:t>
            </a:r>
          </a:p>
          <a:p>
            <a:pPr algn="just">
              <a:lnSpc>
                <a:spcPts val="4199"/>
              </a:lnSpc>
            </a:pPr>
            <a:r>
              <a:rPr lang="en-US" sz="2999">
                <a:solidFill>
                  <a:srgbClr val="FFFFFF"/>
                </a:solidFill>
                <a:latin typeface="Montserrat"/>
                <a:ea typeface="Montserrat"/>
                <a:cs typeface="Montserrat"/>
                <a:sym typeface="Montserrat"/>
              </a:rPr>
              <a:t>After my morning review, I prioritize my tasks based on urgency. A significant part of my day involves coding, where I work on new features or enhancements. For instance, I recently developed a new API endpoint that improved data retrieval speed by 25%, which directly benefits our client applications.  </a:t>
            </a:r>
          </a:p>
          <a:p>
            <a:pPr algn="just">
              <a:lnSpc>
                <a:spcPts val="4199"/>
              </a:lnSpc>
            </a:pPr>
            <a:endParaRPr lang="en-US" sz="2999">
              <a:solidFill>
                <a:srgbClr val="FFFFFF"/>
              </a:solidFill>
              <a:latin typeface="Montserrat"/>
              <a:ea typeface="Montserrat"/>
              <a:cs typeface="Montserrat"/>
              <a:sym typeface="Montserrat"/>
            </a:endParaRPr>
          </a:p>
          <a:p>
            <a:pPr algn="just">
              <a:lnSpc>
                <a:spcPts val="4199"/>
              </a:lnSpc>
            </a:pPr>
            <a:endParaRPr lang="en-US" sz="2999">
              <a:solidFill>
                <a:srgbClr val="FFFFFF"/>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5232025"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SAMPLE ANSWER</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594397" y="2091451"/>
            <a:ext cx="16856018" cy="6781801"/>
          </a:xfrm>
          <a:prstGeom prst="rect">
            <a:avLst/>
          </a:prstGeom>
        </p:spPr>
        <p:txBody>
          <a:bodyPr lIns="0" tIns="0" rIns="0" bIns="0" rtlCol="0" anchor="t">
            <a:spAutoFit/>
          </a:bodyPr>
          <a:lstStyle/>
          <a:p>
            <a:pPr algn="just">
              <a:lnSpc>
                <a:spcPts val="4199"/>
              </a:lnSpc>
            </a:pPr>
            <a:endParaRPr/>
          </a:p>
          <a:p>
            <a:pPr algn="just">
              <a:lnSpc>
                <a:spcPts val="4199"/>
              </a:lnSpc>
            </a:pPr>
            <a:r>
              <a:rPr lang="en-US" sz="2999" b="1">
                <a:solidFill>
                  <a:srgbClr val="95C740"/>
                </a:solidFill>
                <a:latin typeface="Montserrat Bold"/>
                <a:ea typeface="Montserrat Bold"/>
                <a:cs typeface="Montserrat Bold"/>
                <a:sym typeface="Montserrat Bold"/>
              </a:rPr>
              <a:t>Collaboration, Communication, Reflection and Improvement</a:t>
            </a:r>
          </a:p>
          <a:p>
            <a:pPr algn="just">
              <a:lnSpc>
                <a:spcPts val="4199"/>
              </a:lnSpc>
            </a:pPr>
            <a:r>
              <a:rPr lang="en-US" sz="2999">
                <a:solidFill>
                  <a:srgbClr val="FFFFFF"/>
                </a:solidFill>
                <a:latin typeface="Montserrat"/>
                <a:ea typeface="Montserrat"/>
                <a:cs typeface="Montserrat"/>
                <a:sym typeface="Montserrat"/>
              </a:rPr>
              <a:t>I also participate in daily stand-up meetings with my team. During these meetings, we discuss our progress, any roadblocks we’re facing, and our plans for the day. This collaboration helps ensure that we are all aligned and supports our goal of delivering high-quality software on time.  At the end of the day, I take some time to reflect on what I accomplished. I review any feedback from code reviews and plan my tasks for the next day. Overall, my daily work focuses on delivering reliable backend services and collaborating effectively with my team.</a:t>
            </a:r>
          </a:p>
          <a:p>
            <a:pPr algn="just">
              <a:lnSpc>
                <a:spcPts val="4199"/>
              </a:lnSpc>
            </a:pPr>
            <a:endParaRPr lang="en-US" sz="2999">
              <a:solidFill>
                <a:srgbClr val="FFFFFF"/>
              </a:solidFill>
              <a:latin typeface="Montserrat"/>
              <a:ea typeface="Montserrat"/>
              <a:cs typeface="Montserrat"/>
              <a:sym typeface="Montserrat"/>
            </a:endParaRPr>
          </a:p>
          <a:p>
            <a:pPr algn="just">
              <a:lnSpc>
                <a:spcPts val="4199"/>
              </a:lnSpc>
            </a:pPr>
            <a:endParaRPr lang="en-US" sz="2999">
              <a:solidFill>
                <a:srgbClr val="FFFFFF"/>
              </a:solidFill>
              <a:latin typeface="Montserrat"/>
              <a:ea typeface="Montserrat"/>
              <a:cs typeface="Montserrat"/>
              <a:sym typeface="Montserrat"/>
            </a:endParaRPr>
          </a:p>
          <a:p>
            <a:pPr algn="just">
              <a:lnSpc>
                <a:spcPts val="4199"/>
              </a:lnSpc>
            </a:pPr>
            <a:endParaRPr lang="en-US" sz="2999">
              <a:solidFill>
                <a:srgbClr val="FFFFFF"/>
              </a:solidFill>
              <a:latin typeface="Montserrat"/>
              <a:ea typeface="Montserrat"/>
              <a:cs typeface="Montserrat"/>
              <a:sym typeface="Montserrat"/>
            </a:endParaRPr>
          </a:p>
          <a:p>
            <a:pPr algn="just">
              <a:lnSpc>
                <a:spcPts val="4199"/>
              </a:lnSpc>
            </a:pPr>
            <a:endParaRPr lang="en-US" sz="2999">
              <a:solidFill>
                <a:srgbClr val="FFFFFF"/>
              </a:solidFill>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1566193"/>
            <a:ext cx="16856018" cy="8877301"/>
          </a:xfrm>
          <a:prstGeom prst="rect">
            <a:avLst/>
          </a:prstGeom>
        </p:spPr>
        <p:txBody>
          <a:bodyPr lIns="0" tIns="0" rIns="0" bIns="0" rtlCol="0" anchor="t">
            <a:spAutoFit/>
          </a:bodyPr>
          <a:lstStyle/>
          <a:p>
            <a:pPr algn="l">
              <a:lnSpc>
                <a:spcPts val="4199"/>
              </a:lnSpc>
            </a:pPr>
            <a:r>
              <a:rPr lang="en-US" sz="2999" b="1" dirty="0">
                <a:solidFill>
                  <a:srgbClr val="CB6CE6"/>
                </a:solidFill>
                <a:latin typeface="Montserrat Bold"/>
                <a:ea typeface="Montserrat Bold"/>
                <a:cs typeface="Montserrat Bold"/>
                <a:sym typeface="Montserrat Bold"/>
              </a:rPr>
              <a:t>1. Introduction</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 currently work as a </a:t>
            </a:r>
            <a:r>
              <a:rPr lang="en-US" sz="2999" dirty="0">
                <a:solidFill>
                  <a:srgbClr val="95C740"/>
                </a:solidFill>
                <a:latin typeface="Montserrat"/>
                <a:ea typeface="Montserrat"/>
                <a:cs typeface="Montserrat"/>
                <a:sym typeface="Montserrat"/>
              </a:rPr>
              <a:t>[Your Job Title]</a:t>
            </a:r>
            <a:r>
              <a:rPr lang="en-US" sz="2999" dirty="0">
                <a:solidFill>
                  <a:srgbClr val="FCFCFC"/>
                </a:solidFill>
                <a:latin typeface="Montserrat"/>
                <a:ea typeface="Montserrat"/>
                <a:cs typeface="Montserrat"/>
                <a:sym typeface="Montserrat"/>
              </a:rPr>
              <a:t> at </a:t>
            </a:r>
            <a:r>
              <a:rPr lang="en-US" sz="2999" dirty="0">
                <a:solidFill>
                  <a:srgbClr val="95C740"/>
                </a:solidFill>
                <a:latin typeface="Montserrat"/>
                <a:ea typeface="Montserrat"/>
                <a:cs typeface="Montserrat"/>
                <a:sym typeface="Montserrat"/>
              </a:rPr>
              <a:t>[Company Name]</a:t>
            </a:r>
            <a:r>
              <a:rPr lang="en-US" sz="2999" dirty="0">
                <a:solidFill>
                  <a:srgbClr val="FCFCFC"/>
                </a:solidFill>
                <a:latin typeface="Montserrat"/>
                <a:ea typeface="Montserrat"/>
                <a:cs typeface="Montserrat"/>
                <a:sym typeface="Montserrat"/>
              </a:rPr>
              <a:t>, where I focus on </a:t>
            </a:r>
            <a:r>
              <a:rPr lang="en-US" sz="2999" dirty="0">
                <a:solidFill>
                  <a:srgbClr val="95C740"/>
                </a:solidFill>
                <a:latin typeface="Montserrat"/>
                <a:ea typeface="Montserrat"/>
                <a:cs typeface="Montserrat"/>
                <a:sym typeface="Montserrat"/>
              </a:rPr>
              <a:t>[Brief Overview of Your Role]</a:t>
            </a:r>
            <a:r>
              <a:rPr lang="en-US" sz="2999" dirty="0">
                <a:solidFill>
                  <a:srgbClr val="FCFCFC"/>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In my role as a </a:t>
            </a:r>
            <a:r>
              <a:rPr lang="en-US" sz="2999" dirty="0">
                <a:solidFill>
                  <a:srgbClr val="95C740"/>
                </a:solidFill>
                <a:latin typeface="Montserrat"/>
                <a:ea typeface="Montserrat"/>
                <a:cs typeface="Montserrat"/>
                <a:sym typeface="Montserrat"/>
              </a:rPr>
              <a:t>[Your Job Title]</a:t>
            </a:r>
            <a:r>
              <a:rPr lang="en-US" sz="2999" dirty="0">
                <a:solidFill>
                  <a:srgbClr val="FCFCFC"/>
                </a:solidFill>
                <a:latin typeface="Montserrat"/>
                <a:ea typeface="Montserrat"/>
                <a:cs typeface="Montserrat"/>
                <a:sym typeface="Montserrat"/>
              </a:rPr>
              <a:t>, I am responsible for [</a:t>
            </a:r>
            <a:r>
              <a:rPr lang="en-US" sz="2999" dirty="0">
                <a:solidFill>
                  <a:srgbClr val="95C740"/>
                </a:solidFill>
                <a:latin typeface="Montserrat"/>
                <a:ea typeface="Montserrat"/>
                <a:cs typeface="Montserrat"/>
                <a:sym typeface="Montserrat"/>
              </a:rPr>
              <a:t>Description of Your Responsibilities]</a:t>
            </a:r>
            <a:r>
              <a:rPr lang="en-US" sz="2999" dirty="0">
                <a:solidFill>
                  <a:srgbClr val="FCFCFC"/>
                </a:solidFill>
                <a:latin typeface="Montserrat"/>
                <a:ea typeface="Montserrat"/>
                <a:cs typeface="Montserrat"/>
                <a:sym typeface="Montserrat"/>
              </a:rPr>
              <a:t>.</a:t>
            </a:r>
          </a:p>
          <a:p>
            <a:pPr algn="l">
              <a:lnSpc>
                <a:spcPts val="4199"/>
              </a:lnSpc>
            </a:pPr>
            <a:endParaRPr lang="en-US" sz="2999" dirty="0">
              <a:solidFill>
                <a:srgbClr val="FCFCFC"/>
              </a:solidFill>
              <a:latin typeface="Montserrat"/>
              <a:ea typeface="Montserrat"/>
              <a:cs typeface="Montserrat"/>
              <a:sym typeface="Montserrat"/>
            </a:endParaRPr>
          </a:p>
          <a:p>
            <a:pPr algn="l">
              <a:lnSpc>
                <a:spcPts val="4199"/>
              </a:lnSpc>
            </a:pPr>
            <a:r>
              <a:rPr lang="en-US" sz="2999" b="1" dirty="0">
                <a:solidFill>
                  <a:srgbClr val="CB6CE6"/>
                </a:solidFill>
                <a:latin typeface="Montserrat Bold"/>
                <a:ea typeface="Montserrat Bold"/>
                <a:cs typeface="Montserrat Bold"/>
                <a:sym typeface="Montserrat Bold"/>
              </a:rPr>
              <a:t>2. Daily Routine Overview</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My day typically starts at</a:t>
            </a:r>
            <a:r>
              <a:rPr lang="en-US" sz="2999" dirty="0">
                <a:solidFill>
                  <a:srgbClr val="95C740"/>
                </a:solidFill>
                <a:latin typeface="Montserrat"/>
                <a:ea typeface="Montserrat"/>
                <a:cs typeface="Montserrat"/>
                <a:sym typeface="Montserrat"/>
              </a:rPr>
              <a:t> [Start Time]</a:t>
            </a:r>
            <a:r>
              <a:rPr lang="en-US" sz="2999" dirty="0">
                <a:solidFill>
                  <a:srgbClr val="FCFCFC"/>
                </a:solidFill>
                <a:latin typeface="Montserrat"/>
                <a:ea typeface="Montserrat"/>
                <a:cs typeface="Montserrat"/>
                <a:sym typeface="Montserrat"/>
              </a:rPr>
              <a:t>, when I </a:t>
            </a:r>
            <a:r>
              <a:rPr lang="en-US" sz="2999" dirty="0">
                <a:solidFill>
                  <a:srgbClr val="95C740"/>
                </a:solidFill>
                <a:latin typeface="Montserrat"/>
                <a:ea typeface="Montserrat"/>
                <a:cs typeface="Montserrat"/>
                <a:sym typeface="Montserrat"/>
              </a:rPr>
              <a:t>[Describe Initial Task or Routine]</a:t>
            </a:r>
            <a:r>
              <a:rPr lang="en-US" sz="2999" dirty="0">
                <a:solidFill>
                  <a:srgbClr val="FCFCFC"/>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 usually begin my work by </a:t>
            </a:r>
            <a:r>
              <a:rPr lang="en-US" sz="2999" dirty="0">
                <a:solidFill>
                  <a:srgbClr val="95C740"/>
                </a:solidFill>
                <a:latin typeface="Montserrat"/>
                <a:ea typeface="Montserrat"/>
                <a:cs typeface="Montserrat"/>
                <a:sym typeface="Montserrat"/>
              </a:rPr>
              <a:t>[Explain What You Do First Each Day]</a:t>
            </a:r>
            <a:r>
              <a:rPr lang="en-US" sz="2999" dirty="0">
                <a:solidFill>
                  <a:srgbClr val="FCFCFC"/>
                </a:solidFill>
                <a:latin typeface="Montserrat"/>
                <a:ea typeface="Montserrat"/>
                <a:cs typeface="Montserrat"/>
                <a:sym typeface="Montserrat"/>
              </a:rPr>
              <a:t>, which helps me </a:t>
            </a:r>
            <a:r>
              <a:rPr lang="en-US" sz="2999" dirty="0">
                <a:solidFill>
                  <a:srgbClr val="95C740"/>
                </a:solidFill>
                <a:latin typeface="Montserrat"/>
                <a:ea typeface="Montserrat"/>
                <a:cs typeface="Montserrat"/>
                <a:sym typeface="Montserrat"/>
              </a:rPr>
              <a:t>[Explain the Purpose]</a:t>
            </a:r>
            <a:r>
              <a:rPr lang="en-US" sz="2999" dirty="0">
                <a:solidFill>
                  <a:srgbClr val="FCFCFC"/>
                </a:solidFill>
                <a:latin typeface="Montserrat"/>
                <a:ea typeface="Montserrat"/>
                <a:cs typeface="Montserrat"/>
                <a:sym typeface="Montserrat"/>
              </a:rPr>
              <a:t>.</a:t>
            </a:r>
          </a:p>
          <a:p>
            <a:pPr algn="l">
              <a:lnSpc>
                <a:spcPts val="4199"/>
              </a:lnSpc>
            </a:pPr>
            <a:endParaRPr lang="en-US" sz="2999" dirty="0">
              <a:solidFill>
                <a:srgbClr val="FCFCFC"/>
              </a:solidFill>
              <a:latin typeface="Montserrat"/>
              <a:ea typeface="Montserrat"/>
              <a:cs typeface="Montserrat"/>
              <a:sym typeface="Montserrat"/>
            </a:endParaRPr>
          </a:p>
          <a:p>
            <a:pPr algn="l">
              <a:lnSpc>
                <a:spcPts val="4199"/>
              </a:lnSpc>
            </a:pPr>
            <a:r>
              <a:rPr lang="en-US" sz="2999" b="1" dirty="0">
                <a:solidFill>
                  <a:srgbClr val="CB6CE6"/>
                </a:solidFill>
                <a:latin typeface="Montserrat Bold"/>
                <a:ea typeface="Montserrat Bold"/>
                <a:cs typeface="Montserrat Bold"/>
                <a:sym typeface="Montserrat Bold"/>
              </a:rPr>
              <a:t>3. Highlight Key Responsibilities</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After my initial tasks, I focus on </a:t>
            </a:r>
            <a:r>
              <a:rPr lang="en-US" sz="2999" dirty="0">
                <a:solidFill>
                  <a:srgbClr val="95C740"/>
                </a:solidFill>
                <a:latin typeface="Montserrat"/>
                <a:ea typeface="Montserrat"/>
                <a:cs typeface="Montserrat"/>
                <a:sym typeface="Montserrat"/>
              </a:rPr>
              <a:t>[Describe Main Responsibilities or Tasks]</a:t>
            </a:r>
            <a:r>
              <a:rPr lang="en-US" sz="2999" dirty="0">
                <a:solidFill>
                  <a:srgbClr val="FCFCFC"/>
                </a:solidFill>
                <a:latin typeface="Montserrat"/>
                <a:ea typeface="Montserrat"/>
                <a:cs typeface="Montserrat"/>
                <a:sym typeface="Montserrat"/>
              </a:rPr>
              <a:t>. For example, I </a:t>
            </a:r>
            <a:r>
              <a:rPr lang="en-US" sz="2999" dirty="0">
                <a:solidFill>
                  <a:srgbClr val="95C740"/>
                </a:solidFill>
                <a:latin typeface="Montserrat"/>
                <a:ea typeface="Montserrat"/>
                <a:cs typeface="Montserrat"/>
                <a:sym typeface="Montserrat"/>
              </a:rPr>
              <a:t>[Specific Task or Project]</a:t>
            </a:r>
            <a:r>
              <a:rPr lang="en-US" sz="2999" dirty="0">
                <a:solidFill>
                  <a:srgbClr val="FCFCFC"/>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A significant part of my day is spent </a:t>
            </a:r>
            <a:r>
              <a:rPr lang="en-US" sz="2999" dirty="0">
                <a:solidFill>
                  <a:srgbClr val="95C740"/>
                </a:solidFill>
                <a:latin typeface="Montserrat"/>
                <a:ea typeface="Montserrat"/>
                <a:cs typeface="Montserrat"/>
                <a:sym typeface="Montserrat"/>
              </a:rPr>
              <a:t>[Explain Main Activities]</a:t>
            </a:r>
            <a:r>
              <a:rPr lang="en-US" sz="2999" dirty="0">
                <a:solidFill>
                  <a:srgbClr val="FCFCFC"/>
                </a:solidFill>
                <a:latin typeface="Montserrat"/>
                <a:ea typeface="Montserrat"/>
                <a:cs typeface="Montserrat"/>
                <a:sym typeface="Montserrat"/>
              </a:rPr>
              <a:t>, such as </a:t>
            </a:r>
            <a:r>
              <a:rPr lang="en-US" sz="2999" dirty="0">
                <a:solidFill>
                  <a:srgbClr val="95C740"/>
                </a:solidFill>
                <a:latin typeface="Montserrat"/>
                <a:ea typeface="Montserrat"/>
                <a:cs typeface="Montserrat"/>
                <a:sym typeface="Montserrat"/>
              </a:rPr>
              <a:t>[Give Examples of Specific Tasks]</a:t>
            </a:r>
            <a:r>
              <a:rPr lang="en-US" sz="2999" dirty="0">
                <a:solidFill>
                  <a:srgbClr val="FCFCFC"/>
                </a:solidFill>
                <a:latin typeface="Montserrat"/>
                <a:ea typeface="Montserrat"/>
                <a:cs typeface="Montserrat"/>
                <a:sym typeface="Montserrat"/>
              </a:rPr>
              <a:t>.</a:t>
            </a:r>
          </a:p>
          <a:p>
            <a:pPr algn="l">
              <a:lnSpc>
                <a:spcPts val="4199"/>
              </a:lnSpc>
            </a:pPr>
            <a:endParaRPr lang="en-US" sz="2999" dirty="0">
              <a:solidFill>
                <a:srgbClr val="FCFCFC"/>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2079675" y="749584"/>
            <a:ext cx="11088801" cy="596331"/>
          </a:xfrm>
          <a:prstGeom prst="rect">
            <a:avLst/>
          </a:prstGeom>
        </p:spPr>
        <p:txBody>
          <a:bodyPr lIns="0" tIns="0" rIns="0" bIns="0" rtlCol="0" anchor="t">
            <a:spAutoFit/>
          </a:bodyPr>
          <a:lstStyle/>
          <a:p>
            <a:pPr algn="just">
              <a:lnSpc>
                <a:spcPts val="4620"/>
              </a:lnSpc>
            </a:pPr>
            <a:r>
              <a:rPr lang="en-US" sz="4200">
                <a:solidFill>
                  <a:srgbClr val="00B9EF"/>
                </a:solidFill>
                <a:latin typeface="Poppins Bold"/>
                <a:ea typeface="Poppins Bold"/>
                <a:cs typeface="Poppins Bold"/>
                <a:sym typeface="Poppins Bold"/>
              </a:rPr>
              <a:t>SENTENCE STRUCTURE TEMPLATES</a:t>
            </a:r>
          </a:p>
        </p:txBody>
      </p:sp>
      <p:sp>
        <p:nvSpPr>
          <p:cNvPr id="3" name="Freeform 3"/>
          <p:cNvSpPr/>
          <p:nvPr/>
        </p:nvSpPr>
        <p:spPr>
          <a:xfrm>
            <a:off x="467974" y="467974"/>
            <a:ext cx="1121451" cy="1121451"/>
          </a:xfrm>
          <a:custGeom>
            <a:avLst/>
            <a:gdLst/>
            <a:ahLst/>
            <a:cxnLst/>
            <a:rect l="l" t="t" r="r" b="b"/>
            <a:pathLst>
              <a:path w="1121451" h="1121451">
                <a:moveTo>
                  <a:pt x="0" y="0"/>
                </a:moveTo>
                <a:lnTo>
                  <a:pt x="1121452" y="0"/>
                </a:lnTo>
                <a:lnTo>
                  <a:pt x="1121452" y="1121452"/>
                </a:lnTo>
                <a:lnTo>
                  <a:pt x="0" y="11214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4" name="TextBox 4"/>
          <p:cNvSpPr txBox="1"/>
          <p:nvPr/>
        </p:nvSpPr>
        <p:spPr>
          <a:xfrm>
            <a:off x="715991" y="2012451"/>
            <a:ext cx="16856018" cy="7829551"/>
          </a:xfrm>
          <a:prstGeom prst="rect">
            <a:avLst/>
          </a:prstGeom>
        </p:spPr>
        <p:txBody>
          <a:bodyPr lIns="0" tIns="0" rIns="0" bIns="0" rtlCol="0" anchor="t">
            <a:spAutoFit/>
          </a:bodyPr>
          <a:lstStyle/>
          <a:p>
            <a:pPr algn="l">
              <a:lnSpc>
                <a:spcPts val="4199"/>
              </a:lnSpc>
            </a:pPr>
            <a:r>
              <a:rPr lang="en-US" sz="2999" b="1" dirty="0">
                <a:solidFill>
                  <a:srgbClr val="CB6CE6"/>
                </a:solidFill>
                <a:latin typeface="Montserrat Bold"/>
                <a:ea typeface="Montserrat Bold"/>
                <a:cs typeface="Montserrat Bold"/>
                <a:sym typeface="Montserrat Bold"/>
              </a:rPr>
              <a:t>4. Collaboration and Communication</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 participate in [</a:t>
            </a:r>
            <a:r>
              <a:rPr lang="en-US" sz="2999" dirty="0">
                <a:solidFill>
                  <a:srgbClr val="95C740"/>
                </a:solidFill>
                <a:latin typeface="Montserrat"/>
                <a:ea typeface="Montserrat"/>
                <a:cs typeface="Montserrat"/>
                <a:sym typeface="Montserrat"/>
              </a:rPr>
              <a:t>Type of Meetings or Collaboration],</a:t>
            </a:r>
            <a:r>
              <a:rPr lang="en-US" sz="2999" dirty="0">
                <a:solidFill>
                  <a:srgbClr val="FCFCFC"/>
                </a:solidFill>
                <a:latin typeface="Montserrat"/>
                <a:ea typeface="Montserrat"/>
                <a:cs typeface="Montserrat"/>
                <a:sym typeface="Montserrat"/>
              </a:rPr>
              <a:t> where we </a:t>
            </a:r>
            <a:r>
              <a:rPr lang="en-US" sz="2999" dirty="0">
                <a:solidFill>
                  <a:srgbClr val="95C740"/>
                </a:solidFill>
                <a:latin typeface="Montserrat"/>
                <a:ea typeface="Montserrat"/>
                <a:cs typeface="Montserrat"/>
                <a:sym typeface="Montserrat"/>
              </a:rPr>
              <a:t>[Explain Purpose of Meetings]</a:t>
            </a:r>
            <a:r>
              <a:rPr lang="en-US" sz="2999" dirty="0">
                <a:solidFill>
                  <a:srgbClr val="FCFCFC"/>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Collaboration is key, so I [</a:t>
            </a:r>
            <a:r>
              <a:rPr lang="en-US" sz="2999" dirty="0">
                <a:solidFill>
                  <a:srgbClr val="95C740"/>
                </a:solidFill>
                <a:latin typeface="Montserrat"/>
                <a:ea typeface="Montserrat"/>
                <a:cs typeface="Montserrat"/>
                <a:sym typeface="Montserrat"/>
              </a:rPr>
              <a:t>Describe How You Work with Others or Share Progress]</a:t>
            </a:r>
            <a:r>
              <a:rPr lang="en-US" sz="2999" dirty="0">
                <a:solidFill>
                  <a:srgbClr val="FCFCFC"/>
                </a:solidFill>
                <a:latin typeface="Montserrat"/>
                <a:ea typeface="Montserrat"/>
                <a:cs typeface="Montserrat"/>
                <a:sym typeface="Montserrat"/>
              </a:rPr>
              <a:t>.</a:t>
            </a:r>
          </a:p>
          <a:p>
            <a:pPr algn="l">
              <a:lnSpc>
                <a:spcPts val="4199"/>
              </a:lnSpc>
            </a:pPr>
            <a:r>
              <a:rPr lang="en-US" sz="2999" b="1" dirty="0">
                <a:solidFill>
                  <a:srgbClr val="CB6CE6"/>
                </a:solidFill>
                <a:latin typeface="Montserrat Bold"/>
                <a:ea typeface="Montserrat Bold"/>
                <a:cs typeface="Montserrat Bold"/>
                <a:sym typeface="Montserrat Bold"/>
              </a:rPr>
              <a:t>5. Reflection and Improvement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At the end of the day, I take time to </a:t>
            </a:r>
            <a:r>
              <a:rPr lang="en-US" sz="2999" dirty="0">
                <a:solidFill>
                  <a:srgbClr val="95C740"/>
                </a:solidFill>
                <a:latin typeface="Montserrat"/>
                <a:ea typeface="Montserrat"/>
                <a:cs typeface="Montserrat"/>
                <a:sym typeface="Montserrat"/>
              </a:rPr>
              <a:t>[Describe Reflective Practice]</a:t>
            </a:r>
            <a:r>
              <a:rPr lang="en-US" sz="2999" dirty="0">
                <a:solidFill>
                  <a:srgbClr val="FCFCFC"/>
                </a:solidFill>
                <a:latin typeface="Montserrat"/>
                <a:ea typeface="Montserrat"/>
                <a:cs typeface="Montserrat"/>
                <a:sym typeface="Montserrat"/>
              </a:rPr>
              <a:t>, which allows me to </a:t>
            </a:r>
            <a:r>
              <a:rPr lang="en-US" sz="2999" dirty="0">
                <a:solidFill>
                  <a:srgbClr val="95C740"/>
                </a:solidFill>
                <a:latin typeface="Montserrat"/>
                <a:ea typeface="Montserrat"/>
                <a:cs typeface="Montserrat"/>
                <a:sym typeface="Montserrat"/>
              </a:rPr>
              <a:t>[Explain the Benefit of This Practice]</a:t>
            </a:r>
            <a:r>
              <a:rPr lang="en-US" sz="2999" dirty="0">
                <a:solidFill>
                  <a:srgbClr val="FCFCFC"/>
                </a:solidFill>
                <a:latin typeface="Montserrat"/>
                <a:ea typeface="Montserrat"/>
                <a:cs typeface="Montserrat"/>
                <a:sym typeface="Montserrat"/>
              </a:rPr>
              <a:t>.</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 review my accomplishments and plan for the next day by </a:t>
            </a:r>
            <a:r>
              <a:rPr lang="en-US" sz="2999" dirty="0">
                <a:solidFill>
                  <a:srgbClr val="95C740"/>
                </a:solidFill>
                <a:latin typeface="Montserrat"/>
                <a:ea typeface="Montserrat"/>
                <a:cs typeface="Montserrat"/>
                <a:sym typeface="Montserrat"/>
              </a:rPr>
              <a:t>[Explain How You Prepare for Future Tasks]</a:t>
            </a:r>
            <a:r>
              <a:rPr lang="en-US" sz="2999" dirty="0">
                <a:solidFill>
                  <a:srgbClr val="FCFCFC"/>
                </a:solidFill>
                <a:latin typeface="Montserrat"/>
                <a:ea typeface="Montserrat"/>
                <a:cs typeface="Montserrat"/>
                <a:sym typeface="Montserrat"/>
              </a:rPr>
              <a:t>.</a:t>
            </a:r>
          </a:p>
          <a:p>
            <a:pPr algn="l">
              <a:lnSpc>
                <a:spcPts val="4199"/>
              </a:lnSpc>
            </a:pPr>
            <a:r>
              <a:rPr lang="en-US" sz="2999" b="1" dirty="0">
                <a:solidFill>
                  <a:srgbClr val="CB6CE6"/>
                </a:solidFill>
                <a:latin typeface="Montserrat Bold"/>
                <a:ea typeface="Montserrat Bold"/>
                <a:cs typeface="Montserrat Bold"/>
                <a:sym typeface="Montserrat Bold"/>
              </a:rPr>
              <a:t>6. Conclusion</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Overall, my daily work involves ................................. and contributes to [Explain How Your Role Aligns with Company Goals].</a:t>
            </a:r>
          </a:p>
          <a:p>
            <a:pPr marL="647695" lvl="1" indent="-323848" algn="l">
              <a:lnSpc>
                <a:spcPts val="4199"/>
              </a:lnSpc>
              <a:buFont typeface="Arial"/>
              <a:buChar char="•"/>
            </a:pPr>
            <a:r>
              <a:rPr lang="en-US" sz="2999" dirty="0">
                <a:solidFill>
                  <a:srgbClr val="FCFCFC"/>
                </a:solidFill>
                <a:latin typeface="Montserrat"/>
                <a:ea typeface="Montserrat"/>
                <a:cs typeface="Montserrat"/>
                <a:sym typeface="Montserrat"/>
              </a:rPr>
              <a:t>In summary, I focus on ............................................, which supports [Company's Mission or Values].</a:t>
            </a:r>
          </a:p>
          <a:p>
            <a:pPr algn="l">
              <a:lnSpc>
                <a:spcPts val="4199"/>
              </a:lnSpc>
            </a:pPr>
            <a:endParaRPr lang="en-US" sz="2999" dirty="0">
              <a:solidFill>
                <a:srgbClr val="FCFCFC"/>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197653"/>
            <a:ext cx="14013896" cy="1121451"/>
            <a:chOff x="0" y="0"/>
            <a:chExt cx="18685194" cy="1495269"/>
          </a:xfrm>
        </p:grpSpPr>
        <p:sp>
          <p:nvSpPr>
            <p:cNvPr id="3" name="TextBox 3"/>
            <p:cNvSpPr txBox="1"/>
            <p:nvPr/>
          </p:nvSpPr>
          <p:spPr>
            <a:xfrm>
              <a:off x="1954624" y="362780"/>
              <a:ext cx="16730571" cy="807808"/>
            </a:xfrm>
            <a:prstGeom prst="rect">
              <a:avLst/>
            </a:prstGeom>
          </p:spPr>
          <p:txBody>
            <a:bodyPr lIns="0" tIns="0" rIns="0" bIns="0" rtlCol="0" anchor="t">
              <a:spAutoFit/>
            </a:bodyPr>
            <a:lstStyle/>
            <a:p>
              <a:pPr algn="just">
                <a:lnSpc>
                  <a:spcPts val="4620"/>
                </a:lnSpc>
              </a:pPr>
              <a:r>
                <a:rPr lang="en-US" sz="4200" b="1">
                  <a:solidFill>
                    <a:srgbClr val="00B9EF"/>
                  </a:solidFill>
                  <a:latin typeface="Poppins Bold"/>
                  <a:ea typeface="Poppins Bold"/>
                  <a:cs typeface="Poppins Bold"/>
                  <a:sym typeface="Poppins Bold"/>
                </a:rPr>
                <a:t>Variations of "Tell me about your daily work</a:t>
              </a:r>
            </a:p>
          </p:txBody>
        </p:sp>
        <p:sp>
          <p:nvSpPr>
            <p:cNvPr id="4" name="Freeform 4"/>
            <p:cNvSpPr/>
            <p:nvPr/>
          </p:nvSpPr>
          <p:spPr>
            <a:xfrm>
              <a:off x="0" y="0"/>
              <a:ext cx="1495269" cy="1495269"/>
            </a:xfrm>
            <a:custGeom>
              <a:avLst/>
              <a:gdLst/>
              <a:ahLst/>
              <a:cxnLst/>
              <a:rect l="l" t="t" r="r" b="b"/>
              <a:pathLst>
                <a:path w="1495269" h="1495269">
                  <a:moveTo>
                    <a:pt x="0" y="0"/>
                  </a:moveTo>
                  <a:lnTo>
                    <a:pt x="1495269" y="0"/>
                  </a:lnTo>
                  <a:lnTo>
                    <a:pt x="1495269" y="1495269"/>
                  </a:lnTo>
                  <a:lnTo>
                    <a:pt x="0" y="14952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5" name="TextBox 5"/>
          <p:cNvSpPr txBox="1"/>
          <p:nvPr/>
        </p:nvSpPr>
        <p:spPr>
          <a:xfrm>
            <a:off x="2088625" y="2343005"/>
            <a:ext cx="13876966" cy="5953591"/>
          </a:xfrm>
          <a:prstGeom prst="rect">
            <a:avLst/>
          </a:prstGeom>
        </p:spPr>
        <p:txBody>
          <a:bodyPr lIns="0" tIns="0" rIns="0" bIns="0" rtlCol="0" anchor="t">
            <a:spAutoFit/>
          </a:bodyPr>
          <a:lstStyle/>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What does a typical day look like for you in your current role?</a:t>
            </a:r>
          </a:p>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Can you describe your daily responsibilities at work?</a:t>
            </a:r>
          </a:p>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What are your main tasks on a day-to-day basis?</a:t>
            </a:r>
          </a:p>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How do you usually structure your workday?</a:t>
            </a:r>
          </a:p>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What activities do you engage in during a typical workday?</a:t>
            </a:r>
          </a:p>
          <a:p>
            <a:pPr marL="647695" lvl="1" indent="-323848" algn="l">
              <a:lnSpc>
                <a:spcPts val="6899"/>
              </a:lnSpc>
              <a:buFont typeface="Arial"/>
              <a:buChar char="•"/>
            </a:pPr>
            <a:r>
              <a:rPr lang="en-US" sz="2999" dirty="0">
                <a:solidFill>
                  <a:srgbClr val="FCFCFC"/>
                </a:solidFill>
                <a:latin typeface="Montserrat"/>
                <a:ea typeface="Montserrat"/>
                <a:cs typeface="Montserrat"/>
                <a:sym typeface="Montserrat"/>
              </a:rPr>
              <a:t>Can you walk me through your daily routine at work?</a:t>
            </a:r>
          </a:p>
          <a:p>
            <a:pPr algn="l">
              <a:lnSpc>
                <a:spcPts val="6899"/>
              </a:lnSpc>
            </a:pPr>
            <a:endParaRPr lang="en-US" sz="2999" dirty="0">
              <a:solidFill>
                <a:srgbClr val="FCFCFC"/>
              </a:solidFill>
              <a:latin typeface="Montserrat"/>
              <a:ea typeface="Montserrat"/>
              <a:cs typeface="Montserrat"/>
              <a:sym typeface="Montserra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6188994" y="7365830"/>
            <a:ext cx="5556275" cy="1406591"/>
          </a:xfrm>
          <a:prstGeom prst="rect">
            <a:avLst/>
          </a:prstGeom>
        </p:spPr>
        <p:txBody>
          <a:bodyPr lIns="0" tIns="0" rIns="0" bIns="0" rtlCol="0" anchor="t">
            <a:spAutoFit/>
          </a:bodyPr>
          <a:lstStyle/>
          <a:p>
            <a:pPr algn="ctr">
              <a:lnSpc>
                <a:spcPts val="5500"/>
              </a:lnSpc>
            </a:pPr>
            <a:r>
              <a:rPr lang="en-US" sz="5000">
                <a:solidFill>
                  <a:srgbClr val="00B9EF"/>
                </a:solidFill>
                <a:latin typeface="Poppins Bold"/>
                <a:ea typeface="Poppins Bold"/>
                <a:cs typeface="Poppins Bold"/>
                <a:sym typeface="Poppins Bold"/>
              </a:rPr>
              <a:t>BRAINSTORMING</a:t>
            </a:r>
          </a:p>
          <a:p>
            <a:pPr algn="ctr">
              <a:lnSpc>
                <a:spcPts val="5500"/>
              </a:lnSpc>
            </a:pPr>
            <a:r>
              <a:rPr lang="en-US" sz="5000">
                <a:solidFill>
                  <a:srgbClr val="00B9EF"/>
                </a:solidFill>
                <a:latin typeface="Poppins Bold"/>
                <a:ea typeface="Poppins Bold"/>
                <a:cs typeface="Poppins Bold"/>
                <a:sym typeface="Poppins Bold"/>
              </a:rPr>
              <a:t>Writing Time</a:t>
            </a:r>
          </a:p>
        </p:txBody>
      </p:sp>
      <p:sp>
        <p:nvSpPr>
          <p:cNvPr id="3" name="Freeform 3"/>
          <p:cNvSpPr/>
          <p:nvPr/>
        </p:nvSpPr>
        <p:spPr>
          <a:xfrm>
            <a:off x="6645303" y="1714048"/>
            <a:ext cx="4417378" cy="4411856"/>
          </a:xfrm>
          <a:custGeom>
            <a:avLst/>
            <a:gdLst/>
            <a:ahLst/>
            <a:cxnLst/>
            <a:rect l="l" t="t" r="r" b="b"/>
            <a:pathLst>
              <a:path w="4417378" h="4411856">
                <a:moveTo>
                  <a:pt x="0" y="0"/>
                </a:moveTo>
                <a:lnTo>
                  <a:pt x="4417378" y="0"/>
                </a:lnTo>
                <a:lnTo>
                  <a:pt x="4417378" y="4411857"/>
                </a:lnTo>
                <a:lnTo>
                  <a:pt x="0" y="4411857"/>
                </a:lnTo>
                <a:lnTo>
                  <a:pt x="0" y="0"/>
                </a:lnTo>
                <a:close/>
              </a:path>
            </a:pathLst>
          </a:custGeom>
          <a:blipFill>
            <a:blip r:embed="rId2"/>
            <a:stretch>
              <a:fillRect/>
            </a:stretch>
          </a:blipFill>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extBox 2"/>
          <p:cNvSpPr txBox="1"/>
          <p:nvPr/>
        </p:nvSpPr>
        <p:spPr>
          <a:xfrm>
            <a:off x="4443458" y="4128459"/>
            <a:ext cx="9401084" cy="4248150"/>
          </a:xfrm>
          <a:prstGeom prst="rect">
            <a:avLst/>
          </a:prstGeom>
        </p:spPr>
        <p:txBody>
          <a:bodyPr lIns="0" tIns="0" rIns="0" bIns="0" rtlCol="0" anchor="t">
            <a:spAutoFit/>
          </a:bodyPr>
          <a:lstStyle/>
          <a:p>
            <a:pPr algn="ctr">
              <a:lnSpc>
                <a:spcPts val="16500"/>
              </a:lnSpc>
            </a:pPr>
            <a:r>
              <a:rPr lang="en-US" sz="15000">
                <a:solidFill>
                  <a:srgbClr val="00B9EF"/>
                </a:solidFill>
                <a:latin typeface="Poppins Bold"/>
                <a:ea typeface="Poppins Bold"/>
                <a:cs typeface="Poppins Bold"/>
                <a:sym typeface="Poppi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672</TotalTime>
  <Words>1477</Words>
  <Application>Microsoft Office PowerPoint</Application>
  <PresentationFormat>Custom</PresentationFormat>
  <Paragraphs>155</Paragraphs>
  <Slides>23</Slides>
  <Notes>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23</vt:i4>
      </vt:variant>
    </vt:vector>
  </HeadingPairs>
  <TitlesOfParts>
    <vt:vector size="38" baseType="lpstr">
      <vt:lpstr>Barlow Bold</vt:lpstr>
      <vt:lpstr>Aileron</vt:lpstr>
      <vt:lpstr>Montserrat Classic</vt:lpstr>
      <vt:lpstr>Poppins Bold</vt:lpstr>
      <vt:lpstr>Aileron Ultra-Bold</vt:lpstr>
      <vt:lpstr>Open Sans Bold</vt:lpstr>
      <vt:lpstr>Montserrat Classic Bold</vt:lpstr>
      <vt:lpstr>Open Sans Bold Bold</vt:lpstr>
      <vt:lpstr>Aileron Heavy</vt:lpstr>
      <vt:lpstr>Arial</vt:lpstr>
      <vt:lpstr>Aileron Regular Bold</vt:lpstr>
      <vt:lpstr>Montserrat Bold</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INTERVIEW - LESSON 1</dc:title>
  <cp:lastModifiedBy>Truyen Le</cp:lastModifiedBy>
  <cp:revision>5</cp:revision>
  <dcterms:created xsi:type="dcterms:W3CDTF">2006-08-16T00:00:00Z</dcterms:created>
  <dcterms:modified xsi:type="dcterms:W3CDTF">2025-09-15T16:37:18Z</dcterms:modified>
  <dc:identifier>DAGY__8Yilc</dc:identifier>
</cp:coreProperties>
</file>