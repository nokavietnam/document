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Inter Bold" panose="020B0604020202020204" charset="0"/>
      <p:regular r:id="rId23"/>
    </p:embeddedFont>
    <p:embeddedFont>
      <p:font typeface="Montserrat" panose="00000500000000000000" pitchFamily="2" charset="0"/>
      <p:regular r:id="rId24"/>
      <p:bold r:id="rId25"/>
    </p:embeddedFont>
    <p:embeddedFont>
      <p:font typeface="Montserrat Bold" panose="00000800000000000000" charset="0"/>
      <p:regular r:id="rId26"/>
      <p:bold r:id="rId27"/>
    </p:embeddedFont>
    <p:embeddedFont>
      <p:font typeface="Montserrat Classic" panose="020B0604020202020204" charset="0"/>
      <p:regular r:id="rId28"/>
    </p:embeddedFont>
    <p:embeddedFont>
      <p:font typeface="Montserrat Classic Bold" panose="020B0604020202020204" charset="0"/>
      <p:regular r:id="rId29"/>
    </p:embeddedFont>
    <p:embeddedFont>
      <p:font typeface="Open Sans Bold" panose="020B0604020202020204" charset="0"/>
      <p:regular r:id="rId30"/>
    </p:embeddedFont>
    <p:embeddedFont>
      <p:font typeface="Poppi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01242" y="8616642"/>
            <a:ext cx="438008" cy="312180"/>
          </a:xfrm>
          <a:custGeom>
            <a:avLst/>
            <a:gdLst/>
            <a:ahLst/>
            <a:cxnLst/>
            <a:rect l="l" t="t" r="r" b="b"/>
            <a:pathLst>
              <a:path w="438008" h="312180">
                <a:moveTo>
                  <a:pt x="438008" y="0"/>
                </a:moveTo>
                <a:lnTo>
                  <a:pt x="0" y="0"/>
                </a:lnTo>
                <a:lnTo>
                  <a:pt x="0" y="312180"/>
                </a:lnTo>
                <a:lnTo>
                  <a:pt x="438008" y="312180"/>
                </a:lnTo>
                <a:lnTo>
                  <a:pt x="438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5280" y="9100272"/>
            <a:ext cx="7991171" cy="900823"/>
            <a:chOff x="0" y="0"/>
            <a:chExt cx="10654894" cy="120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54894" cy="1201097"/>
            </a:xfrm>
            <a:custGeom>
              <a:avLst/>
              <a:gdLst/>
              <a:ahLst/>
              <a:cxnLst/>
              <a:rect l="l" t="t" r="r" b="b"/>
              <a:pathLst>
                <a:path w="10654894" h="1201097">
                  <a:moveTo>
                    <a:pt x="0" y="0"/>
                  </a:moveTo>
                  <a:lnTo>
                    <a:pt x="10654894" y="0"/>
                  </a:lnTo>
                  <a:lnTo>
                    <a:pt x="10654894" y="1201097"/>
                  </a:lnTo>
                  <a:lnTo>
                    <a:pt x="0" y="120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367739" y="336203"/>
              <a:ext cx="741786" cy="528691"/>
            </a:xfrm>
            <a:custGeom>
              <a:avLst/>
              <a:gdLst/>
              <a:ahLst/>
              <a:cxnLst/>
              <a:rect l="l" t="t" r="r" b="b"/>
              <a:pathLst>
                <a:path w="741786" h="528691">
                  <a:moveTo>
                    <a:pt x="0" y="0"/>
                  </a:moveTo>
                  <a:lnTo>
                    <a:pt x="741785" y="0"/>
                  </a:lnTo>
                  <a:lnTo>
                    <a:pt x="741785" y="528691"/>
                  </a:lnTo>
                  <a:lnTo>
                    <a:pt x="0" y="52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9854" y="325476"/>
              <a:ext cx="5375186" cy="502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 Started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914662" y="2731911"/>
            <a:ext cx="5787253" cy="114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LESSON 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10641" y="4224412"/>
            <a:ext cx="14717778" cy="2927985"/>
            <a:chOff x="0" y="0"/>
            <a:chExt cx="19623704" cy="3903980"/>
          </a:xfrm>
        </p:grpSpPr>
        <p:sp>
          <p:nvSpPr>
            <p:cNvPr id="9" name="TextBox 9"/>
            <p:cNvSpPr txBox="1"/>
            <p:nvPr/>
          </p:nvSpPr>
          <p:spPr>
            <a:xfrm>
              <a:off x="0" y="66675"/>
              <a:ext cx="19623704" cy="3040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LEADERSHIP PRINCIPLE</a:t>
              </a:r>
            </a:p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EARN TRUST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3003" y="3364354"/>
              <a:ext cx="15997452" cy="5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799" b="1" spc="977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BEHAVIORAL INTERVIEW COURSE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262" y="4539810"/>
            <a:ext cx="2697079" cy="269707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A0F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741202" y="5055410"/>
            <a:ext cx="1813201" cy="1665878"/>
          </a:xfrm>
          <a:custGeom>
            <a:avLst/>
            <a:gdLst/>
            <a:ahLst/>
            <a:cxnLst/>
            <a:rect l="l" t="t" r="r" b="b"/>
            <a:pathLst>
              <a:path w="1813201" h="1665878">
                <a:moveTo>
                  <a:pt x="0" y="0"/>
                </a:moveTo>
                <a:lnTo>
                  <a:pt x="1813200" y="0"/>
                </a:lnTo>
                <a:lnTo>
                  <a:pt x="1813200" y="1665879"/>
                </a:lnTo>
                <a:lnTo>
                  <a:pt x="0" y="1665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213107">
            <a:off x="2868045" y="3321923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660409" y="2797892"/>
            <a:ext cx="892275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Revise question 1 &amp; 2 - Bias For Action LP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0409" y="5431604"/>
            <a:ext cx="9598891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when you had a conflict with a coworker.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5920" y="8378340"/>
            <a:ext cx="9733380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when you had to convince team members of something you proposed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60409" y="4599450"/>
            <a:ext cx="2437624" cy="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QUESTION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60409" y="7548075"/>
            <a:ext cx="2437624" cy="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QUESTION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942" y="553294"/>
            <a:ext cx="15342116" cy="131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LEARN AND BE CURIOUS</a:t>
            </a:r>
          </a:p>
        </p:txBody>
      </p:sp>
      <p:sp>
        <p:nvSpPr>
          <p:cNvPr id="12" name="Freeform 12"/>
          <p:cNvSpPr/>
          <p:nvPr/>
        </p:nvSpPr>
        <p:spPr>
          <a:xfrm rot="-94520">
            <a:off x="3158939" y="5539618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1569951">
            <a:off x="2986504" y="7858490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0054" y="425439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718831" y="6791728"/>
          <a:ext cx="12189590" cy="884619"/>
        </p:xfrm>
        <a:graphic>
          <a:graphicData uri="http://schemas.openxmlformats.org/drawingml/2006/table">
            <a:tbl>
              <a:tblPr/>
              <a:tblGrid>
                <a:gridCol w="12189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540054" y="5996683"/>
            <a:ext cx="795045" cy="79504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14187" y="1028700"/>
            <a:ext cx="2209289" cy="2057400"/>
          </a:xfrm>
          <a:custGeom>
            <a:avLst/>
            <a:gdLst/>
            <a:ahLst/>
            <a:cxnLst/>
            <a:rect l="l" t="t" r="r" b="b"/>
            <a:pathLst>
              <a:path w="2209289" h="2057400">
                <a:moveTo>
                  <a:pt x="0" y="0"/>
                </a:moveTo>
                <a:lnTo>
                  <a:pt x="2209289" y="0"/>
                </a:lnTo>
                <a:lnTo>
                  <a:pt x="2209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88082" y="4290353"/>
            <a:ext cx="118203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have you managed risk in a project?</a:t>
            </a: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3488" y="183282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REVISE QUESTIONS 1 &amp;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0054" y="43379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40054" y="6080261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88082" y="5752855"/>
            <a:ext cx="118203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a tough decision you made quickly during a project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88082" y="7810903"/>
            <a:ext cx="11820339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do you prioritize if you have to work on 4 different projects?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40054" y="7839478"/>
            <a:ext cx="795045" cy="795045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540054" y="792305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93273" y="1142158"/>
            <a:ext cx="1314106" cy="2176983"/>
          </a:xfrm>
          <a:custGeom>
            <a:avLst/>
            <a:gdLst/>
            <a:ahLst/>
            <a:cxnLst/>
            <a:rect l="l" t="t" r="r" b="b"/>
            <a:pathLst>
              <a:path w="1314106" h="2176983">
                <a:moveTo>
                  <a:pt x="0" y="0"/>
                </a:moveTo>
                <a:lnTo>
                  <a:pt x="1314106" y="0"/>
                </a:lnTo>
                <a:lnTo>
                  <a:pt x="1314106" y="2176983"/>
                </a:lnTo>
                <a:lnTo>
                  <a:pt x="0" y="217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93273" y="195153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EARN TRUST?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291189"/>
            <a:ext cx="16363357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  <a:spcBef>
                <a:spcPct val="0"/>
              </a:spcBef>
            </a:pPr>
            <a:r>
              <a:rPr lang="en-US" sz="3500" spc="1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Leaders listen attentively, speak candidly, and treat others respectfully. They are vocally self-critical, even when doing so is awkward or embarrassing. They benchmark themselves and their teams against the best.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157273">
            <a:off x="14733977" y="3170693"/>
            <a:ext cx="1311593" cy="4114800"/>
          </a:xfrm>
          <a:custGeom>
            <a:avLst/>
            <a:gdLst/>
            <a:ahLst/>
            <a:cxnLst/>
            <a:rect l="l" t="t" r="r" b="b"/>
            <a:pathLst>
              <a:path w="1311593" h="4114800">
                <a:moveTo>
                  <a:pt x="0" y="0"/>
                </a:moveTo>
                <a:lnTo>
                  <a:pt x="1311593" y="0"/>
                </a:lnTo>
                <a:lnTo>
                  <a:pt x="1311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64885" y="2310462"/>
            <a:ext cx="14694415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a time when you had a conflict with a coworker.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81153" y="5422258"/>
            <a:ext cx="12386173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000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see how you handle workplace challenges, how you communicate and collaborate with others, and how you contribute to a positive work environment.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46826" y="74958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89358" y="2583138"/>
            <a:ext cx="4509431" cy="1266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4500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4500">
                <a:solidFill>
                  <a:srgbClr val="95C74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4500">
                <a:solidFill>
                  <a:srgbClr val="FF5757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</a:p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TECHIQUE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575" y="3221379"/>
            <a:ext cx="4947778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 = Situation: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Describe the specific situation that led to the conflict..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24483" y="5954789"/>
            <a:ext cx="5595258" cy="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CB6CE6"/>
                </a:solidFill>
                <a:latin typeface="Montserrat"/>
                <a:ea typeface="Montserrat"/>
                <a:cs typeface="Montserrat"/>
                <a:sym typeface="Montserrat"/>
              </a:rPr>
              <a:t>T = Task: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Detail the nature of the disagreement or conflict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67733" y="6112631"/>
            <a:ext cx="9357811" cy="2523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3EDAD8"/>
                </a:solidFill>
                <a:latin typeface="Montserrat"/>
                <a:ea typeface="Montserrat"/>
                <a:cs typeface="Montserrat"/>
                <a:sym typeface="Montserrat"/>
              </a:rPr>
              <a:t>A = Action: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647700" lvl="1" indent="-323850" algn="l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Detail the nature of the disagreement or conflict; Describe your perspective and your co-worker’s perspective</a:t>
            </a:r>
          </a:p>
          <a:p>
            <a:pPr marL="647700" lvl="1" indent="-323850" algn="l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the steps you took to resolve the conflict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39651" y="3221379"/>
            <a:ext cx="5285892" cy="210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R = Result: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Share the results of your resolution efforts; Discuss what you learned from the experience</a:t>
            </a:r>
            <a:r>
              <a:rPr lang="en-US" sz="30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 rot="9892788">
            <a:off x="5929462" y="3302680"/>
            <a:ext cx="1616137" cy="488882"/>
          </a:xfrm>
          <a:custGeom>
            <a:avLst/>
            <a:gdLst/>
            <a:ahLst/>
            <a:cxnLst/>
            <a:rect l="l" t="t" r="r" b="b"/>
            <a:pathLst>
              <a:path w="1616137" h="488882">
                <a:moveTo>
                  <a:pt x="0" y="0"/>
                </a:moveTo>
                <a:lnTo>
                  <a:pt x="1616137" y="0"/>
                </a:lnTo>
                <a:lnTo>
                  <a:pt x="1616137" y="488882"/>
                </a:lnTo>
                <a:lnTo>
                  <a:pt x="0" y="488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7595610">
            <a:off x="7463773" y="4383266"/>
            <a:ext cx="1472253" cy="445357"/>
          </a:xfrm>
          <a:custGeom>
            <a:avLst/>
            <a:gdLst/>
            <a:ahLst/>
            <a:cxnLst/>
            <a:rect l="l" t="t" r="r" b="b"/>
            <a:pathLst>
              <a:path w="1472253" h="445357">
                <a:moveTo>
                  <a:pt x="0" y="0"/>
                </a:moveTo>
                <a:lnTo>
                  <a:pt x="1472253" y="0"/>
                </a:lnTo>
                <a:lnTo>
                  <a:pt x="1472253" y="445356"/>
                </a:lnTo>
                <a:lnTo>
                  <a:pt x="0" y="44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3756754">
            <a:off x="9698462" y="4468247"/>
            <a:ext cx="1617719" cy="489360"/>
          </a:xfrm>
          <a:custGeom>
            <a:avLst/>
            <a:gdLst/>
            <a:ahLst/>
            <a:cxnLst/>
            <a:rect l="l" t="t" r="r" b="b"/>
            <a:pathLst>
              <a:path w="1617719" h="489360">
                <a:moveTo>
                  <a:pt x="0" y="0"/>
                </a:moveTo>
                <a:lnTo>
                  <a:pt x="1617719" y="0"/>
                </a:lnTo>
                <a:lnTo>
                  <a:pt x="1617719" y="489360"/>
                </a:lnTo>
                <a:lnTo>
                  <a:pt x="0" y="48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378146">
            <a:off x="10889298" y="3214630"/>
            <a:ext cx="1525875" cy="461577"/>
          </a:xfrm>
          <a:custGeom>
            <a:avLst/>
            <a:gdLst/>
            <a:ahLst/>
            <a:cxnLst/>
            <a:rect l="l" t="t" r="r" b="b"/>
            <a:pathLst>
              <a:path w="1525875" h="461577">
                <a:moveTo>
                  <a:pt x="0" y="0"/>
                </a:moveTo>
                <a:lnTo>
                  <a:pt x="1525876" y="0"/>
                </a:lnTo>
                <a:lnTo>
                  <a:pt x="1525876" y="461577"/>
                </a:lnTo>
                <a:lnTo>
                  <a:pt x="0" y="461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021" y="2552700"/>
            <a:ext cx="16275958" cy="579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 backend developer on a team building a new API, I had a conflict with a fellow developer about the architecture we should use. They preferred a microservices approach, while I believed a monolithic design would be more efficient for our initial launch.</a:t>
            </a:r>
          </a:p>
          <a:p>
            <a:pPr algn="just">
              <a:lnSpc>
                <a:spcPts val="4620"/>
              </a:lnSpc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620"/>
              </a:lnSpc>
            </a:pPr>
            <a:r>
              <a:rPr lang="en-US" sz="33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get the ending point, I had to resolve this disagreement effectively while ensuring we met our project deadlines and performance goals.</a:t>
            </a:r>
          </a:p>
          <a:p>
            <a:pPr algn="just">
              <a:lnSpc>
                <a:spcPts val="4620"/>
              </a:lnSpc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939" y="1715405"/>
            <a:ext cx="16740121" cy="778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asked for a</a:t>
            </a: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meeting to discuss our viewpoints in detail. </a:t>
            </a:r>
            <a:r>
              <a:rPr lang="en-US" sz="33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meeting, I prepared by gathering data on both architectures, including performance metrics and scalability considerations. </a:t>
            </a:r>
            <a:r>
              <a:rPr lang="en-US" sz="33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During </a:t>
            </a: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meeting, I listened to his ideas and shared my insights, focusing on the project’s specific requirements. We ultimately agreed to implement a hybrid approach, starting with a monolithic structure but designing it in a way that would allow for future microservices integration.</a:t>
            </a: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Our conflict was solved. </a:t>
            </a: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API was launched on time, and we were able to scale it gradually as needed. Through that conflict, </a:t>
            </a:r>
            <a:r>
              <a:rPr lang="en-US" sz="33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learned that</a:t>
            </a: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listening skills and sharing are important to get initiative and they are good ways to  work effectively.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101231"/>
            <a:ext cx="15727429" cy="744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my role as ......................................., I faced a conflict with a co-worker during 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my previous role as ........................................................, we had a disagreement about 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 &amp; Action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resolve this conflict, I suggested ...............................................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resolve/ address this, I proposed ................................................................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started by ..............................Then,.................................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After reviewing the results together, we found that .............................................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experience not only strengthened our professional relationship but also taught us the importance of .....................................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460" y="50607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644664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460624"/>
            <a:ext cx="16163519" cy="679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tackle this challenge, I started by [actions]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get to it/ to get it done, I [</a:t>
            </a:r>
            <a:r>
              <a:rPr lang="en-US" sz="350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describe the steps you took]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Additionally, I spent time </a:t>
            </a:r>
            <a:r>
              <a:rPr lang="en-US" sz="350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[explain how you practiced or studied]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reached out to </a:t>
            </a:r>
            <a:r>
              <a:rPr lang="en-US" sz="350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anyone you asked for help]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the end,...................................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taught me </a:t>
            </a:r>
            <a:r>
              <a:rPr lang="en-US" sz="350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[share any lessons learned]</a:t>
            </a: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and it helped our team by.............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Very quickly, I/ my team </a:t>
            </a:r>
            <a:r>
              <a:rPr lang="en-US" sz="350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[results] </a:t>
            </a: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we also received positive feedback from users/ mamagers...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389" y="1066800"/>
            <a:ext cx="15872588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“Tell me about a time when you had a conflict with a coworker.”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1028700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920389" y="2848058"/>
            <a:ext cx="12300926" cy="427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do you handle conflict?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have you handled conflict with a coworker?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Have you ever disagreed with your manager?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describe a time you faced a conflict on a team?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did you resolve a conflict with a customer?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6120792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935311" y="2505665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453" y="2147062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28608" y="1991194"/>
            <a:ext cx="14412163" cy="183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a time when you had to convince team members of something you proposed</a:t>
            </a:r>
          </a:p>
          <a:p>
            <a:pPr algn="l">
              <a:lnSpc>
                <a:spcPts val="4899"/>
              </a:lnSpc>
            </a:pPr>
            <a:endParaRPr lang="en-US" sz="3499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0453" y="2298952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3538201" y="4691333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7"/>
                </a:lnTo>
                <a:lnTo>
                  <a:pt x="0" y="58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300298" y="6442938"/>
            <a:ext cx="6086425" cy="16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aim to gauge a candidate's past experiences and behaviors to predict their future performance. 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11454758" y="484951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383392" y="6442938"/>
            <a:ext cx="6086425" cy="210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seeks to assess your ability to influence and persuade others to embrace alternative approaches when faced with a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/>
      <p:bldP spid="10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15017" y="9914017"/>
            <a:ext cx="745965" cy="607962"/>
          </a:xfrm>
          <a:custGeom>
            <a:avLst/>
            <a:gdLst/>
            <a:ahLst/>
            <a:cxnLst/>
            <a:rect l="l" t="t" r="r" b="b"/>
            <a:pathLst>
              <a:path w="745965" h="607962">
                <a:moveTo>
                  <a:pt x="0" y="0"/>
                </a:moveTo>
                <a:lnTo>
                  <a:pt x="745966" y="0"/>
                </a:lnTo>
                <a:lnTo>
                  <a:pt x="745966" y="607962"/>
                </a:lnTo>
                <a:lnTo>
                  <a:pt x="0" y="60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6326825" y="2897592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6326825" y="4817347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98317" y="4259200"/>
            <a:ext cx="3203110" cy="1571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pc="22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sz="4500" b="1" spc="22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4500" b="1" spc="22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R/ </a:t>
            </a:r>
            <a:r>
              <a:rPr lang="en-US" sz="4500" b="1" spc="22">
                <a:solidFill>
                  <a:srgbClr val="FF5757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sz="4500" b="1" spc="22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4500" b="1" spc="22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4500" b="1" spc="22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4500" b="1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4500" b="1" spc="22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42011" y="881005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40709" y="3098873"/>
            <a:ext cx="5762956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Rely on the STAR/ PAR Method.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40709" y="5018628"/>
            <a:ext cx="6196046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Choose a Relevant Example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40709" y="6939569"/>
            <a:ext cx="7895002" cy="5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Highlight Your Skills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6326825" y="6871306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/>
      <p:bldP spid="8" grpId="0"/>
      <p:bldP spid="9" grpId="0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02717" y="2400300"/>
            <a:ext cx="15721141" cy="617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During a complex software development project, our team faced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tight deadline and technical roadblocks. The existing approach was falling short in meeting project milestones, putting the successful delivery of the product at risk.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As the project lead, I recognized the urgency to address the challenges and explore alternative approaches.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It was crucial to maintain the quality of the software while ensuring timely completion.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279241"/>
            <a:ext cx="16230600" cy="869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started by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analyzing carefully the project's technical requirements and constraints. Through extensive research, </a:t>
            </a: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discovered 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more efficient framework that could potentially increase development without compromising quality. I compiled a detailed report outlining the benefits of adopting this alternative approach, including reduced development time, increased scalability, and improved code maintainability. </a:t>
            </a: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then presented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report to my supervisor and the development team, emphasizing the potential positive impact on project success.</a:t>
            </a:r>
          </a:p>
          <a:p>
            <a:pPr algn="just">
              <a:lnSpc>
                <a:spcPts val="4620"/>
              </a:lnSpc>
            </a:pPr>
            <a:r>
              <a:rPr lang="en-US" sz="33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By showcasing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advantages of the alternative approach, </a:t>
            </a:r>
            <a:r>
              <a:rPr lang="en-US" sz="33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gained</a:t>
            </a: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support and buy-in of the team and convinced my supervisor to implement the new framework. As a result, the deadline was met with improved efficiency, increasing a high-quality product that exceeded client expectations.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756725"/>
            <a:ext cx="16525055" cy="811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 dirty="0">
                <a:solidFill>
                  <a:srgbClr val="15E8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my previous role as a ................................... engineer, I proposed ........................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While working on a project to ..................................., I identified the need for ....................... I proposed ...........................................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620"/>
              </a:lnSpc>
            </a:pPr>
            <a:r>
              <a:rPr lang="en-US" sz="33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Tasks and actions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persuade them, I ............................................ I also suggested ..........................................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convince them, I organized/ prepared ......................................................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620"/>
              </a:lnSpc>
            </a:pPr>
            <a:r>
              <a:rPr lang="en-US" sz="33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 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Ultimately, the team agreed to .......................................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actively involving everyone in the process, I was able to gain their support, and we ......................................</a:t>
            </a:r>
          </a:p>
          <a:p>
            <a:pPr algn="l">
              <a:lnSpc>
                <a:spcPts val="4620"/>
              </a:lnSpc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3853" y="542256"/>
            <a:ext cx="14939893" cy="110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99"/>
              </a:lnSpc>
            </a:pPr>
            <a:r>
              <a:rPr lang="en-US" sz="3999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“Tell me about a time when you had to convince team members of something you proposed.”</a:t>
            </a:r>
          </a:p>
        </p:txBody>
      </p:sp>
      <p:sp>
        <p:nvSpPr>
          <p:cNvPr id="3" name="Freeform 3"/>
          <p:cNvSpPr/>
          <p:nvPr/>
        </p:nvSpPr>
        <p:spPr>
          <a:xfrm>
            <a:off x="614469" y="639342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92197" y="2130017"/>
            <a:ext cx="15701550" cy="6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Can you describe a situation where you had to persuade a colleague to accept your idea?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when you introduced a new process or technology to your team. How did you gain their support?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Have you ever faced resistance when proposing a solution? How did you handle it?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Can you give an example of how you built consensus among team members with differing opinions?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3279" y="2370922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9" y="0"/>
                </a:lnTo>
                <a:lnTo>
                  <a:pt x="4417379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3478" y="2470108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 TO TAKEAWAY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458" y="3368188"/>
            <a:ext cx="9401084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1190</Words>
  <Application>Microsoft Office PowerPoint</Application>
  <PresentationFormat>Custom</PresentationFormat>
  <Paragraphs>119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Montserrat Classic Bold</vt:lpstr>
      <vt:lpstr>Open Sans Bold</vt:lpstr>
      <vt:lpstr>Calibri</vt:lpstr>
      <vt:lpstr>Montserrat</vt:lpstr>
      <vt:lpstr>Inter Bold</vt:lpstr>
      <vt:lpstr>Poppins Bold</vt:lpstr>
      <vt:lpstr>Montserrat Bold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INTERVIEW - LESSON 8</dc:title>
  <cp:lastModifiedBy>Truyen Le</cp:lastModifiedBy>
  <cp:revision>4</cp:revision>
  <dcterms:created xsi:type="dcterms:W3CDTF">2006-08-16T00:00:00Z</dcterms:created>
  <dcterms:modified xsi:type="dcterms:W3CDTF">2025-07-12T04:25:54Z</dcterms:modified>
  <dc:identifier>DAGZeOJW1D8</dc:identifier>
</cp:coreProperties>
</file>