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17"/>
    <p:sldId id="271" r:id="rId18"/>
    <p:sldId id="272" r:id="rId19"/>
    <p:sldId id="273" r:id="rId20"/>
    <p:sldId id="274" r:id="rId21"/>
    <p:sldId id="275" r:id="rId22"/>
    <p:sldId id="276" r:id="rId23"/>
  </p:sldIdLst>
  <p:sldSz cx="18288000" cy="10287000"/>
  <p:notesSz cx="6858000" cy="9144000"/>
  <p:embeddedFontLst>
    <p:embeddedFont>
      <p:font typeface="Inter" panose="020B0604020202020204" charset="0"/>
      <p:regular r:id="rId24"/>
    </p:embeddedFont>
    <p:embeddedFont>
      <p:font typeface="Inter Bold" panose="020B0604020202020204" charset="0"/>
      <p:regular r:id="rId25"/>
    </p:embeddedFont>
    <p:embeddedFont>
      <p:font typeface="Montserrat" panose="00000500000000000000" pitchFamily="2" charset="0"/>
      <p:regular r:id="rId26"/>
    </p:embeddedFont>
    <p:embeddedFont>
      <p:font typeface="Montserrat Bold" panose="00000800000000000000" charset="0"/>
      <p:regular r:id="rId27"/>
    </p:embeddedFont>
    <p:embeddedFont>
      <p:font typeface="Montserrat Classic" panose="020B0604020202020204" charset="0"/>
      <p:regular r:id="rId28"/>
    </p:embeddedFont>
    <p:embeddedFont>
      <p:font typeface="Montserrat Classic Bold" panose="020B0604020202020204" charset="0"/>
      <p:regular r:id="rId29"/>
    </p:embeddedFont>
    <p:embeddedFont>
      <p:font typeface="Open Sans Bold" panose="020B0604020202020204" charset="0"/>
      <p:regular r:id="rId30"/>
    </p:embeddedFont>
    <p:embeddedFont>
      <p:font typeface="Poppins Bold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10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6301242" y="8616642"/>
            <a:ext cx="438008" cy="312180"/>
          </a:xfrm>
          <a:custGeom>
            <a:avLst/>
            <a:gdLst/>
            <a:ahLst/>
            <a:cxnLst/>
            <a:rect l="l" t="t" r="r" b="b"/>
            <a:pathLst>
              <a:path w="438008" h="312180">
                <a:moveTo>
                  <a:pt x="438008" y="0"/>
                </a:moveTo>
                <a:lnTo>
                  <a:pt x="0" y="0"/>
                </a:lnTo>
                <a:lnTo>
                  <a:pt x="0" y="312180"/>
                </a:lnTo>
                <a:lnTo>
                  <a:pt x="438008" y="312180"/>
                </a:lnTo>
                <a:lnTo>
                  <a:pt x="438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025280" y="9100272"/>
            <a:ext cx="7991171" cy="900823"/>
            <a:chOff x="0" y="0"/>
            <a:chExt cx="10654894" cy="12010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54894" cy="1201097"/>
            </a:xfrm>
            <a:custGeom>
              <a:avLst/>
              <a:gdLst/>
              <a:ahLst/>
              <a:cxnLst/>
              <a:rect l="l" t="t" r="r" b="b"/>
              <a:pathLst>
                <a:path w="10654894" h="1201097">
                  <a:moveTo>
                    <a:pt x="0" y="0"/>
                  </a:moveTo>
                  <a:lnTo>
                    <a:pt x="10654894" y="0"/>
                  </a:lnTo>
                  <a:lnTo>
                    <a:pt x="10654894" y="1201097"/>
                  </a:lnTo>
                  <a:lnTo>
                    <a:pt x="0" y="1201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367739" y="336203"/>
              <a:ext cx="741786" cy="528691"/>
            </a:xfrm>
            <a:custGeom>
              <a:avLst/>
              <a:gdLst/>
              <a:ahLst/>
              <a:cxnLst/>
              <a:rect l="l" t="t" r="r" b="b"/>
              <a:pathLst>
                <a:path w="741786" h="528691">
                  <a:moveTo>
                    <a:pt x="0" y="0"/>
                  </a:moveTo>
                  <a:lnTo>
                    <a:pt x="741785" y="0"/>
                  </a:lnTo>
                  <a:lnTo>
                    <a:pt x="741785" y="528691"/>
                  </a:lnTo>
                  <a:lnTo>
                    <a:pt x="0" y="528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639854" y="325476"/>
              <a:ext cx="5375186" cy="502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00"/>
                </a:lnSpc>
              </a:pPr>
              <a:r>
                <a:rPr lang="en-US" sz="2286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Get Started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914662" y="2731911"/>
            <a:ext cx="5787253" cy="1149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FFFFFF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LESSON 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10641" y="4224412"/>
            <a:ext cx="14717778" cy="2927985"/>
            <a:chOff x="0" y="0"/>
            <a:chExt cx="19623704" cy="3903980"/>
          </a:xfrm>
        </p:grpSpPr>
        <p:sp>
          <p:nvSpPr>
            <p:cNvPr id="9" name="TextBox 9"/>
            <p:cNvSpPr txBox="1"/>
            <p:nvPr/>
          </p:nvSpPr>
          <p:spPr>
            <a:xfrm>
              <a:off x="0" y="66675"/>
              <a:ext cx="19623704" cy="3040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800"/>
                </a:lnSpc>
              </a:pPr>
              <a:r>
                <a:rPr lang="en-US" sz="8000" b="1">
                  <a:solidFill>
                    <a:srgbClr val="00B9E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LEADERSHIP PRINCIPLE</a:t>
              </a:r>
            </a:p>
            <a:p>
              <a:pPr algn="ctr">
                <a:lnSpc>
                  <a:spcPts val="8800"/>
                </a:lnSpc>
              </a:pPr>
              <a:r>
                <a:rPr lang="en-US" sz="8000" b="1">
                  <a:solidFill>
                    <a:srgbClr val="00B9E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LEARN AND BE CURIOUS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23003" y="3364354"/>
              <a:ext cx="15997452" cy="539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799" b="1" spc="977">
                  <a:solidFill>
                    <a:srgbClr val="FFFFF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BEHAVIORAL INTERVIEW COURSE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9262" y="4539810"/>
            <a:ext cx="2697079" cy="2697079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A0FF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741202" y="5055410"/>
            <a:ext cx="1813201" cy="1665878"/>
          </a:xfrm>
          <a:custGeom>
            <a:avLst/>
            <a:gdLst/>
            <a:ahLst/>
            <a:cxnLst/>
            <a:rect l="l" t="t" r="r" b="b"/>
            <a:pathLst>
              <a:path w="1813201" h="1665878">
                <a:moveTo>
                  <a:pt x="0" y="0"/>
                </a:moveTo>
                <a:lnTo>
                  <a:pt x="1813200" y="0"/>
                </a:lnTo>
                <a:lnTo>
                  <a:pt x="1813200" y="1665879"/>
                </a:lnTo>
                <a:lnTo>
                  <a:pt x="0" y="1665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213107">
            <a:off x="2868045" y="3321923"/>
            <a:ext cx="3270377" cy="715395"/>
          </a:xfrm>
          <a:custGeom>
            <a:avLst/>
            <a:gdLst/>
            <a:ahLst/>
            <a:cxnLst/>
            <a:rect l="l" t="t" r="r" b="b"/>
            <a:pathLst>
              <a:path w="3270377" h="715395">
                <a:moveTo>
                  <a:pt x="0" y="0"/>
                </a:moveTo>
                <a:lnTo>
                  <a:pt x="3270377" y="0"/>
                </a:lnTo>
                <a:lnTo>
                  <a:pt x="3270377" y="715395"/>
                </a:lnTo>
                <a:lnTo>
                  <a:pt x="0" y="71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660409" y="2797892"/>
            <a:ext cx="8922750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Revise question 1 &amp; 2 - Ownership LP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60409" y="5010615"/>
            <a:ext cx="9598891" cy="171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Tell me about a time when you had to quickly learn something new to complete a task. How did you approach it?</a:t>
            </a:r>
          </a:p>
          <a:p>
            <a:pPr algn="l">
              <a:lnSpc>
                <a:spcPts val="3419"/>
              </a:lnSpc>
            </a:pPr>
            <a:endParaRPr lang="en-US" sz="3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660409" y="8013138"/>
            <a:ext cx="9733380" cy="128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do you stay updated on industry trends and new technologies? Give an example of how this has benefited your work.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60409" y="4599450"/>
            <a:ext cx="2437624" cy="39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70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QUESTION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60409" y="7548075"/>
            <a:ext cx="2437624" cy="39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70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QUESTION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2942" y="553294"/>
            <a:ext cx="15342116" cy="1312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CONTENTS</a:t>
            </a:r>
          </a:p>
          <a:p>
            <a:pPr algn="ctr">
              <a:lnSpc>
                <a:spcPts val="5208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LEARN AND BE CURIOUS</a:t>
            </a:r>
          </a:p>
        </p:txBody>
      </p:sp>
      <p:sp>
        <p:nvSpPr>
          <p:cNvPr id="12" name="Freeform 12"/>
          <p:cNvSpPr/>
          <p:nvPr/>
        </p:nvSpPr>
        <p:spPr>
          <a:xfrm rot="-94520">
            <a:off x="3158939" y="5539618"/>
            <a:ext cx="3270377" cy="715395"/>
          </a:xfrm>
          <a:custGeom>
            <a:avLst/>
            <a:gdLst/>
            <a:ahLst/>
            <a:cxnLst/>
            <a:rect l="l" t="t" r="r" b="b"/>
            <a:pathLst>
              <a:path w="3270377" h="715395">
                <a:moveTo>
                  <a:pt x="0" y="0"/>
                </a:moveTo>
                <a:lnTo>
                  <a:pt x="3270377" y="0"/>
                </a:lnTo>
                <a:lnTo>
                  <a:pt x="3270377" y="715395"/>
                </a:lnTo>
                <a:lnTo>
                  <a:pt x="0" y="71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1569951">
            <a:off x="2986504" y="7858490"/>
            <a:ext cx="3270377" cy="715395"/>
          </a:xfrm>
          <a:custGeom>
            <a:avLst/>
            <a:gdLst/>
            <a:ahLst/>
            <a:cxnLst/>
            <a:rect l="l" t="t" r="r" b="b"/>
            <a:pathLst>
              <a:path w="3270377" h="715395">
                <a:moveTo>
                  <a:pt x="0" y="0"/>
                </a:moveTo>
                <a:lnTo>
                  <a:pt x="3270377" y="0"/>
                </a:lnTo>
                <a:lnTo>
                  <a:pt x="3270377" y="715395"/>
                </a:lnTo>
                <a:lnTo>
                  <a:pt x="0" y="71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40054" y="4254399"/>
            <a:ext cx="795045" cy="7950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718831" y="6791728"/>
          <a:ext cx="12189590" cy="2208022"/>
        </p:xfrm>
        <a:graphic>
          <a:graphicData uri="http://schemas.openxmlformats.org/drawingml/2006/table">
            <a:tbl>
              <a:tblPr/>
              <a:tblGrid>
                <a:gridCol w="12189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43792">
                <a:tc>
                  <a:txBody>
                    <a:bodyPr/>
                    <a:lstStyle/>
                    <a:p>
                      <a:pPr algn="l">
                        <a:lnSpc>
                          <a:spcPts val="4900"/>
                        </a:lnSpc>
                        <a:defRPr/>
                      </a:pPr>
                      <a:r>
                        <a:rPr lang="en-US" sz="3500" b="1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Tell me about a time when you took full ownership of a project from start to finish. How did you ensure its success?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3540054" y="6937163"/>
            <a:ext cx="795045" cy="795045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3614187" y="1028700"/>
            <a:ext cx="2209289" cy="2057400"/>
          </a:xfrm>
          <a:custGeom>
            <a:avLst/>
            <a:gdLst/>
            <a:ahLst/>
            <a:cxnLst/>
            <a:rect l="l" t="t" r="r" b="b"/>
            <a:pathLst>
              <a:path w="2209289" h="2057400">
                <a:moveTo>
                  <a:pt x="0" y="0"/>
                </a:moveTo>
                <a:lnTo>
                  <a:pt x="2209289" y="0"/>
                </a:lnTo>
                <a:lnTo>
                  <a:pt x="220928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718831" y="4290353"/>
            <a:ext cx="11820339" cy="1835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Have you ever had to take responsibility for a mistake? How did you handle it, and what was the outcome?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73488" y="1832824"/>
            <a:ext cx="7899812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REVISE QUESTIONS 1 &amp; 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40054" y="4337978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40054" y="7020742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52054" y="1028700"/>
            <a:ext cx="1314106" cy="2176983"/>
          </a:xfrm>
          <a:custGeom>
            <a:avLst/>
            <a:gdLst/>
            <a:ahLst/>
            <a:cxnLst/>
            <a:rect l="l" t="t" r="r" b="b"/>
            <a:pathLst>
              <a:path w="1314106" h="2176983">
                <a:moveTo>
                  <a:pt x="0" y="0"/>
                </a:moveTo>
                <a:lnTo>
                  <a:pt x="1314106" y="0"/>
                </a:lnTo>
                <a:lnTo>
                  <a:pt x="1314106" y="2176983"/>
                </a:lnTo>
                <a:lnTo>
                  <a:pt x="0" y="21769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493273" y="1951534"/>
            <a:ext cx="7899812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LEARN AND BE CURIOUS?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291189"/>
            <a:ext cx="16363357" cy="19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0"/>
              </a:lnSpc>
              <a:spcBef>
                <a:spcPct val="0"/>
              </a:spcBef>
            </a:pPr>
            <a:r>
              <a:rPr lang="en-US" sz="3500" spc="18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Leaders are never done learning and always seek to improve themselves. They are curious about new possibilities and act to explore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6107" y="2274509"/>
            <a:ext cx="795045" cy="7950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84229" y="330603"/>
            <a:ext cx="819801" cy="995343"/>
          </a:xfrm>
          <a:custGeom>
            <a:avLst/>
            <a:gdLst/>
            <a:ahLst/>
            <a:cxnLst/>
            <a:rect l="l" t="t" r="r" b="b"/>
            <a:pathLst>
              <a:path w="819801" h="995343">
                <a:moveTo>
                  <a:pt x="0" y="0"/>
                </a:moveTo>
                <a:lnTo>
                  <a:pt x="819801" y="0"/>
                </a:lnTo>
                <a:lnTo>
                  <a:pt x="819801" y="995343"/>
                </a:lnTo>
                <a:lnTo>
                  <a:pt x="0" y="99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2065390">
            <a:off x="14097940" y="3316938"/>
            <a:ext cx="1311593" cy="4114800"/>
          </a:xfrm>
          <a:custGeom>
            <a:avLst/>
            <a:gdLst/>
            <a:ahLst/>
            <a:cxnLst/>
            <a:rect l="l" t="t" r="r" b="b"/>
            <a:pathLst>
              <a:path w="1311593" h="4114800">
                <a:moveTo>
                  <a:pt x="0" y="0"/>
                </a:moveTo>
                <a:lnTo>
                  <a:pt x="1311592" y="0"/>
                </a:lnTo>
                <a:lnTo>
                  <a:pt x="13115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564885" y="2310462"/>
            <a:ext cx="14694415" cy="1216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Tell me about a time when you had to quickly learn something new to complete a task. How did you approach it?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4030" y="549159"/>
            <a:ext cx="7899812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ANALYZING QUESTIONS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6107" y="2358087"/>
            <a:ext cx="79504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 dirty="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47145" y="5288613"/>
            <a:ext cx="10316133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interviewer expects you to get up to speed quickly in the role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47145" y="6588342"/>
            <a:ext cx="11750135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5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They also want you to take on more additional  responsibilities outside of your job description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46826" y="749584"/>
            <a:ext cx="7899812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STRUCTURING ANSWER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89285" y="4187058"/>
            <a:ext cx="4509431" cy="129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 dirty="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sz="4500" dirty="0">
                <a:solidFill>
                  <a:srgbClr val="CB6CE6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sz="4500" dirty="0">
                <a:solidFill>
                  <a:srgbClr val="95C740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sz="4500" dirty="0">
                <a:solidFill>
                  <a:srgbClr val="FF5757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</a:p>
          <a:p>
            <a:pPr algn="ctr">
              <a:lnSpc>
                <a:spcPts val="4950"/>
              </a:lnSpc>
            </a:pPr>
            <a:r>
              <a:rPr lang="en-US" sz="4500" dirty="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TECHNIQUE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9048" y="4168008"/>
            <a:ext cx="4947778" cy="1266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S = Situation.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start off and introduce the situation you faced with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24410" y="7558710"/>
            <a:ext cx="5595258" cy="847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CB6CE6"/>
                </a:solidFill>
                <a:latin typeface="Montserrat"/>
                <a:ea typeface="Montserrat"/>
                <a:cs typeface="Montserrat"/>
                <a:sym typeface="Montserrat"/>
              </a:rPr>
              <a:t>T = Task: 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the task you had to complete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38874" y="7558710"/>
            <a:ext cx="5034533" cy="847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3EDAD8"/>
                </a:solidFill>
                <a:latin typeface="Montserrat"/>
                <a:ea typeface="Montserrat"/>
                <a:cs typeface="Montserrat"/>
                <a:sym typeface="Montserrat"/>
              </a:rPr>
              <a:t>A = Action: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Go into details actions you took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02913" y="3748975"/>
            <a:ext cx="5285892" cy="1266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R = Result: 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were the results and what you learn from</a:t>
            </a:r>
          </a:p>
        </p:txBody>
      </p:sp>
      <p:sp>
        <p:nvSpPr>
          <p:cNvPr id="8" name="Freeform 8"/>
          <p:cNvSpPr/>
          <p:nvPr/>
        </p:nvSpPr>
        <p:spPr>
          <a:xfrm rot="9892788">
            <a:off x="5392860" y="4964537"/>
            <a:ext cx="2078935" cy="628878"/>
          </a:xfrm>
          <a:custGeom>
            <a:avLst/>
            <a:gdLst/>
            <a:ahLst/>
            <a:cxnLst/>
            <a:rect l="l" t="t" r="r" b="b"/>
            <a:pathLst>
              <a:path w="2078935" h="628878">
                <a:moveTo>
                  <a:pt x="0" y="0"/>
                </a:moveTo>
                <a:lnTo>
                  <a:pt x="2078936" y="0"/>
                </a:lnTo>
                <a:lnTo>
                  <a:pt x="2078936" y="628878"/>
                </a:lnTo>
                <a:lnTo>
                  <a:pt x="0" y="62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7595610">
            <a:off x="6953200" y="6193675"/>
            <a:ext cx="2078935" cy="628878"/>
          </a:xfrm>
          <a:custGeom>
            <a:avLst/>
            <a:gdLst/>
            <a:ahLst/>
            <a:cxnLst/>
            <a:rect l="l" t="t" r="r" b="b"/>
            <a:pathLst>
              <a:path w="2078935" h="628878">
                <a:moveTo>
                  <a:pt x="0" y="0"/>
                </a:moveTo>
                <a:lnTo>
                  <a:pt x="2078935" y="0"/>
                </a:lnTo>
                <a:lnTo>
                  <a:pt x="2078935" y="628878"/>
                </a:lnTo>
                <a:lnTo>
                  <a:pt x="0" y="62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3756754">
            <a:off x="9411921" y="6239259"/>
            <a:ext cx="2078935" cy="628878"/>
          </a:xfrm>
          <a:custGeom>
            <a:avLst/>
            <a:gdLst/>
            <a:ahLst/>
            <a:cxnLst/>
            <a:rect l="l" t="t" r="r" b="b"/>
            <a:pathLst>
              <a:path w="2078935" h="628878">
                <a:moveTo>
                  <a:pt x="0" y="0"/>
                </a:moveTo>
                <a:lnTo>
                  <a:pt x="2078935" y="0"/>
                </a:lnTo>
                <a:lnTo>
                  <a:pt x="2078935" y="628877"/>
                </a:lnTo>
                <a:lnTo>
                  <a:pt x="0" y="628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378146">
            <a:off x="10796737" y="4682112"/>
            <a:ext cx="2078935" cy="628878"/>
          </a:xfrm>
          <a:custGeom>
            <a:avLst/>
            <a:gdLst/>
            <a:ahLst/>
            <a:cxnLst/>
            <a:rect l="l" t="t" r="r" b="b"/>
            <a:pathLst>
              <a:path w="2078935" h="628878">
                <a:moveTo>
                  <a:pt x="0" y="0"/>
                </a:moveTo>
                <a:lnTo>
                  <a:pt x="2078935" y="0"/>
                </a:lnTo>
                <a:lnTo>
                  <a:pt x="2078935" y="628878"/>
                </a:lnTo>
                <a:lnTo>
                  <a:pt x="0" y="62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83342" y="2213279"/>
            <a:ext cx="16275958" cy="585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 b="1" dirty="0">
                <a:solidFill>
                  <a:srgbClr val="15E8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 </a:t>
            </a:r>
          </a:p>
          <a:p>
            <a:pPr algn="just">
              <a:lnSpc>
                <a:spcPts val="4620"/>
              </a:lnSpc>
            </a:pP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There was a time when my team needed to integrate a new payment system into our application. I had never worked with this specific payment API before; however, the deadline was tight.</a:t>
            </a:r>
          </a:p>
          <a:p>
            <a:pPr algn="just">
              <a:lnSpc>
                <a:spcPts val="4620"/>
              </a:lnSpc>
            </a:pPr>
            <a:endParaRPr lang="en-US" sz="33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4620"/>
              </a:lnSpc>
            </a:pPr>
            <a:r>
              <a:rPr lang="en-US" sz="3300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</a:t>
            </a:r>
          </a:p>
          <a:p>
            <a:pPr algn="just">
              <a:lnSpc>
                <a:spcPts val="4620"/>
              </a:lnSpc>
            </a:pP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remember I was responsible for ensuring the integration was completed on time while maintaining the quality of our application. This meant I needed to learn about the API quickly and effectively to meet the requirements.</a:t>
            </a:r>
          </a:p>
          <a:p>
            <a:pPr algn="just">
              <a:lnSpc>
                <a:spcPts val="4620"/>
              </a:lnSpc>
            </a:pPr>
            <a:r>
              <a:rPr lang="en-US" sz="33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73939" y="1715405"/>
            <a:ext cx="16740121" cy="838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Action: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To tackle this challenge, I started by</a:t>
            </a: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reviewing the official documentation of the payment system to understand its features and requirements. </a:t>
            </a:r>
            <a:r>
              <a:rPr lang="en-US" sz="33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set aside time each day to practice</a:t>
            </a: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using the API in a test environment. </a:t>
            </a:r>
            <a:r>
              <a:rPr lang="en-US" sz="33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Additionally, I reached out to</a:t>
            </a: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colleagues who had experience with similar integrations to gather insights and best practices. </a:t>
            </a:r>
            <a:r>
              <a:rPr lang="en-US" sz="33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also</a:t>
            </a: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joined online forums and watched tutorial videos to gain a broader understanding.</a:t>
            </a:r>
          </a:p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Result: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Very quickly, I successfully</a:t>
            </a: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integrated the payment system, and we launched it on schedule. We received positive feedback from users. </a:t>
            </a:r>
            <a:r>
              <a:rPr lang="en-US" sz="33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learned the  importance of </a:t>
            </a: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being curious and proactive in learning new skills and I also absorbed a lot of the newest information, which pushed my confidence in tackling new projects in the future. 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11088801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SENTENCE STRUCTURE TEMPLATES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2082181"/>
            <a:ext cx="16375930" cy="679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dirty="0">
                <a:solidFill>
                  <a:srgbClr val="3EDA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 my previous job, my manager asked for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[assigned tasks]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I was assigned/ volunteered to do the task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At XYZ, there was a time I was assigned to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[describe the task]</a:t>
            </a:r>
            <a:r>
              <a:rPr lang="en-US" sz="35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, and I found out I needed to understand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[what you had to learn]</a:t>
            </a:r>
            <a:r>
              <a:rPr lang="en-US" sz="35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4900"/>
              </a:lnSpc>
            </a:pPr>
            <a:endParaRPr lang="en-US" sz="3500" dirty="0">
              <a:solidFill>
                <a:srgbClr val="FCFC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900"/>
              </a:lnSpc>
            </a:pPr>
            <a:r>
              <a:rPr lang="en-US" sz="3500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My goal was to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[describe what you needed to do/ achieve].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had to make sure I learned this quickly to complete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[the task/project].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It was important for me to understand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[new skills]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to help my team.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9460" y="506074"/>
            <a:ext cx="11088801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SENTENCE STRUCTURE TEMPLATES</a:t>
            </a:r>
          </a:p>
        </p:txBody>
      </p:sp>
      <p:sp>
        <p:nvSpPr>
          <p:cNvPr id="3" name="Freeform 3"/>
          <p:cNvSpPr/>
          <p:nvPr/>
        </p:nvSpPr>
        <p:spPr>
          <a:xfrm>
            <a:off x="644664" y="22446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2460624"/>
            <a:ext cx="16163519" cy="6865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tackle this challenge, I started by [actions]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get to it/ to get it done, I [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describe the steps you took]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Additionally, I spent time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[explain how you practiced or studied]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reached out to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[mention anyone you asked for help]</a:t>
            </a:r>
          </a:p>
          <a:p>
            <a:pPr algn="l">
              <a:lnSpc>
                <a:spcPts val="4900"/>
              </a:lnSpc>
            </a:pPr>
            <a:r>
              <a:rPr lang="en-US" sz="3500" b="1" dirty="0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 the end,...................................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taught me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[share any lessons learned]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and it helped our team by.............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Very quickly, I/ my team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[results] 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 we also received positive feedback from users/ managers...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61684" y="540225"/>
            <a:ext cx="15872588" cy="175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Variations of “Tell me about a time when you had to quickly learn something new to complete a task. How did you approach it?”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569526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2505372"/>
            <a:ext cx="16698574" cy="6905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Can you describe a situation where you had to learn a new skill quickly to finish a project? What steps did you take?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Share an example of when you needed to gain new knowledge fast to solve a problem. How did you manage it?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Tell me about a time you faced a task that required you to learn something unfamiliar quickly. How did you go about it?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is an example of a time you had to acquire new information rapidly to complete a task? How did you do it?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88994" y="7365830"/>
            <a:ext cx="6120792" cy="14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BRAINSTORMING</a:t>
            </a:r>
          </a:p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Writing Time</a:t>
            </a:r>
          </a:p>
        </p:txBody>
      </p:sp>
      <p:sp>
        <p:nvSpPr>
          <p:cNvPr id="3" name="Freeform 3"/>
          <p:cNvSpPr/>
          <p:nvPr/>
        </p:nvSpPr>
        <p:spPr>
          <a:xfrm>
            <a:off x="6935311" y="2505665"/>
            <a:ext cx="4417378" cy="4411856"/>
          </a:xfrm>
          <a:custGeom>
            <a:avLst/>
            <a:gdLst/>
            <a:ahLst/>
            <a:cxnLst/>
            <a:rect l="l" t="t" r="r" b="b"/>
            <a:pathLst>
              <a:path w="4417378" h="4411856">
                <a:moveTo>
                  <a:pt x="0" y="0"/>
                </a:moveTo>
                <a:lnTo>
                  <a:pt x="4417378" y="0"/>
                </a:lnTo>
                <a:lnTo>
                  <a:pt x="4417378" y="4411856"/>
                </a:lnTo>
                <a:lnTo>
                  <a:pt x="0" y="4411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0453" y="2147062"/>
            <a:ext cx="795045" cy="7950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84229" y="330603"/>
            <a:ext cx="819801" cy="995343"/>
          </a:xfrm>
          <a:custGeom>
            <a:avLst/>
            <a:gdLst/>
            <a:ahLst/>
            <a:cxnLst/>
            <a:rect l="l" t="t" r="r" b="b"/>
            <a:pathLst>
              <a:path w="819801" h="995343">
                <a:moveTo>
                  <a:pt x="0" y="0"/>
                </a:moveTo>
                <a:lnTo>
                  <a:pt x="819801" y="0"/>
                </a:lnTo>
                <a:lnTo>
                  <a:pt x="819801" y="995343"/>
                </a:lnTo>
                <a:lnTo>
                  <a:pt x="0" y="99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628608" y="1721118"/>
            <a:ext cx="14412163" cy="1835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do you stay updated on industry trends and new technologies?</a:t>
            </a:r>
          </a:p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Give an example of how this has benefited your work.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4030" y="549159"/>
            <a:ext cx="7116559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ANALYZING QUESTIONS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50453" y="2230641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8" name="Freeform 8"/>
          <p:cNvSpPr/>
          <p:nvPr/>
        </p:nvSpPr>
        <p:spPr>
          <a:xfrm rot="5400000">
            <a:off x="3538201" y="4691333"/>
            <a:ext cx="1943694" cy="587967"/>
          </a:xfrm>
          <a:custGeom>
            <a:avLst/>
            <a:gdLst/>
            <a:ahLst/>
            <a:cxnLst/>
            <a:rect l="l" t="t" r="r" b="b"/>
            <a:pathLst>
              <a:path w="1943694" h="587967">
                <a:moveTo>
                  <a:pt x="0" y="0"/>
                </a:moveTo>
                <a:lnTo>
                  <a:pt x="1943694" y="0"/>
                </a:lnTo>
                <a:lnTo>
                  <a:pt x="1943694" y="587967"/>
                </a:lnTo>
                <a:lnTo>
                  <a:pt x="0" y="587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300298" y="6294964"/>
            <a:ext cx="6086425" cy="1266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Ways you’ve used to stay updated on trends/ technologies</a:t>
            </a:r>
          </a:p>
        </p:txBody>
      </p:sp>
      <p:sp>
        <p:nvSpPr>
          <p:cNvPr id="10" name="Freeform 10"/>
          <p:cNvSpPr/>
          <p:nvPr/>
        </p:nvSpPr>
        <p:spPr>
          <a:xfrm rot="5400000">
            <a:off x="11454758" y="4849516"/>
            <a:ext cx="1943694" cy="587967"/>
          </a:xfrm>
          <a:custGeom>
            <a:avLst/>
            <a:gdLst/>
            <a:ahLst/>
            <a:cxnLst/>
            <a:rect l="l" t="t" r="r" b="b"/>
            <a:pathLst>
              <a:path w="1943694" h="587967">
                <a:moveTo>
                  <a:pt x="0" y="0"/>
                </a:moveTo>
                <a:lnTo>
                  <a:pt x="1943694" y="0"/>
                </a:lnTo>
                <a:lnTo>
                  <a:pt x="1943694" y="587968"/>
                </a:lnTo>
                <a:lnTo>
                  <a:pt x="0" y="58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9286993" y="6713997"/>
            <a:ext cx="5691256" cy="847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Prove your answer by a specific example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0453" y="8590290"/>
            <a:ext cx="14592048" cy="847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dirty="0">
                <a:solidFill>
                  <a:srgbClr val="15E8C2"/>
                </a:solidFill>
                <a:latin typeface="Montserrat"/>
                <a:ea typeface="Montserrat"/>
                <a:cs typeface="Montserrat"/>
                <a:sym typeface="Montserrat"/>
              </a:rPr>
              <a:t>--&gt; to assess your ability to stay current with industry trends and technology advancements which is very crucial for a product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9" grpId="0"/>
      <p:bldP spid="10" grpId="0" animBg="1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915017" y="9914017"/>
            <a:ext cx="745965" cy="607962"/>
          </a:xfrm>
          <a:custGeom>
            <a:avLst/>
            <a:gdLst/>
            <a:ahLst/>
            <a:cxnLst/>
            <a:rect l="l" t="t" r="r" b="b"/>
            <a:pathLst>
              <a:path w="745965" h="607962">
                <a:moveTo>
                  <a:pt x="0" y="0"/>
                </a:moveTo>
                <a:lnTo>
                  <a:pt x="745966" y="0"/>
                </a:lnTo>
                <a:lnTo>
                  <a:pt x="745966" y="607962"/>
                </a:lnTo>
                <a:lnTo>
                  <a:pt x="0" y="607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236888" y="3460610"/>
            <a:ext cx="3814224" cy="381422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2700000">
            <a:off x="10005421" y="6258333"/>
            <a:ext cx="934083" cy="875703"/>
          </a:xfrm>
          <a:custGeom>
            <a:avLst/>
            <a:gdLst/>
            <a:ahLst/>
            <a:cxnLst/>
            <a:rect l="l" t="t" r="r" b="b"/>
            <a:pathLst>
              <a:path w="934083" h="87570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2700000">
            <a:off x="7348496" y="6258333"/>
            <a:ext cx="934083" cy="875703"/>
          </a:xfrm>
          <a:custGeom>
            <a:avLst/>
            <a:gdLst/>
            <a:ahLst/>
            <a:cxnLst/>
            <a:rect l="l" t="t" r="r" b="b"/>
            <a:pathLst>
              <a:path w="934083" h="87570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8100000">
            <a:off x="7348496" y="3601408"/>
            <a:ext cx="934083" cy="875703"/>
          </a:xfrm>
          <a:custGeom>
            <a:avLst/>
            <a:gdLst/>
            <a:ahLst/>
            <a:cxnLst/>
            <a:rect l="l" t="t" r="r" b="b"/>
            <a:pathLst>
              <a:path w="934083" h="87570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8100000">
            <a:off x="10005421" y="3601408"/>
            <a:ext cx="934083" cy="875703"/>
          </a:xfrm>
          <a:custGeom>
            <a:avLst/>
            <a:gdLst/>
            <a:ahLst/>
            <a:cxnLst/>
            <a:rect l="l" t="t" r="r" b="b"/>
            <a:pathLst>
              <a:path w="934083" h="87570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7589206" y="3904949"/>
            <a:ext cx="3109588" cy="2862214"/>
            <a:chOff x="0" y="0"/>
            <a:chExt cx="883048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3048" cy="812800"/>
            </a:xfrm>
            <a:custGeom>
              <a:avLst/>
              <a:gdLst/>
              <a:ahLst/>
              <a:cxnLst/>
              <a:rect l="l" t="t" r="r" b="b"/>
              <a:pathLst>
                <a:path w="883048" h="812800">
                  <a:moveTo>
                    <a:pt x="441524" y="0"/>
                  </a:moveTo>
                  <a:cubicBezTo>
                    <a:pt x="197677" y="0"/>
                    <a:pt x="0" y="181951"/>
                    <a:pt x="0" y="406400"/>
                  </a:cubicBezTo>
                  <a:cubicBezTo>
                    <a:pt x="0" y="630849"/>
                    <a:pt x="197677" y="812800"/>
                    <a:pt x="441524" y="812800"/>
                  </a:cubicBezTo>
                  <a:cubicBezTo>
                    <a:pt x="685371" y="812800"/>
                    <a:pt x="883048" y="630849"/>
                    <a:pt x="883048" y="406400"/>
                  </a:cubicBezTo>
                  <a:cubicBezTo>
                    <a:pt x="883048" y="181951"/>
                    <a:pt x="685371" y="0"/>
                    <a:pt x="441524" y="0"/>
                  </a:cubicBezTo>
                  <a:close/>
                </a:path>
              </a:pathLst>
            </a:custGeom>
            <a:solidFill>
              <a:srgbClr val="E7E7E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786" y="38100"/>
              <a:ext cx="717477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614562" y="4708592"/>
            <a:ext cx="3203110" cy="137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spc="19" dirty="0">
                <a:solidFill>
                  <a:srgbClr val="FF0000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sz="3999" b="1" spc="19" dirty="0">
                <a:solidFill>
                  <a:schemeClr val="accent3">
                    <a:lumMod val="75000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sz="3999" b="1" spc="19" dirty="0">
                <a:solidFill>
                  <a:schemeClr val="tx2">
                    <a:lumMod val="60000"/>
                    <a:lumOff val="40000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</a:p>
          <a:p>
            <a:pPr algn="ctr">
              <a:lnSpc>
                <a:spcPts val="5599"/>
              </a:lnSpc>
            </a:pPr>
            <a:r>
              <a:rPr lang="en-US" sz="3999" b="1" spc="19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FORMAT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696805" y="2848779"/>
            <a:ext cx="4218212" cy="2081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11" dirty="0">
                <a:solidFill>
                  <a:srgbClr val="35A7C0"/>
                </a:solidFill>
                <a:latin typeface="Inter"/>
                <a:ea typeface="Inter"/>
                <a:cs typeface="Inter"/>
                <a:sym typeface="Inter"/>
              </a:rPr>
              <a:t>Emphasize the importance of staying current with industry trends for the success of the product</a:t>
            </a:r>
          </a:p>
          <a:p>
            <a:pPr algn="l">
              <a:lnSpc>
                <a:spcPts val="3359"/>
              </a:lnSpc>
            </a:pPr>
            <a:endParaRPr lang="en-US" sz="2399" spc="11" dirty="0">
              <a:solidFill>
                <a:srgbClr val="35A7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049396" y="2807835"/>
            <a:ext cx="943881" cy="896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316"/>
              </a:lnSpc>
            </a:pPr>
            <a:r>
              <a:rPr lang="en-US" sz="5226" b="1" spc="26">
                <a:solidFill>
                  <a:srgbClr val="35A7C0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id="16" name="AutoShape 16"/>
          <p:cNvSpPr/>
          <p:nvPr/>
        </p:nvSpPr>
        <p:spPr>
          <a:xfrm flipV="1">
            <a:off x="13488577" y="2958040"/>
            <a:ext cx="0" cy="620900"/>
          </a:xfrm>
          <a:prstGeom prst="line">
            <a:avLst/>
          </a:prstGeom>
          <a:ln w="19050" cap="flat">
            <a:solidFill>
              <a:srgbClr val="35A7C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5429431" y="2832016"/>
            <a:ext cx="907844" cy="857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37"/>
              </a:lnSpc>
            </a:pPr>
            <a:r>
              <a:rPr lang="en-US" sz="5026" b="1" spc="25" dirty="0">
                <a:solidFill>
                  <a:srgbClr val="3BB8B2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0604" y="2971519"/>
            <a:ext cx="4125299" cy="1707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399" b="1" spc="11" dirty="0">
                <a:solidFill>
                  <a:srgbClr val="3BB8B2"/>
                </a:solidFill>
                <a:latin typeface="Inter Bold"/>
                <a:ea typeface="Inter Bold"/>
                <a:cs typeface="Inter Bold"/>
                <a:sym typeface="Inter Bold"/>
              </a:rPr>
              <a:t>Showcase your interests and passion for the industry </a:t>
            </a:r>
          </a:p>
          <a:p>
            <a:pPr algn="r">
              <a:lnSpc>
                <a:spcPts val="3359"/>
              </a:lnSpc>
            </a:pPr>
            <a:r>
              <a:rPr lang="en-US" sz="2399" b="1" spc="11" dirty="0">
                <a:solidFill>
                  <a:srgbClr val="3BB8B2"/>
                </a:solidFill>
                <a:latin typeface="Inter Bold"/>
                <a:ea typeface="Inter Bold"/>
                <a:cs typeface="Inter Bold"/>
                <a:sym typeface="Inter Bold"/>
              </a:rPr>
              <a:t>assigned </a:t>
            </a:r>
          </a:p>
        </p:txBody>
      </p:sp>
      <p:sp>
        <p:nvSpPr>
          <p:cNvPr id="19" name="AutoShape 19"/>
          <p:cNvSpPr/>
          <p:nvPr/>
        </p:nvSpPr>
        <p:spPr>
          <a:xfrm flipV="1">
            <a:off x="4943656" y="3080780"/>
            <a:ext cx="0" cy="620900"/>
          </a:xfrm>
          <a:prstGeom prst="line">
            <a:avLst/>
          </a:prstGeom>
          <a:ln w="19050" cap="flat">
            <a:solidFill>
              <a:srgbClr val="3BB8B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5527171" y="6049065"/>
            <a:ext cx="908686" cy="858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44"/>
              </a:lnSpc>
            </a:pPr>
            <a:r>
              <a:rPr lang="en-US" sz="5031" b="1" spc="25">
                <a:solidFill>
                  <a:srgbClr val="4A80BE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77002" y="5983499"/>
            <a:ext cx="2558426" cy="2081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399" b="1" spc="11" dirty="0">
                <a:solidFill>
                  <a:srgbClr val="4A80BE"/>
                </a:solidFill>
                <a:latin typeface="Inter Bold"/>
                <a:ea typeface="Inter Bold"/>
                <a:cs typeface="Inter Bold"/>
                <a:sym typeface="Inter Bold"/>
              </a:rPr>
              <a:t>Provide specific examples of how you stay up-to-date </a:t>
            </a:r>
          </a:p>
          <a:p>
            <a:pPr algn="r">
              <a:lnSpc>
                <a:spcPts val="3359"/>
              </a:lnSpc>
            </a:pPr>
            <a:endParaRPr lang="en-US" sz="2399" b="1" spc="11" dirty="0">
              <a:solidFill>
                <a:srgbClr val="4A80BE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2" name="AutoShape 22"/>
          <p:cNvSpPr/>
          <p:nvPr/>
        </p:nvSpPr>
        <p:spPr>
          <a:xfrm flipV="1">
            <a:off x="4953181" y="6092760"/>
            <a:ext cx="0" cy="620900"/>
          </a:xfrm>
          <a:prstGeom prst="line">
            <a:avLst/>
          </a:prstGeom>
          <a:ln w="19050" cap="flat">
            <a:solidFill>
              <a:srgbClr val="4A80B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3974352" y="6114458"/>
            <a:ext cx="2558426" cy="824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11" dirty="0">
                <a:solidFill>
                  <a:srgbClr val="7E5ABB"/>
                </a:solidFill>
                <a:latin typeface="Inter Bold"/>
                <a:ea typeface="Inter Bold"/>
                <a:cs typeface="Inter Bold"/>
                <a:sym typeface="Inter Bold"/>
              </a:rPr>
              <a:t>Reflect on your learning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071267" y="6039540"/>
            <a:ext cx="948048" cy="89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349"/>
              </a:lnSpc>
            </a:pPr>
            <a:r>
              <a:rPr lang="en-US" sz="5249" b="1" spc="26" dirty="0">
                <a:solidFill>
                  <a:srgbClr val="7E5ABB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id="25" name="AutoShape 25"/>
          <p:cNvSpPr/>
          <p:nvPr/>
        </p:nvSpPr>
        <p:spPr>
          <a:xfrm flipV="1">
            <a:off x="13590815" y="6215253"/>
            <a:ext cx="0" cy="620900"/>
          </a:xfrm>
          <a:prstGeom prst="line">
            <a:avLst/>
          </a:prstGeom>
          <a:ln w="19050" cap="flat">
            <a:solidFill>
              <a:srgbClr val="7E5A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 flipV="1">
            <a:off x="5429431" y="3796252"/>
            <a:ext cx="773972" cy="0"/>
          </a:xfrm>
          <a:prstGeom prst="line">
            <a:avLst/>
          </a:prstGeom>
          <a:ln w="47625" cap="flat">
            <a:solidFill>
              <a:srgbClr val="3BB8B2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 flipH="1">
            <a:off x="12077971" y="6939192"/>
            <a:ext cx="780598" cy="0"/>
          </a:xfrm>
          <a:prstGeom prst="line">
            <a:avLst/>
          </a:prstGeom>
          <a:ln w="47625" cap="flat">
            <a:solidFill>
              <a:srgbClr val="7E5ABB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 flipV="1">
            <a:off x="5429431" y="6939192"/>
            <a:ext cx="773972" cy="0"/>
          </a:xfrm>
          <a:prstGeom prst="line">
            <a:avLst/>
          </a:prstGeom>
          <a:ln w="47625" cap="flat">
            <a:solidFill>
              <a:srgbClr val="4A80BE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 flipH="1">
            <a:off x="12077971" y="3796252"/>
            <a:ext cx="780598" cy="0"/>
          </a:xfrm>
          <a:prstGeom prst="line">
            <a:avLst/>
          </a:prstGeom>
          <a:ln w="47625" cap="flat">
            <a:solidFill>
              <a:srgbClr val="35A7C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5742011" y="881005"/>
            <a:ext cx="7116559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STRUCTURING ANSWERS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41751" y="8578916"/>
            <a:ext cx="10517078" cy="679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spc="19" dirty="0">
                <a:solidFill>
                  <a:srgbClr val="95C740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sz="3999" b="1" spc="19" dirty="0">
                <a:solidFill>
                  <a:srgbClr val="CB6CE6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sz="3999" b="1" spc="19" dirty="0">
                <a:solidFill>
                  <a:srgbClr val="C6A237"/>
                </a:solidFill>
                <a:latin typeface="Inter Bold"/>
                <a:ea typeface="Inter Bold"/>
                <a:cs typeface="Inter Bold"/>
                <a:sym typeface="Inter Bold"/>
              </a:rPr>
              <a:t>R: </a:t>
            </a:r>
            <a:r>
              <a:rPr lang="en-US" sz="3999" b="1" spc="19" dirty="0">
                <a:solidFill>
                  <a:srgbClr val="95C740"/>
                </a:solidFill>
                <a:latin typeface="Inter Bold"/>
                <a:ea typeface="Inter Bold"/>
                <a:cs typeface="Inter Bold"/>
                <a:sym typeface="Inter Bold"/>
              </a:rPr>
              <a:t>Situation</a:t>
            </a:r>
            <a:r>
              <a:rPr lang="en-US" sz="3999" b="1" spc="19" dirty="0">
                <a:solidFill>
                  <a:srgbClr val="C6A237"/>
                </a:solidFill>
                <a:latin typeface="Inter Bold"/>
                <a:ea typeface="Inter Bold"/>
                <a:cs typeface="Inter Bold"/>
                <a:sym typeface="Inter Bold"/>
              </a:rPr>
              <a:t> - </a:t>
            </a:r>
            <a:r>
              <a:rPr lang="en-US" sz="3999" b="1" spc="19" dirty="0">
                <a:solidFill>
                  <a:srgbClr val="CB6CE6"/>
                </a:solidFill>
                <a:latin typeface="Inter Bold"/>
                <a:ea typeface="Inter Bold"/>
                <a:cs typeface="Inter Bold"/>
                <a:sym typeface="Inter Bold"/>
              </a:rPr>
              <a:t>Action</a:t>
            </a:r>
            <a:r>
              <a:rPr lang="en-US" sz="3999" b="1" spc="19" dirty="0">
                <a:solidFill>
                  <a:srgbClr val="C6A237"/>
                </a:solidFill>
                <a:latin typeface="Inter Bold"/>
                <a:ea typeface="Inter Bold"/>
                <a:cs typeface="Inter Bold"/>
                <a:sym typeface="Inter Bold"/>
              </a:rPr>
              <a:t> – Reflect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  <p:bldP spid="18" grpId="0"/>
      <p:bldP spid="20" grpId="0"/>
      <p:bldP spid="21" grpId="0"/>
      <p:bldP spid="23" grpId="0"/>
      <p:bldP spid="24" grpId="0"/>
      <p:bldP spid="26" grpId="0" animBg="1"/>
      <p:bldP spid="27" grpId="0" animBg="1"/>
      <p:bldP spid="28" grpId="0" animBg="1"/>
      <p:bldP spid="29" grpId="0" animBg="1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9010" y="506074"/>
            <a:ext cx="5232025" cy="604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 dirty="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 1</a:t>
            </a:r>
          </a:p>
        </p:txBody>
      </p:sp>
      <p:sp>
        <p:nvSpPr>
          <p:cNvPr id="3" name="Freeform 3"/>
          <p:cNvSpPr/>
          <p:nvPr/>
        </p:nvSpPr>
        <p:spPr>
          <a:xfrm>
            <a:off x="641992" y="22446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41992" y="1409699"/>
            <a:ext cx="16856018" cy="8578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95C7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Situation:</a:t>
            </a:r>
          </a:p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Staying up to date with industry trends and emerging Technologies is a critical aspect of being a successful product because they are always changing.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So as a product developer, </a:t>
            </a:r>
            <a:r>
              <a:rPr lang="en-US" sz="2999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make a conscious effort to stay updated on the latest news and developments in my industry. </a:t>
            </a:r>
          </a:p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</a:t>
            </a:r>
          </a:p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attend industry events, read blogs and follow thought leaders on social media to stay informed.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99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For example,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 recently attended a virtual conference on product management where I learned about new techniques for product discovery and prioritization. </a:t>
            </a:r>
            <a:r>
              <a:rPr lang="en-US" sz="2999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also follow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industry publications such as product manager HQ and monitor products which provide insights into the latest industry trends and emerging technologies. </a:t>
            </a:r>
            <a:r>
              <a:rPr lang="en-US" sz="2999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Additionally,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 am part of a community of product owners where we discuss industry trends, challenges and opportunities. </a:t>
            </a:r>
          </a:p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Reflect:</a:t>
            </a:r>
          </a:p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community has been an excellent resource for staying up to date and sharing best practices on product owner roles.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5232025" cy="604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 dirty="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 2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73939" y="1715405"/>
            <a:ext cx="16740121" cy="5493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endParaRPr lang="en-US" sz="3399" b="1" dirty="0">
              <a:solidFill>
                <a:srgbClr val="CB6CE6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“I always try to stay up to date with the latest technology. I go to conferences and meet ups relevant to my work and interests and read books and follow all major technical publications. I stay current with my credentials and certifications. I recently passed my AWS Solutions Architect exam and am now preparing for the second set of exams. I follow </a:t>
            </a:r>
            <a:r>
              <a:rPr lang="en-US" sz="339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ThoughtWorks</a:t>
            </a:r>
            <a:r>
              <a:rPr lang="en-US" sz="33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Technology Radar and I have recently learned a lot about Micro-Frontends, and we are now building a framework to allow all teams to build FE applications that way.”</a:t>
            </a:r>
          </a:p>
        </p:txBody>
      </p:sp>
    </p:spTree>
    <p:extLst>
      <p:ext uri="{BB962C8B-B14F-4D97-AF65-F5344CB8AC3E}">
        <p14:creationId xmlns:p14="http://schemas.microsoft.com/office/powerpoint/2010/main" val="2575114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11088801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SENTENCE STRUCTURE TEMPLATES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67974" y="1848529"/>
            <a:ext cx="17416744" cy="679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Action: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One of the simplest ways to stay updated on technology trends is by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[actions]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Social media platforms like Twitter, LinkedIn, and YouTube are treasure troves of valuable information for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[what you learn from]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[actions],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you can gain insights into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[skills/ field]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 events and conferences offer valuable opportunities to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[what you can learn]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Online forums and communities dedicated to technology topics are excellent resources for staying updated and connecting with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[skills/ fields]</a:t>
            </a:r>
          </a:p>
          <a:p>
            <a:pPr algn="l">
              <a:lnSpc>
                <a:spcPts val="4900"/>
              </a:lnSpc>
            </a:pPr>
            <a:endParaRPr lang="en-US" sz="3500" dirty="0">
              <a:solidFill>
                <a:srgbClr val="95C7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9460" y="506074"/>
            <a:ext cx="11088801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SENTENCE STRUCTURE TEMPLATES</a:t>
            </a:r>
          </a:p>
        </p:txBody>
      </p:sp>
      <p:sp>
        <p:nvSpPr>
          <p:cNvPr id="3" name="Freeform 3"/>
          <p:cNvSpPr/>
          <p:nvPr/>
        </p:nvSpPr>
        <p:spPr>
          <a:xfrm>
            <a:off x="644664" y="22446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44664" y="2104482"/>
            <a:ext cx="17020523" cy="370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endParaRPr dirty="0"/>
          </a:p>
          <a:p>
            <a:pPr algn="l">
              <a:lnSpc>
                <a:spcPts val="4900"/>
              </a:lnSpc>
            </a:pPr>
            <a:r>
              <a:rPr lang="en-US" sz="3500" b="1" dirty="0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 example, when I learned about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[specific technology or trend]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I applied it to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[describe a project or task]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helped me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[explain the positive outcome]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 a result, we were able to </a:t>
            </a:r>
            <a:r>
              <a:rPr lang="en-US" sz="35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[mention any measurable impact]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53853" y="542256"/>
            <a:ext cx="14939893" cy="1660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99"/>
              </a:lnSpc>
            </a:pPr>
            <a:r>
              <a:rPr lang="en-US" sz="3999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Variations of “How do you stay updated on industry trends and new technologies?</a:t>
            </a:r>
          </a:p>
          <a:p>
            <a:pPr algn="just">
              <a:lnSpc>
                <a:spcPts val="4399"/>
              </a:lnSpc>
            </a:pPr>
            <a:r>
              <a:rPr lang="en-US" sz="3999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Give an example of how this has benefited your work.</a:t>
            </a:r>
          </a:p>
        </p:txBody>
      </p:sp>
      <p:sp>
        <p:nvSpPr>
          <p:cNvPr id="3" name="Freeform 3"/>
          <p:cNvSpPr/>
          <p:nvPr/>
        </p:nvSpPr>
        <p:spPr>
          <a:xfrm>
            <a:off x="614469" y="639342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1"/>
                </a:lnTo>
                <a:lnTo>
                  <a:pt x="0" y="1121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75195" y="2352940"/>
            <a:ext cx="16370317" cy="6905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How do you stay current with new trends?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How do you stay updated with the latest trends and developments in your field?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How do you keep updated with new technologies? and How are they associated with your work?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How do you ensure you are aware of the latest developments in your field? Share an instance where this knowledge benefited your work.</a:t>
            </a:r>
          </a:p>
          <a:p>
            <a:pPr marL="647700" lvl="1" indent="-323850" algn="l">
              <a:lnSpc>
                <a:spcPts val="6900"/>
              </a:lnSpc>
              <a:buFont typeface="Arial"/>
              <a:buChar char="•"/>
            </a:pPr>
            <a:r>
              <a:rPr lang="en-US" sz="30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how you stay informed about new technologies and industry changes? Give an example of a time this knowledge was useful.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88994" y="7365830"/>
            <a:ext cx="5556275" cy="14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BRAINSTORMING</a:t>
            </a:r>
          </a:p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Writing Time</a:t>
            </a:r>
          </a:p>
        </p:txBody>
      </p:sp>
      <p:sp>
        <p:nvSpPr>
          <p:cNvPr id="3" name="Freeform 3"/>
          <p:cNvSpPr/>
          <p:nvPr/>
        </p:nvSpPr>
        <p:spPr>
          <a:xfrm>
            <a:off x="6643279" y="2370922"/>
            <a:ext cx="4417378" cy="4411856"/>
          </a:xfrm>
          <a:custGeom>
            <a:avLst/>
            <a:gdLst/>
            <a:ahLst/>
            <a:cxnLst/>
            <a:rect l="l" t="t" r="r" b="b"/>
            <a:pathLst>
              <a:path w="4417378" h="4411856">
                <a:moveTo>
                  <a:pt x="0" y="0"/>
                </a:moveTo>
                <a:lnTo>
                  <a:pt x="4417379" y="0"/>
                </a:lnTo>
                <a:lnTo>
                  <a:pt x="4417379" y="4411856"/>
                </a:lnTo>
                <a:lnTo>
                  <a:pt x="0" y="4411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83478" y="2470108"/>
            <a:ext cx="4156364" cy="4114800"/>
          </a:xfrm>
          <a:custGeom>
            <a:avLst/>
            <a:gdLst/>
            <a:ahLst/>
            <a:cxnLst/>
            <a:rect l="l" t="t" r="r" b="b"/>
            <a:pathLst>
              <a:path w="4156364" h="4114800">
                <a:moveTo>
                  <a:pt x="0" y="0"/>
                </a:moveTo>
                <a:lnTo>
                  <a:pt x="4156364" y="0"/>
                </a:lnTo>
                <a:lnTo>
                  <a:pt x="41563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188994" y="7365830"/>
            <a:ext cx="5556275" cy="14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KEY POINTS TO TAKEAWAY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3458" y="3368188"/>
            <a:ext cx="9401084" cy="423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00"/>
              </a:lnSpc>
            </a:pPr>
            <a:r>
              <a:rPr lang="en-US" sz="150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1477</Words>
  <Application>Microsoft Office PowerPoint</Application>
  <PresentationFormat>Custom</PresentationFormat>
  <Paragraphs>123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Montserrat Classic Bold</vt:lpstr>
      <vt:lpstr>Calibri</vt:lpstr>
      <vt:lpstr>Inter</vt:lpstr>
      <vt:lpstr>Open Sans Bold</vt:lpstr>
      <vt:lpstr>Montserrat</vt:lpstr>
      <vt:lpstr>Inter Bold</vt:lpstr>
      <vt:lpstr>Arial</vt:lpstr>
      <vt:lpstr>Poppins Bold</vt:lpstr>
      <vt:lpstr>Montserrat Bold</vt:lpstr>
      <vt:lpstr>Montserrat Classic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INTERVIEW - LESSON 6</dc:title>
  <cp:lastModifiedBy>Truyen Le</cp:lastModifiedBy>
  <cp:revision>3</cp:revision>
  <dcterms:created xsi:type="dcterms:W3CDTF">2006-08-16T00:00:00Z</dcterms:created>
  <dcterms:modified xsi:type="dcterms:W3CDTF">2025-03-31T13:20:01Z</dcterms:modified>
  <dc:identifier>DAGZa_7enlM</dc:identifier>
</cp:coreProperties>
</file>