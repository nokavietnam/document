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8288000" cy="10287000"/>
  <p:notesSz cx="6858000" cy="9144000"/>
  <p:embeddedFontLst>
    <p:embeddedFont>
      <p:font typeface="Barlow Bold Bold" panose="020B0604020202020204" charset="0"/>
      <p:regular r:id="rId19"/>
    </p:embeddedFont>
    <p:embeddedFont>
      <p:font typeface="Barlow Medium Bold" panose="020B0604020202020204" charset="0"/>
      <p:regular r:id="rId20"/>
    </p:embeddedFont>
    <p:embeddedFont>
      <p:font typeface="Inter Bold" panose="020B0604020202020204" charset="0"/>
      <p:regular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Montserrat Bold" panose="00000800000000000000" charset="0"/>
      <p:regular r:id="rId26"/>
      <p:bold r:id="rId27"/>
    </p:embeddedFont>
    <p:embeddedFont>
      <p:font typeface="Montserrat Classic" panose="020B0604020202020204" charset="0"/>
      <p:regular r:id="rId28"/>
    </p:embeddedFont>
    <p:embeddedFont>
      <p:font typeface="Montserrat Classic Bold" panose="020B0604020202020204" charset="0"/>
      <p:regular r:id="rId29"/>
    </p:embeddedFont>
    <p:embeddedFont>
      <p:font typeface="Open Sans Bold" panose="020B0604020202020204" charset="0"/>
      <p:regular r:id="rId30"/>
    </p:embeddedFont>
    <p:embeddedFont>
      <p:font typeface="Poppins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18" Type="http://schemas.openxmlformats.org/officeDocument/2006/relationships/image" Target="../media/image3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17" Type="http://schemas.openxmlformats.org/officeDocument/2006/relationships/image" Target="../media/image35.sv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10" Type="http://schemas.openxmlformats.org/officeDocument/2006/relationships/image" Target="../media/image28.png"/><Relationship Id="rId19" Type="http://schemas.openxmlformats.org/officeDocument/2006/relationships/image" Target="../media/image37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Relationship Id="rId1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6301242" y="8616642"/>
            <a:ext cx="438008" cy="312180"/>
          </a:xfrm>
          <a:custGeom>
            <a:avLst/>
            <a:gdLst/>
            <a:ahLst/>
            <a:cxnLst/>
            <a:rect l="l" t="t" r="r" b="b"/>
            <a:pathLst>
              <a:path w="438008" h="312180">
                <a:moveTo>
                  <a:pt x="438008" y="0"/>
                </a:moveTo>
                <a:lnTo>
                  <a:pt x="0" y="0"/>
                </a:lnTo>
                <a:lnTo>
                  <a:pt x="0" y="312180"/>
                </a:lnTo>
                <a:lnTo>
                  <a:pt x="438008" y="312180"/>
                </a:lnTo>
                <a:lnTo>
                  <a:pt x="4380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025280" y="9100272"/>
            <a:ext cx="7991171" cy="900823"/>
            <a:chOff x="0" y="0"/>
            <a:chExt cx="10654894" cy="12010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54894" cy="1201097"/>
            </a:xfrm>
            <a:custGeom>
              <a:avLst/>
              <a:gdLst/>
              <a:ahLst/>
              <a:cxnLst/>
              <a:rect l="l" t="t" r="r" b="b"/>
              <a:pathLst>
                <a:path w="10654894" h="1201097">
                  <a:moveTo>
                    <a:pt x="0" y="0"/>
                  </a:moveTo>
                  <a:lnTo>
                    <a:pt x="10654894" y="0"/>
                  </a:lnTo>
                  <a:lnTo>
                    <a:pt x="10654894" y="1201097"/>
                  </a:lnTo>
                  <a:lnTo>
                    <a:pt x="0" y="1201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367739" y="336203"/>
              <a:ext cx="741786" cy="528691"/>
            </a:xfrm>
            <a:custGeom>
              <a:avLst/>
              <a:gdLst/>
              <a:ahLst/>
              <a:cxnLst/>
              <a:rect l="l" t="t" r="r" b="b"/>
              <a:pathLst>
                <a:path w="741786" h="528691">
                  <a:moveTo>
                    <a:pt x="0" y="0"/>
                  </a:moveTo>
                  <a:lnTo>
                    <a:pt x="741785" y="0"/>
                  </a:lnTo>
                  <a:lnTo>
                    <a:pt x="741785" y="528691"/>
                  </a:lnTo>
                  <a:lnTo>
                    <a:pt x="0" y="52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39854" y="325476"/>
              <a:ext cx="5375186" cy="502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sz="22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Get Started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61910" y="2993119"/>
            <a:ext cx="5787253" cy="114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LESSON 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7144" y="4350987"/>
            <a:ext cx="15562156" cy="1585026"/>
            <a:chOff x="0" y="0"/>
            <a:chExt cx="20749541" cy="2113368"/>
          </a:xfrm>
        </p:grpSpPr>
        <p:sp>
          <p:nvSpPr>
            <p:cNvPr id="9" name="TextBox 9"/>
            <p:cNvSpPr txBox="1"/>
            <p:nvPr/>
          </p:nvSpPr>
          <p:spPr>
            <a:xfrm>
              <a:off x="0" y="57150"/>
              <a:ext cx="20749541" cy="1259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50"/>
                </a:lnSpc>
              </a:pPr>
              <a:r>
                <a:rPr lang="en-US" sz="6500" b="1">
                  <a:solidFill>
                    <a:srgbClr val="00B9E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COMMON BEHAVIORAL QUESTIONS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24541" y="1573742"/>
              <a:ext cx="15997452" cy="539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799" b="1" spc="977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BEHAVIORAL INTERVIEW COURSE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945443"/>
            <a:ext cx="15723487" cy="5110391"/>
            <a:chOff x="0" y="0"/>
            <a:chExt cx="20964649" cy="68138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36727" cy="6813855"/>
            </a:xfrm>
            <a:custGeom>
              <a:avLst/>
              <a:gdLst/>
              <a:ahLst/>
              <a:cxnLst/>
              <a:rect l="l" t="t" r="r" b="b"/>
              <a:pathLst>
                <a:path w="13336727" h="6813855">
                  <a:moveTo>
                    <a:pt x="0" y="0"/>
                  </a:moveTo>
                  <a:lnTo>
                    <a:pt x="13336727" y="0"/>
                  </a:lnTo>
                  <a:lnTo>
                    <a:pt x="13336727" y="6813855"/>
                  </a:lnTo>
                  <a:lnTo>
                    <a:pt x="0" y="681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856800" y="402108"/>
              <a:ext cx="5386569" cy="1154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Revise questions 3 &amp; 4  lesson 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856800" y="2852998"/>
              <a:ext cx="6919625" cy="1154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9"/>
                </a:lnSpc>
              </a:pPr>
              <a:r>
                <a:rPr lang="en-US" sz="3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Where do you see yourself in the next 3 years?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897547" y="5512878"/>
              <a:ext cx="7067101" cy="1154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19"/>
                </a:lnSpc>
              </a:pPr>
              <a:r>
                <a:rPr lang="en-US" sz="3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Are you in the process with any other companies?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67982" y="522111"/>
              <a:ext cx="3250166" cy="529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7"/>
                </a:lnSpc>
              </a:pPr>
              <a:r>
                <a:rPr lang="en-US" sz="27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REVISE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63783" y="445844"/>
              <a:ext cx="1124439" cy="56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5"/>
                </a:lnSpc>
              </a:pPr>
              <a:r>
                <a:rPr lang="en-US" sz="2838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40982" y="3205251"/>
              <a:ext cx="3250166" cy="529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7"/>
                </a:lnSpc>
              </a:pPr>
              <a:r>
                <a:rPr lang="en-US" sz="27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QUESTION 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3783" y="3103584"/>
              <a:ext cx="1124439" cy="56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5"/>
                </a:lnSpc>
              </a:pPr>
              <a:r>
                <a:rPr lang="en-US" sz="2838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6382" y="5839732"/>
              <a:ext cx="3250166" cy="529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7"/>
                </a:lnSpc>
              </a:pPr>
              <a:r>
                <a:rPr lang="en-US" sz="2700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QUESTION 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63783" y="5763465"/>
              <a:ext cx="1124439" cy="56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35"/>
                </a:lnSpc>
              </a:pPr>
              <a:r>
                <a:rPr lang="en-US" sz="2838">
                  <a:solidFill>
                    <a:srgbClr val="FFFFFF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03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83832" y="967582"/>
              <a:ext cx="4791343" cy="4791343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AA0FF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1629999" y="1825877"/>
              <a:ext cx="3499008" cy="3074753"/>
            </a:xfrm>
            <a:custGeom>
              <a:avLst/>
              <a:gdLst/>
              <a:ahLst/>
              <a:cxnLst/>
              <a:rect l="l" t="t" r="r" b="b"/>
              <a:pathLst>
                <a:path w="3499008" h="3074753">
                  <a:moveTo>
                    <a:pt x="0" y="0"/>
                  </a:moveTo>
                  <a:lnTo>
                    <a:pt x="3499009" y="0"/>
                  </a:lnTo>
                  <a:lnTo>
                    <a:pt x="3499009" y="3074753"/>
                  </a:lnTo>
                  <a:lnTo>
                    <a:pt x="0" y="307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72942" y="553294"/>
            <a:ext cx="15342116" cy="1312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</a:t>
            </a:r>
          </a:p>
          <a:p>
            <a:pPr algn="ctr">
              <a:lnSpc>
                <a:spcPts val="5208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TOPIC: COMMON BAHVIORAL INTERVIEW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0054" y="425439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566532" y="5851313"/>
          <a:ext cx="11180559" cy="1585722"/>
        </p:xfrm>
        <a:graphic>
          <a:graphicData uri="http://schemas.openxmlformats.org/drawingml/2006/table">
            <a:tbl>
              <a:tblPr/>
              <a:tblGrid>
                <a:gridCol w="11180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3200">
                <a:tc>
                  <a:txBody>
                    <a:bodyPr/>
                    <a:lstStyle/>
                    <a:p>
                      <a:pPr algn="l">
                        <a:lnSpc>
                          <a:spcPts val="4900"/>
                        </a:lnSpc>
                        <a:defRPr/>
                      </a:pPr>
                      <a:r>
                        <a:rPr lang="en-US" sz="3500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Why do you want to join us? What made you choose us but not othercompanies?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3540054" y="5977699"/>
            <a:ext cx="795045" cy="79504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3614187" y="1028700"/>
            <a:ext cx="2209289" cy="2057400"/>
          </a:xfrm>
          <a:custGeom>
            <a:avLst/>
            <a:gdLst/>
            <a:ahLst/>
            <a:cxnLst/>
            <a:rect l="l" t="t" r="r" b="b"/>
            <a:pathLst>
              <a:path w="2209289" h="2057400">
                <a:moveTo>
                  <a:pt x="0" y="0"/>
                </a:moveTo>
                <a:lnTo>
                  <a:pt x="2209289" y="0"/>
                </a:lnTo>
                <a:lnTo>
                  <a:pt x="220928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718831" y="4290353"/>
            <a:ext cx="11820339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are you looking for new jobs?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73488" y="1832824"/>
            <a:ext cx="7899812" cy="604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 dirty="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REVISE QUESTIONS 1 &amp;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0054" y="4337978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40054" y="6061278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6107" y="227450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5400000">
            <a:off x="7209223" y="3855666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8"/>
                </a:lnTo>
                <a:lnTo>
                  <a:pt x="0" y="58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564885" y="2310462"/>
            <a:ext cx="11820339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do you see yourself in the next 3 years?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4030" y="549159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6107" y="2358087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7340" y="5855294"/>
            <a:ext cx="15873193" cy="98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85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They are trying to learn about your long-term plans and how well they match the job and the company.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7340" y="7388967"/>
            <a:ext cx="15873193" cy="98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385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They want to know if you're committed to staying in the role for a while and if your career goals align with what they can offer.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48632" y="2023191"/>
            <a:ext cx="8469693" cy="7459012"/>
            <a:chOff x="0" y="0"/>
            <a:chExt cx="11292924" cy="9945350"/>
          </a:xfrm>
        </p:grpSpPr>
        <p:sp>
          <p:nvSpPr>
            <p:cNvPr id="3" name="Freeform 3"/>
            <p:cNvSpPr/>
            <p:nvPr/>
          </p:nvSpPr>
          <p:spPr>
            <a:xfrm rot="-5281446" flipH="1" flipV="1">
              <a:off x="124350" y="4904348"/>
              <a:ext cx="3853072" cy="167846"/>
            </a:xfrm>
            <a:custGeom>
              <a:avLst/>
              <a:gdLst/>
              <a:ahLst/>
              <a:cxnLst/>
              <a:rect l="l" t="t" r="r" b="b"/>
              <a:pathLst>
                <a:path w="3853072" h="167846">
                  <a:moveTo>
                    <a:pt x="3853072" y="167845"/>
                  </a:moveTo>
                  <a:lnTo>
                    <a:pt x="0" y="167845"/>
                  </a:lnTo>
                  <a:lnTo>
                    <a:pt x="0" y="0"/>
                  </a:lnTo>
                  <a:lnTo>
                    <a:pt x="3853072" y="0"/>
                  </a:lnTo>
                  <a:lnTo>
                    <a:pt x="3853072" y="16784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56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 rot="4662772">
              <a:off x="-465449" y="2196720"/>
              <a:ext cx="3996293" cy="174085"/>
            </a:xfrm>
            <a:custGeom>
              <a:avLst/>
              <a:gdLst/>
              <a:ahLst/>
              <a:cxnLst/>
              <a:rect l="l" t="t" r="r" b="b"/>
              <a:pathLst>
                <a:path w="3996293" h="174085">
                  <a:moveTo>
                    <a:pt x="0" y="0"/>
                  </a:moveTo>
                  <a:lnTo>
                    <a:pt x="3996294" y="0"/>
                  </a:lnTo>
                  <a:lnTo>
                    <a:pt x="3996294" y="174084"/>
                  </a:lnTo>
                  <a:lnTo>
                    <a:pt x="0" y="174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56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81945" y="906320"/>
              <a:ext cx="5600356" cy="243960"/>
            </a:xfrm>
            <a:custGeom>
              <a:avLst/>
              <a:gdLst/>
              <a:ahLst/>
              <a:cxnLst/>
              <a:rect l="l" t="t" r="r" b="b"/>
              <a:pathLst>
                <a:path w="5600356" h="243960">
                  <a:moveTo>
                    <a:pt x="0" y="0"/>
                  </a:moveTo>
                  <a:lnTo>
                    <a:pt x="5600356" y="0"/>
                  </a:lnTo>
                  <a:lnTo>
                    <a:pt x="5600356" y="243960"/>
                  </a:lnTo>
                  <a:lnTo>
                    <a:pt x="0" y="24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56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716680" y="6188485"/>
              <a:ext cx="5600356" cy="243960"/>
            </a:xfrm>
            <a:custGeom>
              <a:avLst/>
              <a:gdLst/>
              <a:ahLst/>
              <a:cxnLst/>
              <a:rect l="l" t="t" r="r" b="b"/>
              <a:pathLst>
                <a:path w="5600356" h="243960">
                  <a:moveTo>
                    <a:pt x="0" y="0"/>
                  </a:moveTo>
                  <a:lnTo>
                    <a:pt x="5600356" y="0"/>
                  </a:lnTo>
                  <a:lnTo>
                    <a:pt x="5600356" y="243960"/>
                  </a:lnTo>
                  <a:lnTo>
                    <a:pt x="0" y="24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56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812487" y="3634136"/>
              <a:ext cx="5600356" cy="243960"/>
            </a:xfrm>
            <a:custGeom>
              <a:avLst/>
              <a:gdLst/>
              <a:ahLst/>
              <a:cxnLst/>
              <a:rect l="l" t="t" r="r" b="b"/>
              <a:pathLst>
                <a:path w="5600356" h="243960">
                  <a:moveTo>
                    <a:pt x="0" y="0"/>
                  </a:moveTo>
                  <a:lnTo>
                    <a:pt x="5600357" y="0"/>
                  </a:lnTo>
                  <a:lnTo>
                    <a:pt x="5600357" y="243960"/>
                  </a:lnTo>
                  <a:lnTo>
                    <a:pt x="0" y="24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56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 rot="-4320000" flipH="1" flipV="1">
              <a:off x="-482621" y="7439854"/>
              <a:ext cx="4266460" cy="185854"/>
            </a:xfrm>
            <a:custGeom>
              <a:avLst/>
              <a:gdLst/>
              <a:ahLst/>
              <a:cxnLst/>
              <a:rect l="l" t="t" r="r" b="b"/>
              <a:pathLst>
                <a:path w="4266460" h="185854">
                  <a:moveTo>
                    <a:pt x="4266460" y="185853"/>
                  </a:moveTo>
                  <a:lnTo>
                    <a:pt x="0" y="185853"/>
                  </a:lnTo>
                  <a:lnTo>
                    <a:pt x="0" y="0"/>
                  </a:lnTo>
                  <a:lnTo>
                    <a:pt x="4266460" y="0"/>
                  </a:lnTo>
                  <a:lnTo>
                    <a:pt x="4266460" y="185853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5603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0" y="0"/>
              <a:ext cx="1909461" cy="190946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9BFB3"/>
              </a:solidFill>
              <a:ln w="57150" cap="sq">
                <a:solidFill>
                  <a:srgbClr val="2B2A2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5033" tIns="55033" rIns="55033" bIns="55033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2718829" y="107613"/>
              <a:ext cx="5803289" cy="1801848"/>
              <a:chOff x="0" y="0"/>
              <a:chExt cx="2979669" cy="9251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979669" cy="925150"/>
              </a:xfrm>
              <a:custGeom>
                <a:avLst/>
                <a:gdLst/>
                <a:ahLst/>
                <a:cxnLst/>
                <a:rect l="l" t="t" r="r" b="b"/>
                <a:pathLst>
                  <a:path w="2979669" h="925150">
                    <a:moveTo>
                      <a:pt x="2855209" y="925150"/>
                    </a:moveTo>
                    <a:lnTo>
                      <a:pt x="124460" y="925150"/>
                    </a:lnTo>
                    <a:cubicBezTo>
                      <a:pt x="55880" y="925150"/>
                      <a:pt x="0" y="869270"/>
                      <a:pt x="0" y="80069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55209" y="0"/>
                    </a:lnTo>
                    <a:cubicBezTo>
                      <a:pt x="2923789" y="0"/>
                      <a:pt x="2979669" y="55880"/>
                      <a:pt x="2979669" y="124460"/>
                    </a:cubicBezTo>
                    <a:lnTo>
                      <a:pt x="2979669" y="800690"/>
                    </a:lnTo>
                    <a:cubicBezTo>
                      <a:pt x="2979669" y="869270"/>
                      <a:pt x="2923789" y="925150"/>
                      <a:pt x="2855209" y="92515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925123" y="2699580"/>
              <a:ext cx="1909461" cy="190946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B6CE6"/>
              </a:solidFill>
              <a:ln w="57150" cap="sq">
                <a:solidFill>
                  <a:srgbClr val="2B2A2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5033" tIns="55033" rIns="55033" bIns="55033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626088" y="2773061"/>
              <a:ext cx="7485833" cy="1835980"/>
              <a:chOff x="0" y="0"/>
              <a:chExt cx="3843563" cy="9426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843563" cy="942675"/>
              </a:xfrm>
              <a:custGeom>
                <a:avLst/>
                <a:gdLst/>
                <a:ahLst/>
                <a:cxnLst/>
                <a:rect l="l" t="t" r="r" b="b"/>
                <a:pathLst>
                  <a:path w="3843563" h="942675">
                    <a:moveTo>
                      <a:pt x="3719103" y="942675"/>
                    </a:moveTo>
                    <a:lnTo>
                      <a:pt x="124460" y="942675"/>
                    </a:lnTo>
                    <a:cubicBezTo>
                      <a:pt x="55880" y="942675"/>
                      <a:pt x="0" y="886795"/>
                      <a:pt x="0" y="8182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719103" y="0"/>
                    </a:lnTo>
                    <a:cubicBezTo>
                      <a:pt x="3787683" y="0"/>
                      <a:pt x="3843563" y="55880"/>
                      <a:pt x="3843563" y="124460"/>
                    </a:cubicBezTo>
                    <a:lnTo>
                      <a:pt x="3843563" y="818215"/>
                    </a:lnTo>
                    <a:cubicBezTo>
                      <a:pt x="3843563" y="886795"/>
                      <a:pt x="3787683" y="942675"/>
                      <a:pt x="3719103" y="942675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7695870"/>
              <a:ext cx="1909461" cy="1909461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5C740"/>
              </a:solidFill>
              <a:ln w="57150" cap="sq">
                <a:solidFill>
                  <a:srgbClr val="2B2A2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5033" tIns="55033" rIns="55033" bIns="55033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553564" y="5393260"/>
              <a:ext cx="7564927" cy="1781803"/>
              <a:chOff x="0" y="0"/>
              <a:chExt cx="3884174" cy="91485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3884174" cy="914858"/>
              </a:xfrm>
              <a:custGeom>
                <a:avLst/>
                <a:gdLst/>
                <a:ahLst/>
                <a:cxnLst/>
                <a:rect l="l" t="t" r="r" b="b"/>
                <a:pathLst>
                  <a:path w="3884174" h="914858">
                    <a:moveTo>
                      <a:pt x="3759714" y="914858"/>
                    </a:moveTo>
                    <a:lnTo>
                      <a:pt x="124460" y="914858"/>
                    </a:lnTo>
                    <a:cubicBezTo>
                      <a:pt x="55880" y="914858"/>
                      <a:pt x="0" y="858978"/>
                      <a:pt x="0" y="79039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759714" y="0"/>
                    </a:lnTo>
                    <a:cubicBezTo>
                      <a:pt x="3828293" y="0"/>
                      <a:pt x="3884174" y="55880"/>
                      <a:pt x="3884174" y="124460"/>
                    </a:cubicBezTo>
                    <a:lnTo>
                      <a:pt x="3884174" y="790398"/>
                    </a:lnTo>
                    <a:cubicBezTo>
                      <a:pt x="3884174" y="858978"/>
                      <a:pt x="3828293" y="914858"/>
                      <a:pt x="3759714" y="914858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78112" y="409481"/>
              <a:ext cx="1153237" cy="1004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69"/>
                </a:lnSpc>
                <a:spcBef>
                  <a:spcPct val="0"/>
                </a:spcBef>
              </a:pPr>
              <a:r>
                <a:rPr lang="en-US" sz="4549" b="1" spc="145" dirty="0">
                  <a:solidFill>
                    <a:srgbClr val="2B2A2A"/>
                  </a:solidFill>
                  <a:latin typeface="Barlow Bold Bold"/>
                  <a:ea typeface="Barlow Bold Bold"/>
                  <a:cs typeface="Barlow Bold Bold"/>
                  <a:sym typeface="Barlow Bold Bold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75523" y="317291"/>
              <a:ext cx="5781563" cy="1397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 spc="96">
                  <a:solidFill>
                    <a:srgbClr val="FFFFFF"/>
                  </a:solidFill>
                  <a:latin typeface="Barlow Medium Bold"/>
                  <a:ea typeface="Barlow Medium Bold"/>
                  <a:cs typeface="Barlow Medium Bold"/>
                  <a:sym typeface="Barlow Medium Bold"/>
                </a:rPr>
                <a:t>Being Honest and Realistic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32843" y="3109062"/>
              <a:ext cx="1153237" cy="10047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69"/>
                </a:lnSpc>
                <a:spcBef>
                  <a:spcPct val="0"/>
                </a:spcBef>
              </a:pPr>
              <a:r>
                <a:rPr lang="en-US" sz="4549" b="1" spc="145">
                  <a:solidFill>
                    <a:srgbClr val="2B2A2A"/>
                  </a:solidFill>
                  <a:latin typeface="Barlow Bold Bold"/>
                  <a:ea typeface="Barlow Bold Bold"/>
                  <a:cs typeface="Barlow Bold Bold"/>
                  <a:sym typeface="Barlow Bold Bold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17851" y="3253092"/>
              <a:ext cx="7375074" cy="685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 spc="96">
                  <a:solidFill>
                    <a:srgbClr val="FFFFFF"/>
                  </a:solidFill>
                  <a:latin typeface="Barlow Medium Bold"/>
                  <a:ea typeface="Barlow Medium Bold"/>
                  <a:cs typeface="Barlow Medium Bold"/>
                  <a:sym typeface="Barlow Medium Bold"/>
                </a:rPr>
                <a:t>Showcasing Commitment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8112" y="8105351"/>
              <a:ext cx="1153237" cy="1004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69"/>
                </a:lnSpc>
                <a:spcBef>
                  <a:spcPct val="0"/>
                </a:spcBef>
              </a:pPr>
              <a:r>
                <a:rPr lang="en-US" sz="4549" b="1" spc="145">
                  <a:solidFill>
                    <a:srgbClr val="2B2A2A"/>
                  </a:solidFill>
                  <a:latin typeface="Barlow Bold Bold"/>
                  <a:ea typeface="Barlow Bold Bold"/>
                  <a:cs typeface="Barlow Bold Bold"/>
                  <a:sym typeface="Barlow Bold Bold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31148" y="5547473"/>
              <a:ext cx="6902307" cy="1397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 spc="96">
                  <a:solidFill>
                    <a:srgbClr val="FFFFFF"/>
                  </a:solidFill>
                  <a:latin typeface="Barlow Medium Bold"/>
                  <a:ea typeface="Barlow Medium Bold"/>
                  <a:cs typeface="Barlow Medium Bold"/>
                  <a:sym typeface="Barlow Medium Bold"/>
                </a:rPr>
                <a:t>Highlighting Personal and Professional Growth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03026" y="5265602"/>
              <a:ext cx="1909461" cy="1909461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E8C2"/>
              </a:solidFill>
              <a:ln w="57150" cap="sq">
                <a:solidFill>
                  <a:srgbClr val="2B2A2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5033" tIns="55033" rIns="55033" bIns="55033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281138" y="5675083"/>
              <a:ext cx="1153237" cy="1004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69"/>
                </a:lnSpc>
                <a:spcBef>
                  <a:spcPct val="0"/>
                </a:spcBef>
              </a:pPr>
              <a:r>
                <a:rPr lang="en-US" sz="4549" b="1" spc="145">
                  <a:solidFill>
                    <a:srgbClr val="2B2A2A"/>
                  </a:solidFill>
                  <a:latin typeface="Barlow Bold Bold"/>
                  <a:ea typeface="Barlow Bold Bold"/>
                  <a:cs typeface="Barlow Bold Bold"/>
                  <a:sym typeface="Barlow Bold Bold"/>
                </a:rPr>
                <a:t>03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1789384" y="8893544"/>
              <a:ext cx="5600356" cy="243960"/>
            </a:xfrm>
            <a:custGeom>
              <a:avLst/>
              <a:gdLst/>
              <a:ahLst/>
              <a:cxnLst/>
              <a:rect l="l" t="t" r="r" b="b"/>
              <a:pathLst>
                <a:path w="5600356" h="243960">
                  <a:moveTo>
                    <a:pt x="0" y="0"/>
                  </a:moveTo>
                  <a:lnTo>
                    <a:pt x="5600356" y="0"/>
                  </a:lnTo>
                  <a:lnTo>
                    <a:pt x="5600356" y="243960"/>
                  </a:lnTo>
                  <a:lnTo>
                    <a:pt x="0" y="24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5603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2609555" y="8193181"/>
              <a:ext cx="5803289" cy="1752169"/>
              <a:chOff x="0" y="0"/>
              <a:chExt cx="2979669" cy="89964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979669" cy="899643"/>
              </a:xfrm>
              <a:custGeom>
                <a:avLst/>
                <a:gdLst/>
                <a:ahLst/>
                <a:cxnLst/>
                <a:rect l="l" t="t" r="r" b="b"/>
                <a:pathLst>
                  <a:path w="2979669" h="899643">
                    <a:moveTo>
                      <a:pt x="2855209" y="899642"/>
                    </a:moveTo>
                    <a:lnTo>
                      <a:pt x="124460" y="899642"/>
                    </a:lnTo>
                    <a:cubicBezTo>
                      <a:pt x="55880" y="899642"/>
                      <a:pt x="0" y="843762"/>
                      <a:pt x="0" y="77518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55209" y="0"/>
                    </a:lnTo>
                    <a:cubicBezTo>
                      <a:pt x="2923789" y="0"/>
                      <a:pt x="2979669" y="55880"/>
                      <a:pt x="2979669" y="124460"/>
                    </a:cubicBezTo>
                    <a:lnTo>
                      <a:pt x="2979669" y="775183"/>
                    </a:lnTo>
                    <a:cubicBezTo>
                      <a:pt x="2979669" y="843762"/>
                      <a:pt x="2923789" y="899643"/>
                      <a:pt x="2855209" y="899643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148691" y="8673663"/>
              <a:ext cx="5373426" cy="685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 spc="96">
                  <a:solidFill>
                    <a:srgbClr val="FFFFFF"/>
                  </a:solidFill>
                  <a:latin typeface="Barlow Medium Bold"/>
                  <a:ea typeface="Barlow Medium Bold"/>
                  <a:cs typeface="Barlow Medium Bold"/>
                  <a:sym typeface="Barlow Medium Bold"/>
                </a:rPr>
                <a:t>STAR TECHNIQUE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604030" y="549159"/>
            <a:ext cx="7899812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STRUCTURING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18630" y="2108745"/>
            <a:ext cx="16275958" cy="7494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15E8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Situation: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Over the next three years, I see myself still working at your company and advancing in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my technical skills and taking on more leadership responsibilities.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algn="just">
              <a:lnSpc>
                <a:spcPts val="4900"/>
              </a:lnSpc>
            </a:pP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aim to become a lead backend developer of a small team, where I can not only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contribute to code development </a:t>
            </a: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but also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mentor junior developers and lead related projects. </a:t>
            </a:r>
            <a:r>
              <a:rPr lang="en-US" sz="3500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want to be a person who</a:t>
            </a:r>
            <a:r>
              <a:rPr lang="en-US" sz="35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plays a key role in shaping the architecture of our systems and driving innovation within the team.</a:t>
            </a:r>
          </a:p>
          <a:p>
            <a:pPr algn="just">
              <a:lnSpc>
                <a:spcPts val="4900"/>
              </a:lnSpc>
            </a:pPr>
            <a:endParaRPr lang="en-US" sz="35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51514" y="1843523"/>
            <a:ext cx="16740121" cy="778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To achieve this, I plan to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continue upgrading my strength in microservices and serverless architecture. 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will pursue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relevant certifications and actively participate in team discussions to share insights and best practices. 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Also, I aim to take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initiative on projects that allow me to showcase my leadership abilities and collaborate with cross-functional teams.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Three years later, I see myself as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trusted technical leader within the organization, having successfully led several impactful projects that improve system performance and enhance user experience. 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believe that this growth will not only benefit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my career 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but also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99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contribute</a:t>
            </a:r>
            <a:r>
              <a:rPr lang="en-US" sz="3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significantly to the company's goals and technological advancements.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57400" y="432368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3" y="0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647700" y="1333500"/>
            <a:ext cx="16992600" cy="8106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000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 Bold"/>
                <a:cs typeface="Montserrat Bold"/>
                <a:sym typeface="Montserrat"/>
              </a:rPr>
              <a:t> &amp; </a:t>
            </a:r>
            <a:r>
              <a:rPr lang="en-US" sz="30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 the next three years, I aim to become/ want to be 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[specific position].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hope to take on more responsibility by 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[describe a particular goal]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In three years from now, I still want to work for your company. During the next 3 years, I plan to become …………………</a:t>
            </a:r>
          </a:p>
          <a:p>
            <a:pPr algn="l">
              <a:lnSpc>
                <a:spcPts val="4900"/>
              </a:lnSpc>
            </a:pPr>
            <a:r>
              <a:rPr lang="en-US" sz="3000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get there, I plan to 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[what you will do]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will seek opportunities to 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[mention actions]</a:t>
            </a:r>
          </a:p>
          <a:p>
            <a:pPr algn="l">
              <a:lnSpc>
                <a:spcPts val="4900"/>
              </a:lnSpc>
            </a:pPr>
            <a:r>
              <a:rPr lang="en-US" sz="3000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then, I hope to.........................................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the end of three years, I expect to 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[describe the outcome]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Ultimately, I aim to enhance my skills in</a:t>
            </a:r>
            <a:r>
              <a:rPr lang="en-US" sz="3000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 [specific technologies or practices]</a:t>
            </a: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making a significant impact on my team and the company.</a:t>
            </a:r>
            <a:endParaRPr lang="en-US" sz="3000" dirty="0">
              <a:solidFill>
                <a:srgbClr val="95C7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4668" y="1479263"/>
            <a:ext cx="14110937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“Why are you looking for new jobs?”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197653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1" y="0"/>
                </a:lnTo>
                <a:lnTo>
                  <a:pt x="1121451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618657"/>
            <a:ext cx="16698574" cy="599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are your career goals for the next three years?</a:t>
            </a:r>
          </a:p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do you envision your professional growth over the next three years?</a:t>
            </a:r>
          </a:p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position do you hope to hold in three years?</a:t>
            </a:r>
          </a:p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Where do you see your career heading in the next few years?</a:t>
            </a:r>
          </a:p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skills or experiences do you hope to gain in the next three years?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6120792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935311" y="2505665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8" y="0"/>
                </a:lnTo>
                <a:lnTo>
                  <a:pt x="4417378" y="4411856"/>
                </a:lnTo>
                <a:lnTo>
                  <a:pt x="0" y="441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6107" y="2274509"/>
            <a:ext cx="795045" cy="7950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5E8C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84229" y="330603"/>
            <a:ext cx="819801" cy="995343"/>
          </a:xfrm>
          <a:custGeom>
            <a:avLst/>
            <a:gdLst/>
            <a:ahLst/>
            <a:cxnLst/>
            <a:rect l="l" t="t" r="r" b="b"/>
            <a:pathLst>
              <a:path w="819801" h="995343">
                <a:moveTo>
                  <a:pt x="0" y="0"/>
                </a:moveTo>
                <a:lnTo>
                  <a:pt x="819801" y="0"/>
                </a:lnTo>
                <a:lnTo>
                  <a:pt x="819801" y="995343"/>
                </a:lnTo>
                <a:lnTo>
                  <a:pt x="0" y="99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564885" y="2310462"/>
            <a:ext cx="11820339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Are you in the process with any other companies?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4030" y="549159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ANALYZING QUESTIONS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6107" y="2358087"/>
            <a:ext cx="795045" cy="6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900" dirty="0">
                <a:solidFill>
                  <a:srgbClr val="900EED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6107" y="6478601"/>
            <a:ext cx="15918561" cy="2648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interest in this role, at this company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job search is well-thought-out and focused, rather than scatter-gun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assess whether you are discussing with other competitors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quickly they will have to move if they were to offer you the job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Freeform 9"/>
          <p:cNvSpPr/>
          <p:nvPr/>
        </p:nvSpPr>
        <p:spPr>
          <a:xfrm rot="5400000">
            <a:off x="8190462" y="4507920"/>
            <a:ext cx="1943694" cy="587967"/>
          </a:xfrm>
          <a:custGeom>
            <a:avLst/>
            <a:gdLst/>
            <a:ahLst/>
            <a:cxnLst/>
            <a:rect l="l" t="t" r="r" b="b"/>
            <a:pathLst>
              <a:path w="1943694" h="587967">
                <a:moveTo>
                  <a:pt x="0" y="0"/>
                </a:moveTo>
                <a:lnTo>
                  <a:pt x="1943694" y="0"/>
                </a:lnTo>
                <a:lnTo>
                  <a:pt x="1943694" y="587967"/>
                </a:lnTo>
                <a:lnTo>
                  <a:pt x="0" y="58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35881" y="3344236"/>
            <a:ext cx="2305777" cy="2307415"/>
            <a:chOff x="0" y="0"/>
            <a:chExt cx="703047" cy="703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3047" cy="703546"/>
            </a:xfrm>
            <a:custGeom>
              <a:avLst/>
              <a:gdLst/>
              <a:ahLst/>
              <a:cxnLst/>
              <a:rect l="l" t="t" r="r" b="b"/>
              <a:pathLst>
                <a:path w="703047" h="703546">
                  <a:moveTo>
                    <a:pt x="0" y="0"/>
                  </a:moveTo>
                  <a:lnTo>
                    <a:pt x="703047" y="0"/>
                  </a:lnTo>
                  <a:lnTo>
                    <a:pt x="703047" y="703546"/>
                  </a:lnTo>
                  <a:lnTo>
                    <a:pt x="0" y="703546"/>
                  </a:lnTo>
                  <a:close/>
                </a:path>
              </a:pathLst>
            </a:custGeom>
            <a:solidFill>
              <a:srgbClr val="3BB8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03047" cy="741646"/>
            </a:xfrm>
            <a:prstGeom prst="rect">
              <a:avLst/>
            </a:prstGeom>
          </p:spPr>
          <p:txBody>
            <a:bodyPr lIns="45857" tIns="45857" rIns="45857" bIns="4585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35881" y="6056334"/>
            <a:ext cx="2305777" cy="2261392"/>
            <a:chOff x="0" y="0"/>
            <a:chExt cx="703047" cy="6895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3047" cy="689513"/>
            </a:xfrm>
            <a:custGeom>
              <a:avLst/>
              <a:gdLst/>
              <a:ahLst/>
              <a:cxnLst/>
              <a:rect l="l" t="t" r="r" b="b"/>
              <a:pathLst>
                <a:path w="703047" h="689513">
                  <a:moveTo>
                    <a:pt x="0" y="0"/>
                  </a:moveTo>
                  <a:lnTo>
                    <a:pt x="703047" y="0"/>
                  </a:lnTo>
                  <a:lnTo>
                    <a:pt x="703047" y="689513"/>
                  </a:lnTo>
                  <a:lnTo>
                    <a:pt x="0" y="689513"/>
                  </a:lnTo>
                  <a:close/>
                </a:path>
              </a:pathLst>
            </a:custGeom>
            <a:solidFill>
              <a:srgbClr val="4A80B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03047" cy="727613"/>
            </a:xfrm>
            <a:prstGeom prst="rect">
              <a:avLst/>
            </a:prstGeom>
          </p:spPr>
          <p:txBody>
            <a:bodyPr lIns="45857" tIns="45857" rIns="45857" bIns="4585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46341" y="3344236"/>
            <a:ext cx="2407780" cy="2307415"/>
            <a:chOff x="0" y="0"/>
            <a:chExt cx="734148" cy="7035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4148" cy="703546"/>
            </a:xfrm>
            <a:custGeom>
              <a:avLst/>
              <a:gdLst/>
              <a:ahLst/>
              <a:cxnLst/>
              <a:rect l="l" t="t" r="r" b="b"/>
              <a:pathLst>
                <a:path w="734148" h="703546">
                  <a:moveTo>
                    <a:pt x="0" y="0"/>
                  </a:moveTo>
                  <a:lnTo>
                    <a:pt x="734148" y="0"/>
                  </a:lnTo>
                  <a:lnTo>
                    <a:pt x="734148" y="703546"/>
                  </a:lnTo>
                  <a:lnTo>
                    <a:pt x="0" y="703546"/>
                  </a:lnTo>
                  <a:close/>
                </a:path>
              </a:pathLst>
            </a:custGeom>
            <a:solidFill>
              <a:srgbClr val="35A7C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4148" cy="741646"/>
            </a:xfrm>
            <a:prstGeom prst="rect">
              <a:avLst/>
            </a:prstGeom>
          </p:spPr>
          <p:txBody>
            <a:bodyPr lIns="45857" tIns="45857" rIns="45857" bIns="4585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46341" y="6056334"/>
            <a:ext cx="2341105" cy="2389957"/>
            <a:chOff x="0" y="0"/>
            <a:chExt cx="713818" cy="728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3818" cy="728714"/>
            </a:xfrm>
            <a:custGeom>
              <a:avLst/>
              <a:gdLst/>
              <a:ahLst/>
              <a:cxnLst/>
              <a:rect l="l" t="t" r="r" b="b"/>
              <a:pathLst>
                <a:path w="713818" h="728714">
                  <a:moveTo>
                    <a:pt x="0" y="0"/>
                  </a:moveTo>
                  <a:lnTo>
                    <a:pt x="713818" y="0"/>
                  </a:lnTo>
                  <a:lnTo>
                    <a:pt x="713818" y="728714"/>
                  </a:lnTo>
                  <a:lnTo>
                    <a:pt x="0" y="728714"/>
                  </a:lnTo>
                  <a:close/>
                </a:path>
              </a:pathLst>
            </a:custGeom>
            <a:solidFill>
              <a:srgbClr val="7E5AB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13818" cy="766814"/>
            </a:xfrm>
            <a:prstGeom prst="rect">
              <a:avLst/>
            </a:prstGeom>
          </p:spPr>
          <p:txBody>
            <a:bodyPr lIns="45857" tIns="45857" rIns="45857" bIns="4585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36888" y="3946881"/>
            <a:ext cx="3814224" cy="38142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6C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2700000">
            <a:off x="10005421" y="6744604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rot="2700000">
            <a:off x="7348496" y="6744604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rot="8100000">
            <a:off x="7348496" y="4087678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-8100000">
            <a:off x="10005421" y="4087678"/>
            <a:ext cx="934083" cy="875703"/>
          </a:xfrm>
          <a:custGeom>
            <a:avLst/>
            <a:gdLst/>
            <a:ahLst/>
            <a:cxnLst/>
            <a:rect l="l" t="t" r="r" b="b"/>
            <a:pathLst>
              <a:path w="934083" h="87570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7562403" y="4391220"/>
            <a:ext cx="3109588" cy="2862214"/>
            <a:chOff x="0" y="0"/>
            <a:chExt cx="883048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83048" cy="812800"/>
            </a:xfrm>
            <a:custGeom>
              <a:avLst/>
              <a:gdLst/>
              <a:ahLst/>
              <a:cxnLst/>
              <a:rect l="l" t="t" r="r" b="b"/>
              <a:pathLst>
                <a:path w="883048" h="812800">
                  <a:moveTo>
                    <a:pt x="441524" y="0"/>
                  </a:moveTo>
                  <a:cubicBezTo>
                    <a:pt x="197677" y="0"/>
                    <a:pt x="0" y="181951"/>
                    <a:pt x="0" y="406400"/>
                  </a:cubicBezTo>
                  <a:cubicBezTo>
                    <a:pt x="0" y="630849"/>
                    <a:pt x="197677" y="812800"/>
                    <a:pt x="441524" y="812800"/>
                  </a:cubicBezTo>
                  <a:cubicBezTo>
                    <a:pt x="685371" y="812800"/>
                    <a:pt x="883048" y="630849"/>
                    <a:pt x="883048" y="406400"/>
                  </a:cubicBezTo>
                  <a:cubicBezTo>
                    <a:pt x="883048" y="181951"/>
                    <a:pt x="685371" y="0"/>
                    <a:pt x="441524" y="0"/>
                  </a:cubicBezTo>
                  <a:close/>
                </a:path>
              </a:pathLst>
            </a:custGeom>
            <a:solidFill>
              <a:srgbClr val="E7E7E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86" y="38100"/>
              <a:ext cx="717477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909209" y="5092143"/>
            <a:ext cx="2486123" cy="138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19" dirty="0">
                <a:solidFill>
                  <a:srgbClr val="15E8C2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sz="3999" b="1" spc="19" dirty="0">
                <a:solidFill>
                  <a:srgbClr val="CB6CE6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sz="3999" b="1" spc="19" dirty="0">
                <a:solidFill>
                  <a:srgbClr val="95C740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sz="3999" b="1" spc="19" dirty="0">
                <a:solidFill>
                  <a:srgbClr val="C6A237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sz="3999" b="1" spc="1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FORMAT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96805" y="3335050"/>
            <a:ext cx="2558426" cy="16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11">
                <a:solidFill>
                  <a:srgbClr val="35A7C0"/>
                </a:solidFill>
                <a:latin typeface="Inter Bold"/>
                <a:ea typeface="Inter Bold"/>
                <a:cs typeface="Inter Bold"/>
                <a:sym typeface="Inter Bold"/>
              </a:rPr>
              <a:t>Explain your interest in the company</a:t>
            </a:r>
          </a:p>
          <a:p>
            <a:pPr algn="l">
              <a:lnSpc>
                <a:spcPts val="3359"/>
              </a:lnSpc>
            </a:pPr>
            <a:endParaRPr lang="en-US" sz="2399" b="1" spc="11">
              <a:solidFill>
                <a:srgbClr val="35A7C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049396" y="3294105"/>
            <a:ext cx="943881" cy="89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316"/>
              </a:lnSpc>
            </a:pPr>
            <a:r>
              <a:rPr lang="en-US" sz="5226" b="1" spc="26">
                <a:solidFill>
                  <a:srgbClr val="35A7C0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27" name="AutoShape 27"/>
          <p:cNvSpPr/>
          <p:nvPr/>
        </p:nvSpPr>
        <p:spPr>
          <a:xfrm flipV="1">
            <a:off x="13488577" y="3444311"/>
            <a:ext cx="0" cy="620900"/>
          </a:xfrm>
          <a:prstGeom prst="line">
            <a:avLst/>
          </a:prstGeom>
          <a:ln w="19050" cap="flat">
            <a:solidFill>
              <a:srgbClr val="35A7C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5429431" y="3318287"/>
            <a:ext cx="907844" cy="85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37"/>
              </a:lnSpc>
            </a:pPr>
            <a:r>
              <a:rPr lang="en-US" sz="5026" b="1" spc="25" dirty="0">
                <a:solidFill>
                  <a:srgbClr val="3BB8B2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67477" y="3457790"/>
            <a:ext cx="2558426" cy="824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 b="1" spc="11" dirty="0">
                <a:solidFill>
                  <a:srgbClr val="3BB8B2"/>
                </a:solidFill>
                <a:latin typeface="Inter Bold"/>
                <a:ea typeface="Inter Bold"/>
                <a:cs typeface="Inter Bold"/>
                <a:sym typeface="Inter Bold"/>
              </a:rPr>
              <a:t>Be honest with your interviewer</a:t>
            </a:r>
          </a:p>
        </p:txBody>
      </p:sp>
      <p:sp>
        <p:nvSpPr>
          <p:cNvPr id="30" name="AutoShape 30"/>
          <p:cNvSpPr/>
          <p:nvPr/>
        </p:nvSpPr>
        <p:spPr>
          <a:xfrm flipV="1">
            <a:off x="4943656" y="3567051"/>
            <a:ext cx="0" cy="620900"/>
          </a:xfrm>
          <a:prstGeom prst="line">
            <a:avLst/>
          </a:prstGeom>
          <a:ln w="19050" cap="flat">
            <a:solidFill>
              <a:srgbClr val="3BB8B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5527171" y="6535336"/>
            <a:ext cx="908686" cy="858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44"/>
              </a:lnSpc>
            </a:pPr>
            <a:r>
              <a:rPr lang="en-US" sz="5031" b="1" spc="25">
                <a:solidFill>
                  <a:srgbClr val="4A80BE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77002" y="6469770"/>
            <a:ext cx="2558426" cy="16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 b="1" spc="11">
                <a:solidFill>
                  <a:srgbClr val="4A80BE"/>
                </a:solidFill>
                <a:latin typeface="Inter Bold"/>
                <a:ea typeface="Inter Bold"/>
                <a:cs typeface="Inter Bold"/>
                <a:sym typeface="Inter Bold"/>
              </a:rPr>
              <a:t>Answer with general information</a:t>
            </a:r>
          </a:p>
          <a:p>
            <a:pPr algn="r">
              <a:lnSpc>
                <a:spcPts val="3359"/>
              </a:lnSpc>
            </a:pPr>
            <a:endParaRPr lang="en-US" sz="2399" b="1" spc="11">
              <a:solidFill>
                <a:srgbClr val="4A80BE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3" name="AutoShape 33"/>
          <p:cNvSpPr/>
          <p:nvPr/>
        </p:nvSpPr>
        <p:spPr>
          <a:xfrm flipV="1">
            <a:off x="4953181" y="6579031"/>
            <a:ext cx="0" cy="620900"/>
          </a:xfrm>
          <a:prstGeom prst="line">
            <a:avLst/>
          </a:prstGeom>
          <a:ln w="19050" cap="flat">
            <a:solidFill>
              <a:srgbClr val="4A80B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3706330" y="6469770"/>
            <a:ext cx="2558426" cy="16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11">
                <a:solidFill>
                  <a:srgbClr val="7E5ABB"/>
                </a:solidFill>
                <a:latin typeface="Inter Bold"/>
                <a:ea typeface="Inter Bold"/>
                <a:cs typeface="Inter Bold"/>
                <a:sym typeface="Inter Bold"/>
              </a:rPr>
              <a:t>Discuss what you are looking for in your next role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071267" y="6525811"/>
            <a:ext cx="948048" cy="89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349"/>
              </a:lnSpc>
            </a:pPr>
            <a:r>
              <a:rPr lang="en-US" sz="5249" b="1" spc="26">
                <a:solidFill>
                  <a:srgbClr val="7E5ABB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36" name="AutoShape 36"/>
          <p:cNvSpPr/>
          <p:nvPr/>
        </p:nvSpPr>
        <p:spPr>
          <a:xfrm flipV="1">
            <a:off x="13498102" y="6579031"/>
            <a:ext cx="0" cy="620900"/>
          </a:xfrm>
          <a:prstGeom prst="line">
            <a:avLst/>
          </a:prstGeom>
          <a:ln w="19050" cap="flat">
            <a:solidFill>
              <a:srgbClr val="7E5A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 flipV="1">
            <a:off x="5429431" y="4282523"/>
            <a:ext cx="773972" cy="0"/>
          </a:xfrm>
          <a:prstGeom prst="line">
            <a:avLst/>
          </a:prstGeom>
          <a:ln w="47625" cap="flat">
            <a:solidFill>
              <a:srgbClr val="3BB8B2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 flipH="1">
            <a:off x="12077971" y="7425462"/>
            <a:ext cx="780598" cy="0"/>
          </a:xfrm>
          <a:prstGeom prst="line">
            <a:avLst/>
          </a:prstGeom>
          <a:ln w="47625" cap="flat">
            <a:solidFill>
              <a:srgbClr val="7E5ABB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 flipV="1">
            <a:off x="5429431" y="7425462"/>
            <a:ext cx="773972" cy="0"/>
          </a:xfrm>
          <a:prstGeom prst="line">
            <a:avLst/>
          </a:prstGeom>
          <a:ln w="47625" cap="flat">
            <a:solidFill>
              <a:srgbClr val="4A80BE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 flipH="1">
            <a:off x="12077971" y="4282523"/>
            <a:ext cx="780598" cy="0"/>
          </a:xfrm>
          <a:prstGeom prst="line">
            <a:avLst/>
          </a:prstGeom>
          <a:ln w="47625" cap="flat">
            <a:solidFill>
              <a:srgbClr val="35A7C0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7915017" y="9914017"/>
            <a:ext cx="745965" cy="607962"/>
          </a:xfrm>
          <a:custGeom>
            <a:avLst/>
            <a:gdLst/>
            <a:ahLst/>
            <a:cxnLst/>
            <a:rect l="l" t="t" r="r" b="b"/>
            <a:pathLst>
              <a:path w="745965" h="607962">
                <a:moveTo>
                  <a:pt x="0" y="0"/>
                </a:moveTo>
                <a:lnTo>
                  <a:pt x="745966" y="0"/>
                </a:lnTo>
                <a:lnTo>
                  <a:pt x="745966" y="607962"/>
                </a:lnTo>
                <a:lnTo>
                  <a:pt x="0" y="607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6834732" y="3529751"/>
            <a:ext cx="922825" cy="1045694"/>
          </a:xfrm>
          <a:custGeom>
            <a:avLst/>
            <a:gdLst/>
            <a:ahLst/>
            <a:cxnLst/>
            <a:rect l="l" t="t" r="r" b="b"/>
            <a:pathLst>
              <a:path w="922825" h="1045694">
                <a:moveTo>
                  <a:pt x="0" y="0"/>
                </a:moveTo>
                <a:lnTo>
                  <a:pt x="922825" y="0"/>
                </a:lnTo>
                <a:lnTo>
                  <a:pt x="922825" y="1045694"/>
                </a:lnTo>
                <a:lnTo>
                  <a:pt x="0" y="10456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10631030" y="3456017"/>
            <a:ext cx="983697" cy="1119428"/>
          </a:xfrm>
          <a:custGeom>
            <a:avLst/>
            <a:gdLst/>
            <a:ahLst/>
            <a:cxnLst/>
            <a:rect l="l" t="t" r="r" b="b"/>
            <a:pathLst>
              <a:path w="983697" h="1119428">
                <a:moveTo>
                  <a:pt x="0" y="0"/>
                </a:moveTo>
                <a:lnTo>
                  <a:pt x="983697" y="0"/>
                </a:lnTo>
                <a:lnTo>
                  <a:pt x="983697" y="1119428"/>
                </a:lnTo>
                <a:lnTo>
                  <a:pt x="0" y="11194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10549800" y="7073804"/>
            <a:ext cx="929860" cy="1372487"/>
          </a:xfrm>
          <a:custGeom>
            <a:avLst/>
            <a:gdLst/>
            <a:ahLst/>
            <a:cxnLst/>
            <a:rect l="l" t="t" r="r" b="b"/>
            <a:pathLst>
              <a:path w="929860" h="1372487">
                <a:moveTo>
                  <a:pt x="0" y="0"/>
                </a:moveTo>
                <a:lnTo>
                  <a:pt x="929860" y="0"/>
                </a:lnTo>
                <a:lnTo>
                  <a:pt x="929860" y="1372487"/>
                </a:lnTo>
                <a:lnTo>
                  <a:pt x="0" y="13724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6683080" y="7253433"/>
            <a:ext cx="1226129" cy="965576"/>
          </a:xfrm>
          <a:custGeom>
            <a:avLst/>
            <a:gdLst/>
            <a:ahLst/>
            <a:cxnLst/>
            <a:rect l="l" t="t" r="r" b="b"/>
            <a:pathLst>
              <a:path w="1226129" h="965576">
                <a:moveTo>
                  <a:pt x="0" y="0"/>
                </a:moveTo>
                <a:lnTo>
                  <a:pt x="1226129" y="0"/>
                </a:lnTo>
                <a:lnTo>
                  <a:pt x="1226129" y="965577"/>
                </a:lnTo>
                <a:lnTo>
                  <a:pt x="0" y="96557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5742011" y="881005"/>
            <a:ext cx="7116559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STRUCTURING ANSWERS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010" y="506074"/>
            <a:ext cx="5232025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ANSWER</a:t>
            </a:r>
          </a:p>
        </p:txBody>
      </p:sp>
      <p:sp>
        <p:nvSpPr>
          <p:cNvPr id="3" name="Freeform 3"/>
          <p:cNvSpPr/>
          <p:nvPr/>
        </p:nvSpPr>
        <p:spPr>
          <a:xfrm>
            <a:off x="641992" y="22446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41992" y="1693130"/>
            <a:ext cx="16856018" cy="857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 &amp; Task</a:t>
            </a: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As a backend developer with several years of experience, I have been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exploring new opportunities to advance my career and work on exciting projects. </a:t>
            </a: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My goal is to find a position that not only 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aligns with my skills </a:t>
            </a: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but also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offers room for professional growth and the chance to contribute to innovative solutions.</a:t>
            </a:r>
          </a:p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95C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Currently, I am in discussions with a couple of other companies. However, I want to emphasize that I am particularly drawn to your organization because of 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its commitment to innovation and the exciting projects you have in development. I have researched your team and the technologies you use, and I believe my skills in </a:t>
            </a:r>
            <a:r>
              <a:rPr lang="en-US" sz="2999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using advanced technology 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would be a great fit here.</a:t>
            </a:r>
          </a:p>
          <a:p>
            <a:pPr algn="just">
              <a:lnSpc>
                <a:spcPts val="4199"/>
              </a:lnSpc>
            </a:pPr>
            <a:r>
              <a:rPr lang="en-US" sz="2999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  <a:p>
            <a:pPr algn="just">
              <a:lnSpc>
                <a:spcPts val="4199"/>
              </a:lnSpc>
            </a:pP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99" dirty="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I am keen on finding the right opportunity where I can make a meaningful impact like driving innovation, and I would prioritize joining your team if offered a position.</a:t>
            </a:r>
            <a:r>
              <a:rPr lang="en-US" sz="29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 appreciate the chance to explore this opportunity further with you.</a:t>
            </a:r>
          </a:p>
          <a:p>
            <a:pPr algn="just">
              <a:lnSpc>
                <a:spcPts val="4199"/>
              </a:lnSpc>
            </a:pPr>
            <a:endParaRPr lang="en-US" sz="29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79675" y="749584"/>
            <a:ext cx="11088801" cy="59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SENTENCE STRUCTURE TEMPLATES</a:t>
            </a:r>
          </a:p>
        </p:txBody>
      </p:sp>
      <p:sp>
        <p:nvSpPr>
          <p:cNvPr id="3" name="Freeform 3"/>
          <p:cNvSpPr/>
          <p:nvPr/>
        </p:nvSpPr>
        <p:spPr>
          <a:xfrm>
            <a:off x="467974" y="467974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2" y="0"/>
                </a:lnTo>
                <a:lnTo>
                  <a:pt x="1121452" y="1121452"/>
                </a:lnTo>
                <a:lnTo>
                  <a:pt x="0" y="1121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15991" y="1761092"/>
            <a:ext cx="16856018" cy="7829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3EDAD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Situation and Task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Yes, I am currently exploring opportunities with other companies."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have applied to a few other places, including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[mention companies if appropriate].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am in discussions with a couple of other companies right now.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CB6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However, I want to emphasize that I am very interested in this position.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am particularly excited about this opportunity because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[reason related to the company].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really admire 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[specific aspect of the company]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feel that this position would allow me to</a:t>
            </a:r>
            <a:r>
              <a:rPr lang="en-US" sz="2999" dirty="0">
                <a:solidFill>
                  <a:srgbClr val="95C740"/>
                </a:solidFill>
                <a:latin typeface="Montserrat"/>
                <a:ea typeface="Montserrat"/>
                <a:cs typeface="Montserrat"/>
                <a:sym typeface="Montserrat"/>
              </a:rPr>
              <a:t> [mention how you can contribute or grow]</a:t>
            </a: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FCFC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C6A2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Result/ conclusion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appreciate the chance to discuss this opportunity with you.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I am looking forward to the possibility of joining your team.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4668" y="1479263"/>
            <a:ext cx="13805261" cy="117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2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Variations of “Are you in the process with any other companies?”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197653"/>
            <a:ext cx="1121451" cy="1121451"/>
          </a:xfrm>
          <a:custGeom>
            <a:avLst/>
            <a:gdLst/>
            <a:ahLst/>
            <a:cxnLst/>
            <a:rect l="l" t="t" r="r" b="b"/>
            <a:pathLst>
              <a:path w="1121451" h="1121451">
                <a:moveTo>
                  <a:pt x="0" y="0"/>
                </a:moveTo>
                <a:lnTo>
                  <a:pt x="1121451" y="0"/>
                </a:lnTo>
                <a:lnTo>
                  <a:pt x="1121451" y="1121451"/>
                </a:lnTo>
                <a:lnTo>
                  <a:pt x="0" y="1121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896367" y="2849727"/>
            <a:ext cx="14909458" cy="701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Are you considering any other job opportunities right now?</a:t>
            </a:r>
          </a:p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Do you have any other interviews lined up?</a:t>
            </a:r>
          </a:p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Are you speaking with other companies about potential positions?</a:t>
            </a:r>
          </a:p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Are you applying to other jobs at the moment?</a:t>
            </a:r>
          </a:p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Have you been in talks with any other employers?</a:t>
            </a:r>
          </a:p>
          <a:p>
            <a:pPr marL="755651" lvl="1" indent="-377825" algn="l">
              <a:lnSpc>
                <a:spcPts val="8050"/>
              </a:lnSpc>
              <a:buFont typeface="Arial"/>
              <a:buChar char="•"/>
            </a:pPr>
            <a:r>
              <a:rPr lang="en-US" sz="3500">
                <a:solidFill>
                  <a:srgbClr val="FCFCFC"/>
                </a:solidFill>
                <a:latin typeface="Montserrat"/>
                <a:ea typeface="Montserrat"/>
                <a:cs typeface="Montserrat"/>
                <a:sym typeface="Montserrat"/>
              </a:rPr>
              <a:t>Are there other companies you are pursuing?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994" y="7365830"/>
            <a:ext cx="5556275" cy="140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BRAINSTORMING</a:t>
            </a:r>
          </a:p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B9EF"/>
                </a:solidFill>
                <a:latin typeface="Poppins Bold"/>
                <a:ea typeface="Poppins Bold"/>
                <a:cs typeface="Poppins Bold"/>
                <a:sym typeface="Poppins Bold"/>
              </a:rPr>
              <a:t>Writing 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643279" y="2370922"/>
            <a:ext cx="4417378" cy="4411856"/>
          </a:xfrm>
          <a:custGeom>
            <a:avLst/>
            <a:gdLst/>
            <a:ahLst/>
            <a:cxnLst/>
            <a:rect l="l" t="t" r="r" b="b"/>
            <a:pathLst>
              <a:path w="4417378" h="4411856">
                <a:moveTo>
                  <a:pt x="0" y="0"/>
                </a:moveTo>
                <a:lnTo>
                  <a:pt x="4417379" y="0"/>
                </a:lnTo>
                <a:lnTo>
                  <a:pt x="4417379" y="4411856"/>
                </a:lnTo>
                <a:lnTo>
                  <a:pt x="0" y="441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3458" y="3368188"/>
            <a:ext cx="9401084" cy="423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00"/>
              </a:lnSpc>
            </a:pPr>
            <a:r>
              <a:rPr lang="en-US" sz="15000" b="1">
                <a:solidFill>
                  <a:srgbClr val="00B9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1059</Words>
  <Application>Microsoft Office PowerPoint</Application>
  <PresentationFormat>Custom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Inter Bold</vt:lpstr>
      <vt:lpstr>Barlow Bold Bold</vt:lpstr>
      <vt:lpstr>Montserrat Classic</vt:lpstr>
      <vt:lpstr>Arial</vt:lpstr>
      <vt:lpstr>Barlow Medium Bold</vt:lpstr>
      <vt:lpstr>Open Sans Bold</vt:lpstr>
      <vt:lpstr>Calibri</vt:lpstr>
      <vt:lpstr>Montserrat Classic Bold</vt:lpstr>
      <vt:lpstr>Poppins Bold</vt:lpstr>
      <vt:lpstr>Montserrat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INTERVIEW - LESSON 4</dc:title>
  <cp:lastModifiedBy>Truyen Le</cp:lastModifiedBy>
  <cp:revision>7</cp:revision>
  <dcterms:created xsi:type="dcterms:W3CDTF">2006-08-16T00:00:00Z</dcterms:created>
  <dcterms:modified xsi:type="dcterms:W3CDTF">2025-09-27T08:32:53Z</dcterms:modified>
  <dc:identifier>DAGZR5m-rxY</dc:identifier>
</cp:coreProperties>
</file>