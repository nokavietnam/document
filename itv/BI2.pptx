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8288000" cy="10287000"/>
  <p:notesSz cx="6858000" cy="9144000"/>
  <p:embeddedFontLst>
    <p:embeddedFont>
      <p:font typeface="Aileron Heavy" panose="020B0604020202020204" charset="0"/>
      <p:regular r:id="rId22"/>
    </p:embeddedFont>
    <p:embeddedFont>
      <p:font typeface="Barlow Semi-Bold" panose="020B0604020202020204" charset="0"/>
      <p:regular r:id="rId23"/>
    </p:embeddedFont>
    <p:embeddedFont>
      <p:font typeface="Montserrat" panose="00000500000000000000" pitchFamily="2" charset="0"/>
      <p:regular r:id="rId24"/>
      <p:italic r:id="rId25"/>
    </p:embeddedFont>
    <p:embeddedFont>
      <p:font typeface="Montserrat Bold" panose="00000800000000000000" charset="0"/>
      <p:regular r:id="rId26"/>
    </p:embeddedFont>
    <p:embeddedFont>
      <p:font typeface="Montserrat Classic" panose="020B0604020202020204" charset="0"/>
      <p:regular r:id="rId27"/>
    </p:embeddedFont>
    <p:embeddedFont>
      <p:font typeface="Montserrat Classic Bold" panose="020B0604020202020204" charset="0"/>
      <p:regular r:id="rId28"/>
    </p:embeddedFont>
    <p:embeddedFont>
      <p:font typeface="Open Sans Bold" panose="020B0604020202020204" charset="0"/>
      <p:regular r:id="rId29"/>
    </p:embeddedFont>
    <p:embeddedFont>
      <p:font typeface="Poppins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757"/>
    <a:srgbClr val="8EBD3E"/>
    <a:srgbClr val="A94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2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301242" y="8616642"/>
            <a:ext cx="438008" cy="312180"/>
          </a:xfrm>
          <a:custGeom>
            <a:avLst/>
            <a:gdLst/>
            <a:ahLst/>
            <a:cxnLst/>
            <a:rect l="l" t="t" r="r" b="b"/>
            <a:pathLst>
              <a:path w="438008" h="312180">
                <a:moveTo>
                  <a:pt x="438008" y="0"/>
                </a:moveTo>
                <a:lnTo>
                  <a:pt x="0" y="0"/>
                </a:lnTo>
                <a:lnTo>
                  <a:pt x="0" y="312180"/>
                </a:lnTo>
                <a:lnTo>
                  <a:pt x="438008" y="312180"/>
                </a:lnTo>
                <a:lnTo>
                  <a:pt x="438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5280" y="9100272"/>
            <a:ext cx="7991171" cy="900823"/>
            <a:chOff x="0" y="0"/>
            <a:chExt cx="10654894" cy="12010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54894" cy="1201097"/>
            </a:xfrm>
            <a:custGeom>
              <a:avLst/>
              <a:gdLst/>
              <a:ahLst/>
              <a:cxnLst/>
              <a:rect l="l" t="t" r="r" b="b"/>
              <a:pathLst>
                <a:path w="10654894" h="1201097">
                  <a:moveTo>
                    <a:pt x="0" y="0"/>
                  </a:moveTo>
                  <a:lnTo>
                    <a:pt x="10654894" y="0"/>
                  </a:lnTo>
                  <a:lnTo>
                    <a:pt x="10654894" y="1201097"/>
                  </a:lnTo>
                  <a:lnTo>
                    <a:pt x="0" y="1201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367739" y="336203"/>
              <a:ext cx="741786" cy="528691"/>
            </a:xfrm>
            <a:custGeom>
              <a:avLst/>
              <a:gdLst/>
              <a:ahLst/>
              <a:cxnLst/>
              <a:rect l="l" t="t" r="r" b="b"/>
              <a:pathLst>
                <a:path w="741786" h="528691">
                  <a:moveTo>
                    <a:pt x="0" y="0"/>
                  </a:moveTo>
                  <a:lnTo>
                    <a:pt x="741785" y="0"/>
                  </a:lnTo>
                  <a:lnTo>
                    <a:pt x="741785" y="528691"/>
                  </a:lnTo>
                  <a:lnTo>
                    <a:pt x="0" y="52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39854" y="325476"/>
              <a:ext cx="5375186" cy="502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2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Get Started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912522" y="3240175"/>
            <a:ext cx="5787253" cy="114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LESSON 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317682" y="4578595"/>
            <a:ext cx="14717778" cy="1813593"/>
            <a:chOff x="0" y="0"/>
            <a:chExt cx="19623704" cy="2418124"/>
          </a:xfrm>
        </p:grpSpPr>
        <p:sp>
          <p:nvSpPr>
            <p:cNvPr id="9" name="TextBox 9"/>
            <p:cNvSpPr txBox="1"/>
            <p:nvPr/>
          </p:nvSpPr>
          <p:spPr>
            <a:xfrm>
              <a:off x="0" y="66675"/>
              <a:ext cx="19623704" cy="1554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TELL ME ABOUT YOURSELF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3003" y="1878498"/>
              <a:ext cx="15997452" cy="53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799" b="1" spc="977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BEHAVIORAL INTERVIEW QUESTIONS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15132" y="580948"/>
            <a:ext cx="11857737" cy="1312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</a:t>
            </a:r>
          </a:p>
          <a:p>
            <a:pPr algn="ctr">
              <a:lnSpc>
                <a:spcPts val="5208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TOPIC: TELL ME ABOUT YOURSELF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593355" y="3822996"/>
            <a:ext cx="3593507" cy="3593507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A0F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3215132" y="4441720"/>
            <a:ext cx="2699067" cy="2356061"/>
          </a:xfrm>
          <a:custGeom>
            <a:avLst/>
            <a:gdLst/>
            <a:ahLst/>
            <a:cxnLst/>
            <a:rect l="l" t="t" r="r" b="b"/>
            <a:pathLst>
              <a:path w="2699067" h="2356061">
                <a:moveTo>
                  <a:pt x="0" y="0"/>
                </a:moveTo>
                <a:lnTo>
                  <a:pt x="2699067" y="0"/>
                </a:lnTo>
                <a:lnTo>
                  <a:pt x="2699067" y="2356060"/>
                </a:lnTo>
                <a:lnTo>
                  <a:pt x="0" y="2356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846575" y="3064554"/>
            <a:ext cx="15723487" cy="5110391"/>
            <a:chOff x="0" y="0"/>
            <a:chExt cx="20964649" cy="68138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36727" cy="6813855"/>
            </a:xfrm>
            <a:custGeom>
              <a:avLst/>
              <a:gdLst/>
              <a:ahLst/>
              <a:cxnLst/>
              <a:rect l="l" t="t" r="r" b="b"/>
              <a:pathLst>
                <a:path w="13336727" h="6813855">
                  <a:moveTo>
                    <a:pt x="0" y="0"/>
                  </a:moveTo>
                  <a:lnTo>
                    <a:pt x="13336727" y="0"/>
                  </a:lnTo>
                  <a:lnTo>
                    <a:pt x="13336727" y="6813855"/>
                  </a:lnTo>
                  <a:lnTo>
                    <a:pt x="0" y="68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856800" y="392583"/>
              <a:ext cx="5386569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Revise question 1 &amp; 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56800" y="2843473"/>
              <a:ext cx="6919625" cy="11639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Tell me about your proudest achievement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97547" y="5503353"/>
              <a:ext cx="7067101" cy="11639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Tell me about your strengths and weaknesses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67982" y="522111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REVISE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3783" y="445844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40982" y="3205251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QUESTION 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63783" y="3103584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6382" y="5839732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QUESTION 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63783" y="5763465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0054" y="425439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66532" y="5851313"/>
          <a:ext cx="7394006" cy="958596"/>
        </p:xfrm>
        <a:graphic>
          <a:graphicData uri="http://schemas.openxmlformats.org/drawingml/2006/table">
            <a:tbl>
              <a:tblPr/>
              <a:tblGrid>
                <a:gridCol w="7394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FFFFFF"/>
                          </a:solidFill>
                          <a:latin typeface="Montserrat Classic"/>
                          <a:ea typeface="Montserrat Classic"/>
                          <a:cs typeface="Montserrat Classic"/>
                          <a:sym typeface="Montserrat Classic"/>
                        </a:rPr>
                        <a:t>Tell me about your daily 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3540054" y="5977699"/>
            <a:ext cx="795045" cy="79504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3614187" y="1028700"/>
            <a:ext cx="2209289" cy="2057400"/>
          </a:xfrm>
          <a:custGeom>
            <a:avLst/>
            <a:gdLst/>
            <a:ahLst/>
            <a:cxnLst/>
            <a:rect l="l" t="t" r="r" b="b"/>
            <a:pathLst>
              <a:path w="2209289" h="2057400">
                <a:moveTo>
                  <a:pt x="0" y="0"/>
                </a:moveTo>
                <a:lnTo>
                  <a:pt x="2209289" y="0"/>
                </a:lnTo>
                <a:lnTo>
                  <a:pt x="220928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18831" y="4290353"/>
            <a:ext cx="118203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yourself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73488" y="183282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REVISE QUESTIONS 1 &amp;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0054" y="4337978"/>
            <a:ext cx="795045" cy="6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40054" y="6061278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5400000">
            <a:off x="7209223" y="3855666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8"/>
                </a:lnTo>
                <a:lnTo>
                  <a:pt x="0" y="58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564885" y="2310462"/>
            <a:ext cx="118203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your proudest achievement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4030" y="549159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6107" y="235808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 dirty="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404" y="5689894"/>
            <a:ext cx="15873193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85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Focusing specifically on the top result of the candidate’s career.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7404" y="6758428"/>
            <a:ext cx="15359967" cy="98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85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Recruiters can learn about your work ethic, values, personality, and skills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6107" y="8098410"/>
            <a:ext cx="15873193" cy="98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85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Recruiters want to learn about your successful projects, the details around them, and how you got to the finish line.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67B072E1-F7AA-CA23-F8A4-830ADD6278F0}"/>
              </a:ext>
            </a:extLst>
          </p:cNvPr>
          <p:cNvSpPr txBox="1"/>
          <p:nvPr/>
        </p:nvSpPr>
        <p:spPr>
          <a:xfrm>
            <a:off x="7086600" y="2310461"/>
            <a:ext cx="5712541" cy="596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proudest achievement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486601"/>
            <a:ext cx="2378343" cy="1537004"/>
          </a:xfrm>
          <a:custGeom>
            <a:avLst/>
            <a:gdLst/>
            <a:ahLst/>
            <a:cxnLst/>
            <a:rect l="l" t="t" r="r" b="b"/>
            <a:pathLst>
              <a:path w="2378343" h="1537004">
                <a:moveTo>
                  <a:pt x="0" y="0"/>
                </a:moveTo>
                <a:lnTo>
                  <a:pt x="2378343" y="0"/>
                </a:lnTo>
                <a:lnTo>
                  <a:pt x="2378343" y="1537004"/>
                </a:lnTo>
                <a:lnTo>
                  <a:pt x="0" y="1537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142587" y="3769617"/>
            <a:ext cx="3140305" cy="2747766"/>
            <a:chOff x="0" y="0"/>
            <a:chExt cx="4187073" cy="366368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87073" cy="3663689"/>
              <a:chOff x="0" y="0"/>
              <a:chExt cx="812800" cy="7112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38805" y="0"/>
                <a:ext cx="735190" cy="653972"/>
              </a:xfrm>
              <a:custGeom>
                <a:avLst/>
                <a:gdLst/>
                <a:ahLst/>
                <a:cxnLst/>
                <a:rect l="l" t="t" r="r" b="b"/>
                <a:pathLst>
                  <a:path w="735190" h="653972">
                    <a:moveTo>
                      <a:pt x="416521" y="625579"/>
                    </a:moveTo>
                    <a:lnTo>
                      <a:pt x="725069" y="85621"/>
                    </a:lnTo>
                    <a:cubicBezTo>
                      <a:pt x="735190" y="67908"/>
                      <a:pt x="735117" y="46148"/>
                      <a:pt x="724878" y="28504"/>
                    </a:cubicBezTo>
                    <a:cubicBezTo>
                      <a:pt x="714639" y="10859"/>
                      <a:pt x="695781" y="0"/>
                      <a:pt x="675381" y="0"/>
                    </a:cubicBezTo>
                    <a:lnTo>
                      <a:pt x="59809" y="0"/>
                    </a:lnTo>
                    <a:cubicBezTo>
                      <a:pt x="39409" y="0"/>
                      <a:pt x="20551" y="10859"/>
                      <a:pt x="10312" y="28504"/>
                    </a:cubicBezTo>
                    <a:cubicBezTo>
                      <a:pt x="73" y="46148"/>
                      <a:pt x="0" y="67908"/>
                      <a:pt x="10121" y="85621"/>
                    </a:cubicBezTo>
                    <a:lnTo>
                      <a:pt x="318669" y="625579"/>
                    </a:lnTo>
                    <a:cubicBezTo>
                      <a:pt x="328702" y="643137"/>
                      <a:pt x="347373" y="653972"/>
                      <a:pt x="367595" y="653972"/>
                    </a:cubicBezTo>
                    <a:cubicBezTo>
                      <a:pt x="387817" y="653972"/>
                      <a:pt x="406488" y="643137"/>
                      <a:pt x="416521" y="625579"/>
                    </a:cubicBezTo>
                    <a:close/>
                  </a:path>
                </a:pathLst>
              </a:custGeom>
              <a:solidFill>
                <a:srgbClr val="49BFB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27000" y="-6350"/>
                <a:ext cx="558800" cy="387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837383" y="47279"/>
              <a:ext cx="2512306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 dirty="0">
                  <a:solidFill>
                    <a:srgbClr val="FCFCF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BE SPECIFIC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788400" y="3486940"/>
            <a:ext cx="3165206" cy="2769556"/>
            <a:chOff x="0" y="0"/>
            <a:chExt cx="4220275" cy="369274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220275" cy="3692741"/>
              <a:chOff x="0" y="0"/>
              <a:chExt cx="812800" cy="7112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8500" y="56777"/>
                <a:ext cx="735801" cy="654423"/>
              </a:xfrm>
              <a:custGeom>
                <a:avLst/>
                <a:gdLst/>
                <a:ahLst/>
                <a:cxnLst/>
                <a:rect l="l" t="t" r="r" b="b"/>
                <a:pathLst>
                  <a:path w="735801" h="654423">
                    <a:moveTo>
                      <a:pt x="416441" y="28170"/>
                    </a:moveTo>
                    <a:lnTo>
                      <a:pt x="725759" y="569476"/>
                    </a:lnTo>
                    <a:cubicBezTo>
                      <a:pt x="735800" y="587049"/>
                      <a:pt x="735728" y="608638"/>
                      <a:pt x="725570" y="626144"/>
                    </a:cubicBezTo>
                    <a:cubicBezTo>
                      <a:pt x="715411" y="643649"/>
                      <a:pt x="696702" y="654423"/>
                      <a:pt x="676462" y="654423"/>
                    </a:cubicBezTo>
                    <a:lnTo>
                      <a:pt x="59338" y="654423"/>
                    </a:lnTo>
                    <a:cubicBezTo>
                      <a:pt x="39098" y="654423"/>
                      <a:pt x="20389" y="643649"/>
                      <a:pt x="10230" y="626144"/>
                    </a:cubicBezTo>
                    <a:cubicBezTo>
                      <a:pt x="72" y="608638"/>
                      <a:pt x="0" y="587049"/>
                      <a:pt x="10041" y="569476"/>
                    </a:cubicBezTo>
                    <a:lnTo>
                      <a:pt x="319359" y="28170"/>
                    </a:lnTo>
                    <a:cubicBezTo>
                      <a:pt x="329313" y="10751"/>
                      <a:pt x="347837" y="0"/>
                      <a:pt x="367900" y="0"/>
                    </a:cubicBezTo>
                    <a:cubicBezTo>
                      <a:pt x="387963" y="0"/>
                      <a:pt x="406487" y="10751"/>
                      <a:pt x="416441" y="28170"/>
                    </a:cubicBezTo>
                    <a:close/>
                  </a:path>
                </a:pathLst>
              </a:custGeom>
              <a:solidFill>
                <a:srgbClr val="BF494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84454" y="1495042"/>
              <a:ext cx="2512306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 dirty="0">
                  <a:solidFill>
                    <a:srgbClr val="FCFCF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BE HONEST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58980" y="3506819"/>
            <a:ext cx="3119769" cy="2729798"/>
            <a:chOff x="0" y="0"/>
            <a:chExt cx="4159692" cy="363973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4159692" cy="3639730"/>
              <a:chOff x="0" y="0"/>
              <a:chExt cx="812800" cy="7112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9060" y="57604"/>
                <a:ext cx="734679" cy="653596"/>
              </a:xfrm>
              <a:custGeom>
                <a:avLst/>
                <a:gdLst/>
                <a:ahLst/>
                <a:cxnLst/>
                <a:rect l="l" t="t" r="r" b="b"/>
                <a:pathLst>
                  <a:path w="734679" h="653596">
                    <a:moveTo>
                      <a:pt x="416588" y="28580"/>
                    </a:moveTo>
                    <a:lnTo>
                      <a:pt x="724492" y="567412"/>
                    </a:lnTo>
                    <a:cubicBezTo>
                      <a:pt x="734680" y="585241"/>
                      <a:pt x="734607" y="607145"/>
                      <a:pt x="724300" y="624905"/>
                    </a:cubicBezTo>
                    <a:cubicBezTo>
                      <a:pt x="713993" y="642665"/>
                      <a:pt x="695012" y="653596"/>
                      <a:pt x="674477" y="653596"/>
                    </a:cubicBezTo>
                    <a:lnTo>
                      <a:pt x="60203" y="653596"/>
                    </a:lnTo>
                    <a:cubicBezTo>
                      <a:pt x="39668" y="653596"/>
                      <a:pt x="20687" y="642665"/>
                      <a:pt x="10380" y="624905"/>
                    </a:cubicBezTo>
                    <a:cubicBezTo>
                      <a:pt x="73" y="607145"/>
                      <a:pt x="0" y="585241"/>
                      <a:pt x="10188" y="567412"/>
                    </a:cubicBezTo>
                    <a:lnTo>
                      <a:pt x="318092" y="28580"/>
                    </a:lnTo>
                    <a:cubicBezTo>
                      <a:pt x="328191" y="10907"/>
                      <a:pt x="346985" y="0"/>
                      <a:pt x="367340" y="0"/>
                    </a:cubicBezTo>
                    <a:cubicBezTo>
                      <a:pt x="387695" y="0"/>
                      <a:pt x="406489" y="10907"/>
                      <a:pt x="416588" y="28580"/>
                    </a:cubicBezTo>
                    <a:close/>
                  </a:path>
                </a:pathLst>
              </a:custGeom>
              <a:solidFill>
                <a:srgbClr val="18B5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41072" y="1857000"/>
              <a:ext cx="3028511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CFCF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BE RELEVANT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05464" y="3692306"/>
            <a:ext cx="3140305" cy="2747766"/>
            <a:chOff x="0" y="0"/>
            <a:chExt cx="4187073" cy="366368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4187073" cy="3663689"/>
              <a:chOff x="0" y="0"/>
              <a:chExt cx="812800" cy="711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8805" y="0"/>
                <a:ext cx="735190" cy="653972"/>
              </a:xfrm>
              <a:custGeom>
                <a:avLst/>
                <a:gdLst/>
                <a:ahLst/>
                <a:cxnLst/>
                <a:rect l="l" t="t" r="r" b="b"/>
                <a:pathLst>
                  <a:path w="735190" h="653972">
                    <a:moveTo>
                      <a:pt x="416521" y="625579"/>
                    </a:moveTo>
                    <a:lnTo>
                      <a:pt x="725069" y="85621"/>
                    </a:lnTo>
                    <a:cubicBezTo>
                      <a:pt x="735190" y="67908"/>
                      <a:pt x="735117" y="46148"/>
                      <a:pt x="724878" y="28504"/>
                    </a:cubicBezTo>
                    <a:cubicBezTo>
                      <a:pt x="714639" y="10859"/>
                      <a:pt x="695781" y="0"/>
                      <a:pt x="675381" y="0"/>
                    </a:cubicBezTo>
                    <a:lnTo>
                      <a:pt x="59809" y="0"/>
                    </a:lnTo>
                    <a:cubicBezTo>
                      <a:pt x="39409" y="0"/>
                      <a:pt x="20551" y="10859"/>
                      <a:pt x="10312" y="28504"/>
                    </a:cubicBezTo>
                    <a:cubicBezTo>
                      <a:pt x="73" y="46148"/>
                      <a:pt x="0" y="67908"/>
                      <a:pt x="10121" y="85621"/>
                    </a:cubicBezTo>
                    <a:lnTo>
                      <a:pt x="318669" y="625579"/>
                    </a:lnTo>
                    <a:cubicBezTo>
                      <a:pt x="328702" y="643137"/>
                      <a:pt x="347373" y="653972"/>
                      <a:pt x="367595" y="653972"/>
                    </a:cubicBezTo>
                    <a:cubicBezTo>
                      <a:pt x="387817" y="653972"/>
                      <a:pt x="406488" y="643137"/>
                      <a:pt x="416521" y="625579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7000" y="-6350"/>
                <a:ext cx="558800" cy="387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37383" y="47279"/>
              <a:ext cx="2512306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CFCF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STAR method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388853" y="477476"/>
            <a:ext cx="11510293" cy="69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1"/>
              </a:lnSpc>
              <a:spcBef>
                <a:spcPct val="0"/>
              </a:spcBef>
            </a:pPr>
            <a:r>
              <a:rPr lang="en-US" sz="4199" spc="125">
                <a:solidFill>
                  <a:srgbClr val="00B9EF"/>
                </a:solidFill>
                <a:latin typeface="Aileron Heavy"/>
                <a:ea typeface="Aileron Heavy"/>
                <a:cs typeface="Aileron Heavy"/>
                <a:sym typeface="Aileron Heavy"/>
              </a:rPr>
              <a:t>STRUCTURING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95500" y="653208"/>
            <a:ext cx="11510293" cy="69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1"/>
              </a:lnSpc>
              <a:spcBef>
                <a:spcPct val="0"/>
              </a:spcBef>
            </a:pPr>
            <a:r>
              <a:rPr lang="en-US" sz="4199" spc="125">
                <a:solidFill>
                  <a:srgbClr val="00B9EF"/>
                </a:solidFill>
                <a:latin typeface="Aileron Heavy"/>
                <a:ea typeface="Aileron Heavy"/>
                <a:cs typeface="Aileron Heavy"/>
                <a:sym typeface="Aileron Heavy"/>
              </a:rPr>
              <a:t>STRUCTURING ANSWER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48108" y="2686869"/>
            <a:ext cx="3140305" cy="2747766"/>
            <a:chOff x="0" y="0"/>
            <a:chExt cx="4187073" cy="366368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87073" cy="3663689"/>
              <a:chOff x="0" y="0"/>
              <a:chExt cx="812800" cy="7112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38805" y="0"/>
                <a:ext cx="735190" cy="653972"/>
              </a:xfrm>
              <a:custGeom>
                <a:avLst/>
                <a:gdLst/>
                <a:ahLst/>
                <a:cxnLst/>
                <a:rect l="l" t="t" r="r" b="b"/>
                <a:pathLst>
                  <a:path w="735190" h="653972">
                    <a:moveTo>
                      <a:pt x="416521" y="625579"/>
                    </a:moveTo>
                    <a:lnTo>
                      <a:pt x="725069" y="85621"/>
                    </a:lnTo>
                    <a:cubicBezTo>
                      <a:pt x="735190" y="67908"/>
                      <a:pt x="735117" y="46148"/>
                      <a:pt x="724878" y="28504"/>
                    </a:cubicBezTo>
                    <a:cubicBezTo>
                      <a:pt x="714639" y="10859"/>
                      <a:pt x="695781" y="0"/>
                      <a:pt x="675381" y="0"/>
                    </a:cubicBezTo>
                    <a:lnTo>
                      <a:pt x="59809" y="0"/>
                    </a:lnTo>
                    <a:cubicBezTo>
                      <a:pt x="39409" y="0"/>
                      <a:pt x="20551" y="10859"/>
                      <a:pt x="10312" y="28504"/>
                    </a:cubicBezTo>
                    <a:cubicBezTo>
                      <a:pt x="73" y="46148"/>
                      <a:pt x="0" y="67908"/>
                      <a:pt x="10121" y="85621"/>
                    </a:cubicBezTo>
                    <a:lnTo>
                      <a:pt x="318669" y="625579"/>
                    </a:lnTo>
                    <a:cubicBezTo>
                      <a:pt x="328702" y="643137"/>
                      <a:pt x="347373" y="653972"/>
                      <a:pt x="367595" y="653972"/>
                    </a:cubicBezTo>
                    <a:cubicBezTo>
                      <a:pt x="387817" y="653972"/>
                      <a:pt x="406488" y="643137"/>
                      <a:pt x="416521" y="625579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27000" y="-6350"/>
                <a:ext cx="558800" cy="387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837383" y="47279"/>
              <a:ext cx="2512306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 dirty="0">
                  <a:solidFill>
                    <a:srgbClr val="FCFCF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STAR method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9195" y="4168008"/>
            <a:ext cx="4947778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S = Situation.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 what context did your achievement occur?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24410" y="7558710"/>
            <a:ext cx="5595258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CB6CE6"/>
                </a:solidFill>
                <a:latin typeface="Montserrat"/>
                <a:ea typeface="Montserrat"/>
                <a:cs typeface="Montserrat"/>
                <a:sym typeface="Montserrat"/>
              </a:rPr>
              <a:t>T = Task: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are the challenges you have faced?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38874" y="7558710"/>
            <a:ext cx="5034533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3EDAD8"/>
                </a:solidFill>
                <a:latin typeface="Montserrat"/>
                <a:ea typeface="Montserrat"/>
                <a:cs typeface="Montserrat"/>
                <a:sym typeface="Montserrat"/>
              </a:rPr>
              <a:t>A = Action: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What are the skills you have used? How did you overcome it?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02913" y="3748975"/>
            <a:ext cx="5285892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R = Result: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was the outcome? What have you learned from it?</a:t>
            </a:r>
          </a:p>
        </p:txBody>
      </p:sp>
      <p:sp>
        <p:nvSpPr>
          <p:cNvPr id="12" name="Freeform 12"/>
          <p:cNvSpPr/>
          <p:nvPr/>
        </p:nvSpPr>
        <p:spPr>
          <a:xfrm rot="9892788">
            <a:off x="5640801" y="4095779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7235603">
            <a:off x="6726303" y="5943084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4161479">
            <a:off x="9444723" y="5914306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1268241">
            <a:off x="10309639" y="4095779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62000" y="1782787"/>
            <a:ext cx="16275958" cy="803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 &amp; Task</a:t>
            </a: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During my last role as </a:t>
            </a:r>
            <a:r>
              <a:rPr lang="en-US" sz="3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 information technology manager, the business secured several new clients. </a:t>
            </a:r>
            <a:r>
              <a:rPr lang="en-US" sz="32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We needed to expand </a:t>
            </a:r>
            <a:r>
              <a:rPr lang="en-US" sz="3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our team to complete these projects on time and impress the new clients. 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FF57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The department had a history of hiring new developers who rarely stayed long, so I decided to overhaul the hiring process. After reviewing the procedure, I replaced the current independent programming test with </a:t>
            </a:r>
            <a:r>
              <a:rPr lang="en-US" sz="32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 partnered problem </a:t>
            </a:r>
            <a:r>
              <a:rPr lang="en-US" sz="3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 could work on with the candidate. </a:t>
            </a:r>
            <a:r>
              <a:rPr lang="en-US" sz="32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also added </a:t>
            </a:r>
            <a:r>
              <a:rPr lang="en-US" sz="3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interview questions that helped us assess each candidate's character and whether they might fit with the business's culture. While solving the coding challenges with candidates, I learnt more about their decision-making processes and teamwork capabilities than we did seeing their solutions to an independent test.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90009" y="2387241"/>
            <a:ext cx="16217952" cy="399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endParaRPr dirty="0"/>
          </a:p>
          <a:p>
            <a:pPr algn="just">
              <a:lnSpc>
                <a:spcPts val="4480"/>
              </a:lnSpc>
            </a:pPr>
            <a:r>
              <a:rPr lang="en-US" sz="3200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</a:t>
            </a: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While it took longer to find suitable candidates, all five people I hired remain with the business today and are real assets to the company. I feel that's because we started looking beyond their coding ability and focused on how well they'd operate within our team. I felt proud to substantially improve retention and identify more valuable members for the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67974" y="1877104"/>
            <a:ext cx="17416744" cy="965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One of the most remarkable accomplishments was perhaps </a:t>
            </a:r>
            <a:r>
              <a:rPr lang="en-US" sz="2999" dirty="0">
                <a:solidFill>
                  <a:srgbClr val="8EBD3E"/>
                </a:solidFill>
                <a:latin typeface="Montserrat"/>
                <a:ea typeface="Montserrat"/>
                <a:cs typeface="Montserrat"/>
                <a:sym typeface="Montserrat"/>
              </a:rPr>
              <a:t>[your achievement] 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when I was working on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[project]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/ at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[Company XYZ]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my team.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My proudest achievement as a backend engineer was </a:t>
            </a:r>
            <a:r>
              <a:rPr lang="en-US" sz="2999" dirty="0">
                <a:solidFill>
                  <a:srgbClr val="8EBD3E"/>
                </a:solidFill>
                <a:latin typeface="Montserrat"/>
                <a:ea typeface="Montserrat"/>
                <a:cs typeface="Montserrat"/>
                <a:sym typeface="Montserrat"/>
              </a:rPr>
              <a:t>[your achievement]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 &amp; Action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My responsibility was to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[Explain your specific task or goal in that situation]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was tasked with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[Describe what you needed to achieve]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address this, I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[Describe the actions you took to achieve the goal]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implemented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[Explain the strategies, skills, or techniques you used]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which involved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[Detail any specific steps or processes]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a result of my efforts,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[Describe the outcome and the impact it had]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led to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[results, including any quantifiable metrics or feedback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]. I felt proud because............................................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7628" y="1188717"/>
            <a:ext cx="12230169" cy="117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"Tell me about your proudest achievement”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150617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1" y="0"/>
                </a:lnTo>
                <a:lnTo>
                  <a:pt x="1121451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933942" y="2014304"/>
            <a:ext cx="15840358" cy="682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99"/>
              </a:lnSpc>
            </a:pPr>
            <a:endParaRPr dirty="0"/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you describe a significant achievement you've had?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 your greatest professional success?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Share an achievement that you believe defines your work ethic.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 a milestone in your career that you are particularly proud of?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you tell me about a time when you achieved something that had a major impact?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 the most rewarding project you have worked 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6120792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645303" y="1714048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8" y="0"/>
                </a:lnTo>
                <a:lnTo>
                  <a:pt x="4417378" y="4411857"/>
                </a:lnTo>
                <a:lnTo>
                  <a:pt x="0" y="4411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564885" y="2310462"/>
            <a:ext cx="118203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your strengths and weaknesses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04030" y="549159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86107" y="235808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98515" y="5600700"/>
            <a:ext cx="14090970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assess self-awareness, humility, and your ability to improve, how you handle challenges and fit within the team.</a:t>
            </a:r>
          </a:p>
        </p:txBody>
      </p:sp>
      <p:sp>
        <p:nvSpPr>
          <p:cNvPr id="9" name="Freeform 9"/>
          <p:cNvSpPr/>
          <p:nvPr/>
        </p:nvSpPr>
        <p:spPr>
          <a:xfrm rot="5400000">
            <a:off x="7209223" y="3855666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8"/>
                </a:lnTo>
                <a:lnTo>
                  <a:pt x="0" y="58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671B026-306A-055E-5372-C9856B864E21}"/>
              </a:ext>
            </a:extLst>
          </p:cNvPr>
          <p:cNvSpPr txBox="1"/>
          <p:nvPr/>
        </p:nvSpPr>
        <p:spPr>
          <a:xfrm>
            <a:off x="7063418" y="2310461"/>
            <a:ext cx="6347782" cy="596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strengths and weaknesses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04030" y="549159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ANSWERS</a:t>
            </a:r>
          </a:p>
        </p:txBody>
      </p:sp>
      <p:sp>
        <p:nvSpPr>
          <p:cNvPr id="3" name="Freeform 3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792259"/>
            <a:ext cx="15365137" cy="6972535"/>
            <a:chOff x="0" y="0"/>
            <a:chExt cx="20486850" cy="9296713"/>
          </a:xfrm>
        </p:grpSpPr>
        <p:sp>
          <p:nvSpPr>
            <p:cNvPr id="5" name="TextBox 5"/>
            <p:cNvSpPr txBox="1"/>
            <p:nvPr/>
          </p:nvSpPr>
          <p:spPr>
            <a:xfrm>
              <a:off x="12720106" y="641886"/>
              <a:ext cx="7766744" cy="580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Choose relevant examples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825696" y="5273406"/>
              <a:ext cx="6874949" cy="1139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Balance your strengths and weaknesses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871630" y="4022008"/>
              <a:ext cx="3090864" cy="2445646"/>
            </a:xfrm>
            <a:custGeom>
              <a:avLst/>
              <a:gdLst/>
              <a:ahLst/>
              <a:cxnLst/>
              <a:rect l="l" t="t" r="r" b="b"/>
              <a:pathLst>
                <a:path w="3090864" h="2445646">
                  <a:moveTo>
                    <a:pt x="0" y="0"/>
                  </a:moveTo>
                  <a:lnTo>
                    <a:pt x="3090863" y="0"/>
                  </a:lnTo>
                  <a:lnTo>
                    <a:pt x="3090863" y="2445646"/>
                  </a:lnTo>
                  <a:lnTo>
                    <a:pt x="0" y="2445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5702391" y="4614413"/>
              <a:ext cx="3330435" cy="0"/>
            </a:xfrm>
            <a:prstGeom prst="line">
              <a:avLst/>
            </a:prstGeom>
            <a:ln w="38100" cap="flat">
              <a:solidFill>
                <a:srgbClr val="3C5679"/>
              </a:solidFill>
              <a:prstDash val="sysDash"/>
              <a:headEnd type="oval" w="lg" len="lg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9795915" y="0"/>
              <a:ext cx="3090864" cy="2445646"/>
            </a:xfrm>
            <a:custGeom>
              <a:avLst/>
              <a:gdLst/>
              <a:ahLst/>
              <a:cxnLst/>
              <a:rect l="l" t="t" r="r" b="b"/>
              <a:pathLst>
                <a:path w="3090864" h="2445646">
                  <a:moveTo>
                    <a:pt x="0" y="0"/>
                  </a:moveTo>
                  <a:lnTo>
                    <a:pt x="3090863" y="0"/>
                  </a:lnTo>
                  <a:lnTo>
                    <a:pt x="3090863" y="2445646"/>
                  </a:lnTo>
                  <a:lnTo>
                    <a:pt x="0" y="2445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9734832" y="6851067"/>
              <a:ext cx="3090864" cy="2445646"/>
            </a:xfrm>
            <a:custGeom>
              <a:avLst/>
              <a:gdLst/>
              <a:ahLst/>
              <a:cxnLst/>
              <a:rect l="l" t="t" r="r" b="b"/>
              <a:pathLst>
                <a:path w="3090864" h="2445646">
                  <a:moveTo>
                    <a:pt x="0" y="0"/>
                  </a:moveTo>
                  <a:lnTo>
                    <a:pt x="3090864" y="0"/>
                  </a:lnTo>
                  <a:lnTo>
                    <a:pt x="3090864" y="2445646"/>
                  </a:lnTo>
                  <a:lnTo>
                    <a:pt x="0" y="2445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9032827" y="3435138"/>
              <a:ext cx="2708291" cy="0"/>
            </a:xfrm>
            <a:prstGeom prst="line">
              <a:avLst/>
            </a:prstGeom>
            <a:ln w="38100" cap="flat">
              <a:solidFill>
                <a:srgbClr val="3C5679"/>
              </a:solidFill>
              <a:prstDash val="sysDash"/>
              <a:headEnd type="none" w="sm" len="sm"/>
              <a:tailEnd type="oval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9629242" y="2007319"/>
              <a:ext cx="3090864" cy="2445646"/>
            </a:xfrm>
            <a:custGeom>
              <a:avLst/>
              <a:gdLst/>
              <a:ahLst/>
              <a:cxnLst/>
              <a:rect l="l" t="t" r="r" b="b"/>
              <a:pathLst>
                <a:path w="3090864" h="2445646">
                  <a:moveTo>
                    <a:pt x="0" y="0"/>
                  </a:moveTo>
                  <a:lnTo>
                    <a:pt x="3090864" y="0"/>
                  </a:lnTo>
                  <a:lnTo>
                    <a:pt x="3090864" y="2445646"/>
                  </a:lnTo>
                  <a:lnTo>
                    <a:pt x="0" y="2445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AutoShape 13"/>
            <p:cNvSpPr/>
            <p:nvPr/>
          </p:nvSpPr>
          <p:spPr>
            <a:xfrm flipH="1" flipV="1">
              <a:off x="9032827" y="970442"/>
              <a:ext cx="19050" cy="7081966"/>
            </a:xfrm>
            <a:prstGeom prst="line">
              <a:avLst/>
            </a:prstGeom>
            <a:ln w="38100" cap="flat">
              <a:solidFill>
                <a:srgbClr val="3C5679"/>
              </a:solidFill>
              <a:prstDash val="lg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9095842" y="5576242"/>
              <a:ext cx="2321220" cy="0"/>
            </a:xfrm>
            <a:prstGeom prst="line">
              <a:avLst/>
            </a:prstGeom>
            <a:ln w="38100" cap="flat">
              <a:solidFill>
                <a:srgbClr val="3C5679"/>
              </a:solidFill>
              <a:prstDash val="sysDash"/>
              <a:headEnd type="none" w="sm" len="sm"/>
              <a:tailEnd type="oval" w="lg" len="lg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0316674" y="2340699"/>
              <a:ext cx="2049344" cy="1856920"/>
              <a:chOff x="0" y="0"/>
              <a:chExt cx="2550919" cy="2311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550919" cy="2311400"/>
              </a:xfrm>
              <a:custGeom>
                <a:avLst/>
                <a:gdLst/>
                <a:ahLst/>
                <a:cxnLst/>
                <a:rect l="l" t="t" r="r" b="b"/>
                <a:pathLst>
                  <a:path w="2550919" h="2311400">
                    <a:moveTo>
                      <a:pt x="2246119" y="0"/>
                    </a:moveTo>
                    <a:lnTo>
                      <a:pt x="304800" y="0"/>
                    </a:lnTo>
                    <a:cubicBezTo>
                      <a:pt x="135890" y="0"/>
                      <a:pt x="0" y="135890"/>
                      <a:pt x="0" y="304800"/>
                    </a:cubicBezTo>
                    <a:lnTo>
                      <a:pt x="0" y="2006600"/>
                    </a:lnTo>
                    <a:cubicBezTo>
                      <a:pt x="0" y="2175510"/>
                      <a:pt x="135890" y="2311400"/>
                      <a:pt x="304800" y="2311400"/>
                    </a:cubicBezTo>
                    <a:lnTo>
                      <a:pt x="2246119" y="2311400"/>
                    </a:lnTo>
                    <a:cubicBezTo>
                      <a:pt x="2415029" y="2311400"/>
                      <a:pt x="2550919" y="2175510"/>
                      <a:pt x="2550919" y="2006600"/>
                    </a:cubicBezTo>
                    <a:lnTo>
                      <a:pt x="2550919" y="304800"/>
                    </a:lnTo>
                    <a:cubicBezTo>
                      <a:pt x="2550919" y="135890"/>
                      <a:pt x="2415029" y="0"/>
                      <a:pt x="2246119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0316674" y="4706965"/>
              <a:ext cx="2049344" cy="1856920"/>
              <a:chOff x="0" y="0"/>
              <a:chExt cx="2550919" cy="2311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550919" cy="2311400"/>
              </a:xfrm>
              <a:custGeom>
                <a:avLst/>
                <a:gdLst/>
                <a:ahLst/>
                <a:cxnLst/>
                <a:rect l="l" t="t" r="r" b="b"/>
                <a:pathLst>
                  <a:path w="2550919" h="2311400">
                    <a:moveTo>
                      <a:pt x="2246119" y="0"/>
                    </a:moveTo>
                    <a:lnTo>
                      <a:pt x="304800" y="0"/>
                    </a:lnTo>
                    <a:cubicBezTo>
                      <a:pt x="135890" y="0"/>
                      <a:pt x="0" y="135890"/>
                      <a:pt x="0" y="304800"/>
                    </a:cubicBezTo>
                    <a:lnTo>
                      <a:pt x="0" y="2006600"/>
                    </a:lnTo>
                    <a:cubicBezTo>
                      <a:pt x="0" y="2175510"/>
                      <a:pt x="135890" y="2311400"/>
                      <a:pt x="304800" y="2311400"/>
                    </a:cubicBezTo>
                    <a:lnTo>
                      <a:pt x="2246119" y="2311400"/>
                    </a:lnTo>
                    <a:cubicBezTo>
                      <a:pt x="2415029" y="2311400"/>
                      <a:pt x="2550919" y="2175510"/>
                      <a:pt x="2550919" y="2006600"/>
                    </a:cubicBezTo>
                    <a:lnTo>
                      <a:pt x="2550919" y="304800"/>
                    </a:lnTo>
                    <a:cubicBezTo>
                      <a:pt x="2550919" y="135890"/>
                      <a:pt x="2415029" y="0"/>
                      <a:pt x="2246119" y="0"/>
                    </a:cubicBezTo>
                    <a:close/>
                  </a:path>
                </a:pathLst>
              </a:custGeom>
              <a:solidFill>
                <a:srgbClr val="49BFB3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" name="AutoShape 19"/>
            <p:cNvSpPr/>
            <p:nvPr/>
          </p:nvSpPr>
          <p:spPr>
            <a:xfrm>
              <a:off x="9032827" y="989492"/>
              <a:ext cx="2708291" cy="0"/>
            </a:xfrm>
            <a:prstGeom prst="line">
              <a:avLst/>
            </a:prstGeom>
            <a:ln w="38100" cap="flat">
              <a:solidFill>
                <a:srgbClr val="3C5679"/>
              </a:solidFill>
              <a:prstDash val="sysDash"/>
              <a:headEnd type="none" w="sm" len="sm"/>
              <a:tailEnd type="oval" w="lg" len="lg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0316674" y="61032"/>
              <a:ext cx="2049344" cy="1856920"/>
              <a:chOff x="0" y="0"/>
              <a:chExt cx="2550919" cy="23114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550919" cy="2311400"/>
              </a:xfrm>
              <a:custGeom>
                <a:avLst/>
                <a:gdLst/>
                <a:ahLst/>
                <a:cxnLst/>
                <a:rect l="l" t="t" r="r" b="b"/>
                <a:pathLst>
                  <a:path w="2550919" h="2311400">
                    <a:moveTo>
                      <a:pt x="2246119" y="0"/>
                    </a:moveTo>
                    <a:lnTo>
                      <a:pt x="304800" y="0"/>
                    </a:lnTo>
                    <a:cubicBezTo>
                      <a:pt x="135890" y="0"/>
                      <a:pt x="0" y="135890"/>
                      <a:pt x="0" y="304800"/>
                    </a:cubicBezTo>
                    <a:lnTo>
                      <a:pt x="0" y="2006600"/>
                    </a:lnTo>
                    <a:cubicBezTo>
                      <a:pt x="0" y="2175510"/>
                      <a:pt x="135890" y="2311400"/>
                      <a:pt x="304800" y="2311400"/>
                    </a:cubicBezTo>
                    <a:lnTo>
                      <a:pt x="2246119" y="2311400"/>
                    </a:lnTo>
                    <a:cubicBezTo>
                      <a:pt x="2415029" y="2311400"/>
                      <a:pt x="2550919" y="2175510"/>
                      <a:pt x="2550919" y="2006600"/>
                    </a:cubicBezTo>
                    <a:lnTo>
                      <a:pt x="2550919" y="304800"/>
                    </a:lnTo>
                    <a:cubicBezTo>
                      <a:pt x="2550919" y="135890"/>
                      <a:pt x="2415029" y="0"/>
                      <a:pt x="2246119" y="0"/>
                    </a:cubicBezTo>
                    <a:close/>
                  </a:path>
                </a:pathLst>
              </a:custGeom>
              <a:solidFill>
                <a:srgbClr val="15E8C2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9156065" y="7982558"/>
              <a:ext cx="2321220" cy="0"/>
            </a:xfrm>
            <a:prstGeom prst="line">
              <a:avLst/>
            </a:prstGeom>
            <a:ln w="38100" cap="flat">
              <a:solidFill>
                <a:srgbClr val="3C5679"/>
              </a:solidFill>
              <a:prstDash val="sysDash"/>
              <a:headEnd type="none" w="sm" len="sm"/>
              <a:tailEnd type="oval" w="lg" len="lg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316674" y="7035474"/>
              <a:ext cx="2049344" cy="1856920"/>
              <a:chOff x="0" y="0"/>
              <a:chExt cx="2550919" cy="2311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550919" cy="2311400"/>
              </a:xfrm>
              <a:custGeom>
                <a:avLst/>
                <a:gdLst/>
                <a:ahLst/>
                <a:cxnLst/>
                <a:rect l="l" t="t" r="r" b="b"/>
                <a:pathLst>
                  <a:path w="2550919" h="2311400">
                    <a:moveTo>
                      <a:pt x="2246119" y="0"/>
                    </a:moveTo>
                    <a:lnTo>
                      <a:pt x="304800" y="0"/>
                    </a:lnTo>
                    <a:cubicBezTo>
                      <a:pt x="135890" y="0"/>
                      <a:pt x="0" y="135890"/>
                      <a:pt x="0" y="304800"/>
                    </a:cubicBezTo>
                    <a:lnTo>
                      <a:pt x="0" y="2006600"/>
                    </a:lnTo>
                    <a:cubicBezTo>
                      <a:pt x="0" y="2175510"/>
                      <a:pt x="135890" y="2311400"/>
                      <a:pt x="304800" y="2311400"/>
                    </a:cubicBezTo>
                    <a:lnTo>
                      <a:pt x="2246119" y="2311400"/>
                    </a:lnTo>
                    <a:cubicBezTo>
                      <a:pt x="2415029" y="2311400"/>
                      <a:pt x="2550919" y="2175510"/>
                      <a:pt x="2550919" y="2006600"/>
                    </a:cubicBezTo>
                    <a:lnTo>
                      <a:pt x="2550919" y="304800"/>
                    </a:lnTo>
                    <a:cubicBezTo>
                      <a:pt x="2550919" y="135890"/>
                      <a:pt x="2415029" y="0"/>
                      <a:pt x="2246119" y="0"/>
                    </a:cubicBezTo>
                    <a:close/>
                  </a:path>
                </a:pathLst>
              </a:custGeom>
              <a:solidFill>
                <a:srgbClr val="18B5D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0701584" y="400901"/>
              <a:ext cx="1397726" cy="1322598"/>
            </a:xfrm>
            <a:custGeom>
              <a:avLst/>
              <a:gdLst/>
              <a:ahLst/>
              <a:cxnLst/>
              <a:rect l="l" t="t" r="r" b="b"/>
              <a:pathLst>
                <a:path w="1397726" h="1322598">
                  <a:moveTo>
                    <a:pt x="0" y="0"/>
                  </a:moveTo>
                  <a:lnTo>
                    <a:pt x="1397726" y="0"/>
                  </a:lnTo>
                  <a:lnTo>
                    <a:pt x="1397726" y="1322598"/>
                  </a:lnTo>
                  <a:lnTo>
                    <a:pt x="0" y="13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0785230" y="2572030"/>
              <a:ext cx="1230433" cy="1394259"/>
            </a:xfrm>
            <a:custGeom>
              <a:avLst/>
              <a:gdLst/>
              <a:ahLst/>
              <a:cxnLst/>
              <a:rect l="l" t="t" r="r" b="b"/>
              <a:pathLst>
                <a:path w="1230433" h="1394259">
                  <a:moveTo>
                    <a:pt x="0" y="0"/>
                  </a:moveTo>
                  <a:lnTo>
                    <a:pt x="1230434" y="0"/>
                  </a:lnTo>
                  <a:lnTo>
                    <a:pt x="1230434" y="1394258"/>
                  </a:lnTo>
                  <a:lnTo>
                    <a:pt x="0" y="1394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0681663" y="4924482"/>
              <a:ext cx="1437567" cy="1421885"/>
            </a:xfrm>
            <a:custGeom>
              <a:avLst/>
              <a:gdLst/>
              <a:ahLst/>
              <a:cxnLst/>
              <a:rect l="l" t="t" r="r" b="b"/>
              <a:pathLst>
                <a:path w="1437567" h="1421885">
                  <a:moveTo>
                    <a:pt x="0" y="0"/>
                  </a:moveTo>
                  <a:lnTo>
                    <a:pt x="1437568" y="0"/>
                  </a:lnTo>
                  <a:lnTo>
                    <a:pt x="1437568" y="1421885"/>
                  </a:lnTo>
                  <a:lnTo>
                    <a:pt x="0" y="1421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0724552" y="7338094"/>
              <a:ext cx="1505465" cy="1471592"/>
            </a:xfrm>
            <a:custGeom>
              <a:avLst/>
              <a:gdLst/>
              <a:ahLst/>
              <a:cxnLst/>
              <a:rect l="l" t="t" r="r" b="b"/>
              <a:pathLst>
                <a:path w="1505465" h="1471592">
                  <a:moveTo>
                    <a:pt x="0" y="0"/>
                  </a:moveTo>
                  <a:lnTo>
                    <a:pt x="1505465" y="0"/>
                  </a:lnTo>
                  <a:lnTo>
                    <a:pt x="1505465" y="1471592"/>
                  </a:lnTo>
                  <a:lnTo>
                    <a:pt x="0" y="1471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902543" y="2992978"/>
              <a:ext cx="6011333" cy="580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 honest but positive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962493" y="7706378"/>
              <a:ext cx="6227703" cy="580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End on a positive note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3861215"/>
              <a:ext cx="5245191" cy="1582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4200" b="1" dirty="0">
                  <a:solidFill>
                    <a:srgbClr val="00B9E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</a:t>
              </a:r>
              <a:r>
                <a:rPr lang="en-US" sz="4200" b="1" dirty="0">
                  <a:solidFill>
                    <a:srgbClr val="CB6CE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</a:t>
              </a:r>
              <a:r>
                <a:rPr lang="en-US" sz="4200" b="1" dirty="0">
                  <a:solidFill>
                    <a:srgbClr val="95C7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</a:t>
              </a:r>
              <a:r>
                <a:rPr lang="en-US" sz="4200" b="1" dirty="0">
                  <a:solidFill>
                    <a:srgbClr val="FF57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</a:t>
              </a:r>
              <a:r>
                <a:rPr lang="en-US" sz="4200" b="1" dirty="0">
                  <a:solidFill>
                    <a:srgbClr val="00B9E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TECHNIQUE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010" y="50607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641992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1992" y="981075"/>
            <a:ext cx="16856018" cy="10448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endParaRPr/>
          </a:p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Strengths</a:t>
            </a:r>
          </a:p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In my previous role as 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project manager,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was responsible for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coordinating a team to launch a new product under a tight deadline.</a:t>
            </a:r>
          </a:p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project required close coordination between multiple departments—marketing, design, and engineering—and we had limited time to ensure everything was aligned for a successful product launch.</a:t>
            </a:r>
          </a:p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One of my key strengths is my ability to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prioritize tasks and manage time effectively. I broke down the entire project into smaller, manageable tasks and set clear deadlines for each department.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also scheduled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daily stand-up meetings to track progress, identify any roadblocks early on, and ensure the team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stayed focused and motivated.</a:t>
            </a:r>
          </a:p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Finally, we successfully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launched the product on time, and it received positive feedback from customers.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This strength has helped me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complete tasks  effectively so far. 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37681" y="432369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594397" y="150759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1" y="0"/>
                </a:lnTo>
                <a:lnTo>
                  <a:pt x="1121451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94397" y="1511391"/>
            <a:ext cx="16856018" cy="807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 Weaknesses</a:t>
            </a: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In the past, I found it challenging to </a:t>
            </a: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delegate tasks effectively, particularly when I felt that the quality of the work might not meet my standards.</a:t>
            </a: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For instance, while</a:t>
            </a: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leading a project to revamp our website, I took on too many responsibilities myself, fearing that delegation would slow down the process or impact quality.</a:t>
            </a: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To improve, I recognized the need to</a:t>
            </a: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trust my team more and started delegating tasks based on each person’s strengths and expertise. </a:t>
            </a:r>
            <a:r>
              <a:rPr lang="en-US" sz="27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began by</a:t>
            </a: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setting clearer expectations and providing more guidance upfront, but also giving team members the autonomy to take ownership of their work. </a:t>
            </a:r>
            <a:r>
              <a:rPr lang="en-US" sz="27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also made an effort to</a:t>
            </a: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check in regularly without micromanaging.</a:t>
            </a: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As a result,</a:t>
            </a: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project moved forward much more efficiently. My team felt more empowered and motivated, and the website redesign was completed ahead of schedule. I learned that delegation not only improves efficiency but also helps develop the skills of the team, which ultimately benefited both the project and the team’s overall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15991" y="1761092"/>
            <a:ext cx="16856018" cy="782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Strengths:</a:t>
            </a: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AA0F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In my previous role as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[position]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at XYZ, I was responsible for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[task or project]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At XYZ, we faced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[challenge]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and I was in charge of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[responsibility]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AA0F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My task was to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responsibility]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needed to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[objective]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ensuring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[desired outcome]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To address this, I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[action taken]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by ..............................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leveraged my strength in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[strength]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by ...................................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focused on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[key action]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to ensure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result]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As a result, we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[outcome]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which lead to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[result]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This approach resulted in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[positive result]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and we achieved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achievement]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15991" y="2012451"/>
            <a:ext cx="16856018" cy="871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 dirty="0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Weaknesses:</a:t>
            </a:r>
          </a:p>
          <a:p>
            <a:pPr algn="l">
              <a:lnSpc>
                <a:spcPts val="4060"/>
              </a:lnSpc>
            </a:pPr>
            <a:r>
              <a:rPr lang="en-US" sz="29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In the past, I found myself struggling with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[weakness]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while working on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[project/task].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At one point in my career, I noticed I had difficulty with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[weakness]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when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[situation]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060"/>
              </a:lnSpc>
            </a:pPr>
            <a:r>
              <a:rPr lang="en-US" sz="29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This was a challenge because I was expected to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[task or responsibility]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but I had a tendency to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[problem]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My task was to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goal]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but my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[weakness]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made it difficult to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[achieve task]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060"/>
              </a:lnSpc>
            </a:pPr>
            <a:r>
              <a:rPr lang="en-US" sz="29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To address this, I began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[action taken]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such as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steps you took to improve]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realized I needed to improve in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[area]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so I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[action taken]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 to handle it more effectively.</a:t>
            </a:r>
          </a:p>
          <a:p>
            <a:pPr algn="l">
              <a:lnSpc>
                <a:spcPts val="4060"/>
              </a:lnSpc>
            </a:pPr>
            <a:r>
              <a:rPr lang="en-US" sz="29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By doing this, I was able to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[positive outcome]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and the result was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[achievement]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As a result of my improvements, I was able to </a:t>
            </a:r>
            <a:r>
              <a:rPr lang="en-US" sz="29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[outcome]</a:t>
            </a:r>
            <a:r>
              <a:rPr lang="en-US" sz="29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and the project was completed successfully.</a:t>
            </a:r>
          </a:p>
          <a:p>
            <a:pPr algn="l">
              <a:lnSpc>
                <a:spcPts val="4060"/>
              </a:lnSpc>
            </a:pPr>
            <a:endParaRPr lang="en-US" sz="2900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060"/>
              </a:lnSpc>
            </a:pPr>
            <a:endParaRPr lang="en-US" sz="2900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4668" y="1479263"/>
            <a:ext cx="13805261" cy="117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"Tell me about your stregnths and weaknesses”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197653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1" y="0"/>
                </a:lnTo>
                <a:lnTo>
                  <a:pt x="1121451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916402"/>
            <a:ext cx="16391633" cy="682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Tell me about a time when you turned a weakness into a strength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How do you handle situations where you have to overcome a weakness?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What are your greatest strengths and how have you demonstrated them in the workplace?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Can you give me an example of a time when your strengths helped you succeed in a project?</a:t>
            </a:r>
          </a:p>
          <a:p>
            <a:pPr marL="647695" lvl="1" indent="-323848" algn="l">
              <a:lnSpc>
                <a:spcPts val="68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What skills or qualities do you need to improve to be more effective in your role?</a:t>
            </a:r>
          </a:p>
          <a:p>
            <a:pPr algn="l">
              <a:lnSpc>
                <a:spcPts val="6899"/>
              </a:lnSpc>
            </a:pPr>
            <a:endParaRPr lang="en-US" sz="2999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645303" y="1714048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8" y="0"/>
                </a:lnTo>
                <a:lnTo>
                  <a:pt x="4417378" y="4411857"/>
                </a:lnTo>
                <a:lnTo>
                  <a:pt x="0" y="4411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3458" y="3368188"/>
            <a:ext cx="9401084" cy="423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0"/>
              </a:lnSpc>
            </a:pPr>
            <a:r>
              <a:rPr lang="en-US" sz="1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1433</Words>
  <Application>Microsoft Office PowerPoint</Application>
  <PresentationFormat>Custom</PresentationFormat>
  <Paragraphs>143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Montserrat Classic Bold</vt:lpstr>
      <vt:lpstr>Aileron Heavy</vt:lpstr>
      <vt:lpstr>Calibri</vt:lpstr>
      <vt:lpstr>Open Sans Bold</vt:lpstr>
      <vt:lpstr>Poppins Bold</vt:lpstr>
      <vt:lpstr>Montserrat</vt:lpstr>
      <vt:lpstr>Montserrat Bold</vt:lpstr>
      <vt:lpstr>Montserrat Classic</vt:lpstr>
      <vt:lpstr>Arial</vt:lpstr>
      <vt:lpstr>Barlow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INTERVIEW - LESSON 2</dc:title>
  <cp:lastModifiedBy>Truyen Le</cp:lastModifiedBy>
  <cp:revision>2</cp:revision>
  <dcterms:created xsi:type="dcterms:W3CDTF">2006-08-16T00:00:00Z</dcterms:created>
  <dcterms:modified xsi:type="dcterms:W3CDTF">2025-03-18T16:56:04Z</dcterms:modified>
  <dc:identifier>DAGZIU9ES4k</dc:identifier>
</cp:coreProperties>
</file>