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6858000" cy="9144000"/>
  <p:embeddedFontLst>
    <p:embeddedFont>
      <p:font typeface="Inter Bold" panose="020B0604020202020204" charset="0"/>
      <p:regular r:id="rId23"/>
    </p:embeddedFont>
    <p:embeddedFont>
      <p:font typeface="Montserrat" panose="00000500000000000000" pitchFamily="2" charset="0"/>
      <p:regular r:id="rId24"/>
    </p:embeddedFont>
    <p:embeddedFont>
      <p:font typeface="Montserrat Bold" panose="00000800000000000000" charset="0"/>
      <p:regular r:id="rId25"/>
    </p:embeddedFont>
    <p:embeddedFont>
      <p:font typeface="Montserrat Classic" panose="020B0604020202020204" charset="0"/>
      <p:regular r:id="rId26"/>
    </p:embeddedFont>
    <p:embeddedFont>
      <p:font typeface="Montserrat Classic Bold" panose="020B0604020202020204" charset="0"/>
      <p:regular r:id="rId27"/>
    </p:embeddedFont>
    <p:embeddedFont>
      <p:font typeface="Open Sans Bold" panose="020B0604020202020204" charset="0"/>
      <p:regular r:id="rId28"/>
    </p:embeddedFont>
    <p:embeddedFont>
      <p:font typeface="Poppins Bold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105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6301242" y="8616642"/>
            <a:ext cx="438008" cy="312180"/>
          </a:xfrm>
          <a:custGeom>
            <a:avLst/>
            <a:gdLst/>
            <a:ahLst/>
            <a:cxnLst/>
            <a:rect l="l" t="t" r="r" b="b"/>
            <a:pathLst>
              <a:path w="438008" h="312180">
                <a:moveTo>
                  <a:pt x="438008" y="0"/>
                </a:moveTo>
                <a:lnTo>
                  <a:pt x="0" y="0"/>
                </a:lnTo>
                <a:lnTo>
                  <a:pt x="0" y="312180"/>
                </a:lnTo>
                <a:lnTo>
                  <a:pt x="438008" y="312180"/>
                </a:lnTo>
                <a:lnTo>
                  <a:pt x="4380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5025280" y="9100272"/>
            <a:ext cx="7991171" cy="900823"/>
            <a:chOff x="0" y="0"/>
            <a:chExt cx="10654894" cy="12010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654894" cy="1201097"/>
            </a:xfrm>
            <a:custGeom>
              <a:avLst/>
              <a:gdLst/>
              <a:ahLst/>
              <a:cxnLst/>
              <a:rect l="l" t="t" r="r" b="b"/>
              <a:pathLst>
                <a:path w="10654894" h="1201097">
                  <a:moveTo>
                    <a:pt x="0" y="0"/>
                  </a:moveTo>
                  <a:lnTo>
                    <a:pt x="10654894" y="0"/>
                  </a:lnTo>
                  <a:lnTo>
                    <a:pt x="10654894" y="1201097"/>
                  </a:lnTo>
                  <a:lnTo>
                    <a:pt x="0" y="12010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9367739" y="336203"/>
              <a:ext cx="741786" cy="528691"/>
            </a:xfrm>
            <a:custGeom>
              <a:avLst/>
              <a:gdLst/>
              <a:ahLst/>
              <a:cxnLst/>
              <a:rect l="l" t="t" r="r" b="b"/>
              <a:pathLst>
                <a:path w="741786" h="528691">
                  <a:moveTo>
                    <a:pt x="0" y="0"/>
                  </a:moveTo>
                  <a:lnTo>
                    <a:pt x="741785" y="0"/>
                  </a:lnTo>
                  <a:lnTo>
                    <a:pt x="741785" y="528691"/>
                  </a:lnTo>
                  <a:lnTo>
                    <a:pt x="0" y="528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639854" y="325476"/>
              <a:ext cx="5375186" cy="5025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00"/>
                </a:lnSpc>
              </a:pPr>
              <a:r>
                <a:rPr lang="en-US" sz="2286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Get Started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914662" y="2731911"/>
            <a:ext cx="5787253" cy="1149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FFFFFF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LESSON 9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110641" y="4224412"/>
            <a:ext cx="14717778" cy="2927985"/>
            <a:chOff x="0" y="0"/>
            <a:chExt cx="19623704" cy="3903980"/>
          </a:xfrm>
        </p:grpSpPr>
        <p:sp>
          <p:nvSpPr>
            <p:cNvPr id="9" name="TextBox 9"/>
            <p:cNvSpPr txBox="1"/>
            <p:nvPr/>
          </p:nvSpPr>
          <p:spPr>
            <a:xfrm>
              <a:off x="0" y="66675"/>
              <a:ext cx="19623704" cy="3040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800"/>
                </a:lnSpc>
              </a:pPr>
              <a:r>
                <a:rPr lang="en-US" sz="8000" b="1">
                  <a:solidFill>
                    <a:srgbClr val="00B9EF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LEADERSHIP PRINCIPLE</a:t>
              </a:r>
            </a:p>
            <a:p>
              <a:pPr algn="ctr">
                <a:lnSpc>
                  <a:spcPts val="8800"/>
                </a:lnSpc>
              </a:pPr>
              <a:r>
                <a:rPr lang="en-US" sz="8000" b="1">
                  <a:solidFill>
                    <a:srgbClr val="00B9EF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DIVE DEEP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23003" y="3364354"/>
              <a:ext cx="15997452" cy="5396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799" b="1" spc="977">
                  <a:solidFill>
                    <a:srgbClr val="FFFFFF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BEHAVIORAL INTERVIEW COURSE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9262" y="4539810"/>
            <a:ext cx="2697079" cy="2697079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A0FF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741202" y="5055410"/>
            <a:ext cx="1813201" cy="1665878"/>
          </a:xfrm>
          <a:custGeom>
            <a:avLst/>
            <a:gdLst/>
            <a:ahLst/>
            <a:cxnLst/>
            <a:rect l="l" t="t" r="r" b="b"/>
            <a:pathLst>
              <a:path w="1813201" h="1665878">
                <a:moveTo>
                  <a:pt x="0" y="0"/>
                </a:moveTo>
                <a:lnTo>
                  <a:pt x="1813200" y="0"/>
                </a:lnTo>
                <a:lnTo>
                  <a:pt x="1813200" y="1665879"/>
                </a:lnTo>
                <a:lnTo>
                  <a:pt x="0" y="16658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213107">
            <a:off x="2868045" y="3321923"/>
            <a:ext cx="3270377" cy="715395"/>
          </a:xfrm>
          <a:custGeom>
            <a:avLst/>
            <a:gdLst/>
            <a:ahLst/>
            <a:cxnLst/>
            <a:rect l="l" t="t" r="r" b="b"/>
            <a:pathLst>
              <a:path w="3270377" h="715395">
                <a:moveTo>
                  <a:pt x="0" y="0"/>
                </a:moveTo>
                <a:lnTo>
                  <a:pt x="3270377" y="0"/>
                </a:lnTo>
                <a:lnTo>
                  <a:pt x="3270377" y="715395"/>
                </a:lnTo>
                <a:lnTo>
                  <a:pt x="0" y="71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7660409" y="2797892"/>
            <a:ext cx="8922750" cy="4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Revise question 1 &amp; 2 - Earn Trust LP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60409" y="5431604"/>
            <a:ext cx="9598891" cy="861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Describe a time when you had to dive deep into a problem to find the root cause.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25920" y="8378340"/>
            <a:ext cx="9733380" cy="1289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Can you give an example of how you identified a problem that others had missed by digging deeper into the data or processes?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60409" y="4599450"/>
            <a:ext cx="2437624" cy="39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</a:pPr>
            <a:r>
              <a:rPr lang="en-US" sz="2700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QUESTION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60409" y="7548075"/>
            <a:ext cx="2437624" cy="39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</a:pPr>
            <a:r>
              <a:rPr lang="en-US" sz="2700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QUESTION 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72942" y="553294"/>
            <a:ext cx="15342116" cy="1312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8"/>
              </a:lnSpc>
            </a:pPr>
            <a:r>
              <a:rPr lang="en-US" sz="42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CONTENTS</a:t>
            </a:r>
          </a:p>
          <a:p>
            <a:pPr algn="ctr">
              <a:lnSpc>
                <a:spcPts val="5208"/>
              </a:lnSpc>
            </a:pPr>
            <a:r>
              <a:rPr lang="en-US" sz="42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LEARN AND BE CURIOUS</a:t>
            </a:r>
          </a:p>
        </p:txBody>
      </p:sp>
      <p:sp>
        <p:nvSpPr>
          <p:cNvPr id="12" name="Freeform 12"/>
          <p:cNvSpPr/>
          <p:nvPr/>
        </p:nvSpPr>
        <p:spPr>
          <a:xfrm rot="-94520">
            <a:off x="3158939" y="5539618"/>
            <a:ext cx="3270377" cy="715395"/>
          </a:xfrm>
          <a:custGeom>
            <a:avLst/>
            <a:gdLst/>
            <a:ahLst/>
            <a:cxnLst/>
            <a:rect l="l" t="t" r="r" b="b"/>
            <a:pathLst>
              <a:path w="3270377" h="715395">
                <a:moveTo>
                  <a:pt x="0" y="0"/>
                </a:moveTo>
                <a:lnTo>
                  <a:pt x="3270377" y="0"/>
                </a:lnTo>
                <a:lnTo>
                  <a:pt x="3270377" y="715395"/>
                </a:lnTo>
                <a:lnTo>
                  <a:pt x="0" y="71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1569951">
            <a:off x="2986504" y="7858490"/>
            <a:ext cx="3270377" cy="715395"/>
          </a:xfrm>
          <a:custGeom>
            <a:avLst/>
            <a:gdLst/>
            <a:ahLst/>
            <a:cxnLst/>
            <a:rect l="l" t="t" r="r" b="b"/>
            <a:pathLst>
              <a:path w="3270377" h="715395">
                <a:moveTo>
                  <a:pt x="0" y="0"/>
                </a:moveTo>
                <a:lnTo>
                  <a:pt x="3270377" y="0"/>
                </a:lnTo>
                <a:lnTo>
                  <a:pt x="3270377" y="715395"/>
                </a:lnTo>
                <a:lnTo>
                  <a:pt x="0" y="71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40054" y="4254399"/>
            <a:ext cx="795045" cy="795045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5E8C2"/>
            </a:solidFill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4718831" y="6791728"/>
          <a:ext cx="12189590" cy="884619"/>
        </p:xfrm>
        <a:graphic>
          <a:graphicData uri="http://schemas.openxmlformats.org/drawingml/2006/table">
            <a:tbl>
              <a:tblPr/>
              <a:tblGrid>
                <a:gridCol w="12189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49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" name="Group 5"/>
          <p:cNvGrpSpPr/>
          <p:nvPr/>
        </p:nvGrpSpPr>
        <p:grpSpPr>
          <a:xfrm>
            <a:off x="3614187" y="6394205"/>
            <a:ext cx="720912" cy="795045"/>
            <a:chOff x="0" y="0"/>
            <a:chExt cx="5757902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757902" cy="6350000"/>
            </a:xfrm>
            <a:custGeom>
              <a:avLst/>
              <a:gdLst/>
              <a:ahLst/>
              <a:cxnLst/>
              <a:rect l="l" t="t" r="r" b="b"/>
              <a:pathLst>
                <a:path w="5757902" h="6350000">
                  <a:moveTo>
                    <a:pt x="2878951" y="0"/>
                  </a:moveTo>
                  <a:cubicBezTo>
                    <a:pt x="1288950" y="0"/>
                    <a:pt x="0" y="1421496"/>
                    <a:pt x="0" y="3175000"/>
                  </a:cubicBezTo>
                  <a:cubicBezTo>
                    <a:pt x="0" y="4928504"/>
                    <a:pt x="1288950" y="6350000"/>
                    <a:pt x="2878951" y="6350000"/>
                  </a:cubicBezTo>
                  <a:cubicBezTo>
                    <a:pt x="4468952" y="6350000"/>
                    <a:pt x="5757902" y="4928504"/>
                    <a:pt x="5757902" y="3175000"/>
                  </a:cubicBezTo>
                  <a:cubicBezTo>
                    <a:pt x="5757902" y="1421496"/>
                    <a:pt x="4468952" y="0"/>
                    <a:pt x="2878951" y="0"/>
                  </a:cubicBezTo>
                  <a:close/>
                </a:path>
              </a:pathLst>
            </a:custGeom>
            <a:solidFill>
              <a:srgbClr val="15E8C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/>
          <p:cNvSpPr/>
          <p:nvPr/>
        </p:nvSpPr>
        <p:spPr>
          <a:xfrm>
            <a:off x="3614187" y="1028700"/>
            <a:ext cx="2209289" cy="2057400"/>
          </a:xfrm>
          <a:custGeom>
            <a:avLst/>
            <a:gdLst/>
            <a:ahLst/>
            <a:cxnLst/>
            <a:rect l="l" t="t" r="r" b="b"/>
            <a:pathLst>
              <a:path w="2209289" h="2057400">
                <a:moveTo>
                  <a:pt x="0" y="0"/>
                </a:moveTo>
                <a:lnTo>
                  <a:pt x="2209289" y="0"/>
                </a:lnTo>
                <a:lnTo>
                  <a:pt x="220928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5088082" y="4290353"/>
            <a:ext cx="11820339" cy="1216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Tell me about a time when you had a conflict with a coworker.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73488" y="1832824"/>
            <a:ext cx="7899812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REVISE QUESTIONS 1 &amp; 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40054" y="4337978"/>
            <a:ext cx="795045" cy="608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900">
                <a:solidFill>
                  <a:srgbClr val="900EED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14187" y="6477784"/>
            <a:ext cx="720912" cy="608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900">
                <a:solidFill>
                  <a:srgbClr val="900EED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88082" y="6327530"/>
            <a:ext cx="11820339" cy="1216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Tell me about a time when you had to convince team members of something you proposed.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27244" y="1028700"/>
            <a:ext cx="1314106" cy="2176983"/>
          </a:xfrm>
          <a:custGeom>
            <a:avLst/>
            <a:gdLst/>
            <a:ahLst/>
            <a:cxnLst/>
            <a:rect l="l" t="t" r="r" b="b"/>
            <a:pathLst>
              <a:path w="1314106" h="2176983">
                <a:moveTo>
                  <a:pt x="0" y="0"/>
                </a:moveTo>
                <a:lnTo>
                  <a:pt x="1314106" y="0"/>
                </a:lnTo>
                <a:lnTo>
                  <a:pt x="1314106" y="2176983"/>
                </a:lnTo>
                <a:lnTo>
                  <a:pt x="0" y="21769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493273" y="1951534"/>
            <a:ext cx="7899812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Dive Deep?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291189"/>
            <a:ext cx="16363357" cy="19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50"/>
              </a:lnSpc>
              <a:spcBef>
                <a:spcPct val="0"/>
              </a:spcBef>
            </a:pPr>
            <a:r>
              <a:rPr lang="en-US" sz="3500" spc="18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Leaders operate at all levels, stay connected to the details, audit frequently, and are skeptical when metrics and anecdote differ. No task is beneath them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6107" y="2274509"/>
            <a:ext cx="795045" cy="795045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5E8C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4784229" y="330603"/>
            <a:ext cx="819801" cy="995343"/>
          </a:xfrm>
          <a:custGeom>
            <a:avLst/>
            <a:gdLst/>
            <a:ahLst/>
            <a:cxnLst/>
            <a:rect l="l" t="t" r="r" b="b"/>
            <a:pathLst>
              <a:path w="819801" h="995343">
                <a:moveTo>
                  <a:pt x="0" y="0"/>
                </a:moveTo>
                <a:lnTo>
                  <a:pt x="819801" y="0"/>
                </a:lnTo>
                <a:lnTo>
                  <a:pt x="819801" y="995343"/>
                </a:lnTo>
                <a:lnTo>
                  <a:pt x="0" y="99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1157273">
            <a:off x="14733977" y="3170693"/>
            <a:ext cx="1311593" cy="4114800"/>
          </a:xfrm>
          <a:custGeom>
            <a:avLst/>
            <a:gdLst/>
            <a:ahLst/>
            <a:cxnLst/>
            <a:rect l="l" t="t" r="r" b="b"/>
            <a:pathLst>
              <a:path w="1311593" h="4114800">
                <a:moveTo>
                  <a:pt x="0" y="0"/>
                </a:moveTo>
                <a:lnTo>
                  <a:pt x="1311593" y="0"/>
                </a:lnTo>
                <a:lnTo>
                  <a:pt x="13115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564885" y="2310462"/>
            <a:ext cx="14694415" cy="1216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Describe a time when you had to dive deep into a problem to find the root cause.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04030" y="549159"/>
            <a:ext cx="7899812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ANALYZING QUESTIONS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86107" y="2358087"/>
            <a:ext cx="795045" cy="608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900">
                <a:solidFill>
                  <a:srgbClr val="900EED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81153" y="5422258"/>
            <a:ext cx="12386173" cy="168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  <a:spcBef>
                <a:spcPct val="0"/>
              </a:spcBef>
            </a:pPr>
            <a:r>
              <a:rPr lang="en-US" sz="3000" spc="15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you’re a details person and how you use them to demonstrate your enthusiasm for owning or contributing to a project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46826" y="749584"/>
            <a:ext cx="7899812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STRUCTURING ANSWER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25079" y="3223442"/>
            <a:ext cx="4509431" cy="1295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sz="4500" dirty="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sz="4500" dirty="0">
                <a:solidFill>
                  <a:srgbClr val="CB6CE6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sz="4500" dirty="0">
                <a:solidFill>
                  <a:srgbClr val="95C740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sz="4500" dirty="0">
                <a:solidFill>
                  <a:srgbClr val="FF5757"/>
                </a:solidFill>
                <a:latin typeface="Poppins Bold"/>
                <a:ea typeface="Poppins Bold"/>
                <a:cs typeface="Poppins Bold"/>
                <a:sym typeface="Poppins Bold"/>
              </a:rPr>
              <a:t>R/ </a:t>
            </a:r>
            <a:r>
              <a:rPr lang="en-US" sz="4500" dirty="0" err="1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sz="4500" dirty="0" err="1">
                <a:solidFill>
                  <a:srgbClr val="CB6CE6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sz="4500" dirty="0" err="1">
                <a:solidFill>
                  <a:srgbClr val="95C740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sz="4500" dirty="0" err="1">
                <a:solidFill>
                  <a:srgbClr val="FF5757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  <a:r>
              <a:rPr lang="en-US" sz="4500" dirty="0" err="1">
                <a:solidFill>
                  <a:srgbClr val="C6A237"/>
                </a:solidFill>
                <a:latin typeface="Poppins Bold"/>
                <a:ea typeface="Poppins Bold"/>
                <a:cs typeface="Poppins Bold"/>
                <a:sym typeface="Poppins Bold"/>
              </a:rPr>
              <a:t>L</a:t>
            </a:r>
            <a:endParaRPr lang="en-US" sz="4500" dirty="0">
              <a:solidFill>
                <a:srgbClr val="C6A237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4950"/>
              </a:lnSpc>
            </a:pPr>
            <a:r>
              <a:rPr lang="en-US" sz="4500" dirty="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TECHNIQUE</a:t>
            </a:r>
          </a:p>
        </p:txBody>
      </p:sp>
      <p:sp>
        <p:nvSpPr>
          <p:cNvPr id="4" name="Freeform 4"/>
          <p:cNvSpPr/>
          <p:nvPr/>
        </p:nvSpPr>
        <p:spPr>
          <a:xfrm rot="-9483397">
            <a:off x="5704719" y="3274454"/>
            <a:ext cx="1270348" cy="384280"/>
          </a:xfrm>
          <a:custGeom>
            <a:avLst/>
            <a:gdLst/>
            <a:ahLst/>
            <a:cxnLst/>
            <a:rect l="l" t="t" r="r" b="b"/>
            <a:pathLst>
              <a:path w="1270348" h="384280">
                <a:moveTo>
                  <a:pt x="0" y="0"/>
                </a:moveTo>
                <a:lnTo>
                  <a:pt x="1270348" y="0"/>
                </a:lnTo>
                <a:lnTo>
                  <a:pt x="1270348" y="384281"/>
                </a:lnTo>
                <a:lnTo>
                  <a:pt x="0" y="384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8976499">
            <a:off x="6423560" y="4670595"/>
            <a:ext cx="1232760" cy="372910"/>
          </a:xfrm>
          <a:custGeom>
            <a:avLst/>
            <a:gdLst/>
            <a:ahLst/>
            <a:cxnLst/>
            <a:rect l="l" t="t" r="r" b="b"/>
            <a:pathLst>
              <a:path w="1232760" h="372910">
                <a:moveTo>
                  <a:pt x="0" y="0"/>
                </a:moveTo>
                <a:lnTo>
                  <a:pt x="1232760" y="0"/>
                </a:lnTo>
                <a:lnTo>
                  <a:pt x="1232760" y="372910"/>
                </a:lnTo>
                <a:lnTo>
                  <a:pt x="0" y="372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1891629">
            <a:off x="10537118" y="4773618"/>
            <a:ext cx="1184393" cy="358279"/>
          </a:xfrm>
          <a:custGeom>
            <a:avLst/>
            <a:gdLst/>
            <a:ahLst/>
            <a:cxnLst/>
            <a:rect l="l" t="t" r="r" b="b"/>
            <a:pathLst>
              <a:path w="1184393" h="358279">
                <a:moveTo>
                  <a:pt x="0" y="0"/>
                </a:moveTo>
                <a:lnTo>
                  <a:pt x="1184393" y="0"/>
                </a:lnTo>
                <a:lnTo>
                  <a:pt x="1184393" y="358279"/>
                </a:lnTo>
                <a:lnTo>
                  <a:pt x="0" y="3582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572627">
            <a:off x="11334510" y="3444089"/>
            <a:ext cx="1092124" cy="330368"/>
          </a:xfrm>
          <a:custGeom>
            <a:avLst/>
            <a:gdLst/>
            <a:ahLst/>
            <a:cxnLst/>
            <a:rect l="l" t="t" r="r" b="b"/>
            <a:pathLst>
              <a:path w="1092124" h="330368">
                <a:moveTo>
                  <a:pt x="0" y="0"/>
                </a:moveTo>
                <a:lnTo>
                  <a:pt x="1092124" y="0"/>
                </a:lnTo>
                <a:lnTo>
                  <a:pt x="1092124" y="330368"/>
                </a:lnTo>
                <a:lnTo>
                  <a:pt x="0" y="330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4600725" y="6634541"/>
            <a:ext cx="6730774" cy="2942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endParaRPr dirty="0"/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Solution: 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Explain the solution you came up with to solve the problem. Steps through how you went, and focus on your contribution over what the team / larger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35123" y="2364261"/>
            <a:ext cx="5174476" cy="168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dirty="0">
                <a:solidFill>
                  <a:srgbClr val="00B9EF"/>
                </a:solidFill>
                <a:latin typeface="Montserrat"/>
                <a:ea typeface="Montserrat"/>
                <a:cs typeface="Montserrat"/>
                <a:sym typeface="Montserrat"/>
              </a:rPr>
              <a:t>Situation: 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Describe your role, the team, the organization, the market, etc.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4748" y="4885625"/>
            <a:ext cx="5614320" cy="1266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dirty="0">
                <a:solidFill>
                  <a:srgbClr val="CB6CE6"/>
                </a:solidFill>
                <a:latin typeface="Montserrat"/>
                <a:ea typeface="Montserrat"/>
                <a:cs typeface="Montserrat"/>
                <a:sym typeface="Montserrat"/>
              </a:rPr>
              <a:t>Problem: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Outline the problem you and your team were facing.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7562" y="5114192"/>
            <a:ext cx="5966442" cy="2104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Impact: 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Summarize the positive results you achieved for your team, department, and organization. As much as possible, quantify the impact.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857375" y="2615546"/>
            <a:ext cx="4759554" cy="168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dirty="0">
                <a:solidFill>
                  <a:srgbClr val="C6A237"/>
                </a:solidFill>
                <a:latin typeface="Montserrat"/>
                <a:ea typeface="Montserrat"/>
                <a:cs typeface="Montserrat"/>
                <a:sym typeface="Montserrat"/>
              </a:rPr>
              <a:t>Lessons: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Conclude with any lessons you might have learned in the process.</a:t>
            </a:r>
          </a:p>
        </p:txBody>
      </p:sp>
      <p:sp>
        <p:nvSpPr>
          <p:cNvPr id="13" name="Freeform 13"/>
          <p:cNvSpPr/>
          <p:nvPr/>
        </p:nvSpPr>
        <p:spPr>
          <a:xfrm rot="5400000">
            <a:off x="8273061" y="5608984"/>
            <a:ext cx="1184393" cy="358279"/>
          </a:xfrm>
          <a:custGeom>
            <a:avLst/>
            <a:gdLst/>
            <a:ahLst/>
            <a:cxnLst/>
            <a:rect l="l" t="t" r="r" b="b"/>
            <a:pathLst>
              <a:path w="1184393" h="358279">
                <a:moveTo>
                  <a:pt x="0" y="0"/>
                </a:moveTo>
                <a:lnTo>
                  <a:pt x="1184394" y="0"/>
                </a:lnTo>
                <a:lnTo>
                  <a:pt x="1184394" y="358279"/>
                </a:lnTo>
                <a:lnTo>
                  <a:pt x="0" y="3582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79675" y="749584"/>
            <a:ext cx="5232025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SAMPLE ANSWER</a:t>
            </a:r>
          </a:p>
        </p:txBody>
      </p:sp>
      <p:sp>
        <p:nvSpPr>
          <p:cNvPr id="3" name="Freeform 3"/>
          <p:cNvSpPr/>
          <p:nvPr/>
        </p:nvSpPr>
        <p:spPr>
          <a:xfrm>
            <a:off x="467974" y="46797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983342" y="2213279"/>
            <a:ext cx="16275958" cy="5793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process for monthly mobile phone bill generation was slow. The bill generation process for one hundred and thirty thousand subscribers took twelve hours. I was asked to analyze whether there were opportunities to optimize the process.</a:t>
            </a:r>
          </a:p>
          <a:p>
            <a:pPr algn="just">
              <a:lnSpc>
                <a:spcPts val="4620"/>
              </a:lnSpc>
            </a:pPr>
            <a:endParaRPr lang="en-US" sz="33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4620"/>
              </a:lnSpc>
            </a:pPr>
            <a:r>
              <a:rPr lang="en-US" sz="3300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Unfortunately,</a:t>
            </a:r>
            <a:r>
              <a:rPr lang="en-US" sz="33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we had minimal documentation available on the process. I held a session with the application support engineers to understand how we could trace this process. </a:t>
            </a:r>
            <a:r>
              <a:rPr lang="en-US" sz="3300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After that, </a:t>
            </a:r>
            <a:r>
              <a:rPr lang="en-US" sz="33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during the next bill cycle, we traced all database calls for twelve hours. Then I gathered over a thousand trace files in order and ran an Oracle profiler called </a:t>
            </a:r>
            <a:r>
              <a:rPr lang="en-US" sz="33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tkprof</a:t>
            </a:r>
            <a:r>
              <a:rPr lang="en-US" sz="33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79675" y="749584"/>
            <a:ext cx="5232025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SAMPLE ANSWER</a:t>
            </a:r>
          </a:p>
        </p:txBody>
      </p:sp>
      <p:sp>
        <p:nvSpPr>
          <p:cNvPr id="3" name="Freeform 3"/>
          <p:cNvSpPr/>
          <p:nvPr/>
        </p:nvSpPr>
        <p:spPr>
          <a:xfrm>
            <a:off x="467974" y="46797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378332" y="2076688"/>
            <a:ext cx="16067751" cy="5981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My analysis revealed that</a:t>
            </a:r>
            <a:r>
              <a:rPr lang="en-US" sz="3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the process spent lots of database time in performing single block reads and multiblock reads. The total time spent in doing I/Os was six hours. Approximately half of disk I/Os were taking more time than normal. </a:t>
            </a:r>
            <a:r>
              <a:rPr lang="en-US" sz="3399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After a similar analysis in preproduction, </a:t>
            </a:r>
            <a:r>
              <a:rPr lang="en-US" sz="3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 saw that, even with 25% more subscribers, the bill run finished at the same time as production.</a:t>
            </a:r>
            <a:r>
              <a:rPr lang="en-US" sz="3399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 The difference was that</a:t>
            </a:r>
            <a:r>
              <a:rPr lang="en-US" sz="3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the preproduction environment had a newer CPU and a newer storage system. Part of the performance improvement in preprod was also the result of less traffic going into the preproduction environment. I/O took a lot less time in preprod.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99460" y="506074"/>
            <a:ext cx="11088801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SAMPLE ANSWER</a:t>
            </a:r>
          </a:p>
        </p:txBody>
      </p:sp>
      <p:sp>
        <p:nvSpPr>
          <p:cNvPr id="3" name="Freeform 3"/>
          <p:cNvSpPr/>
          <p:nvPr/>
        </p:nvSpPr>
        <p:spPr>
          <a:xfrm>
            <a:off x="644664" y="22446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95781" y="1922728"/>
            <a:ext cx="16163519" cy="7416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After this analysis, </a:t>
            </a: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 presented the findings in a twenty-six page report and a brief presentation. My recommendations were as follows: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·     Move bill run data to a dedicated database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·     Cache smaller tables in memory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·    Move bill run data to faster disks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With my recommendations, we started the hardware modernization project, and as expected, newer CPUs and storage helped a lot. We were able to improve the performance of bill runs by approximately 35%. We brought down the bill run time from 18 to 12 hours. A big improvement, but I know I could make more progress.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 have to say that it is really important to go into details of a problem, a minor mistake having a big impact on the whole.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79675" y="749584"/>
            <a:ext cx="11088801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SENTENCE STRUCTURE TEMPLATES</a:t>
            </a:r>
          </a:p>
        </p:txBody>
      </p:sp>
      <p:sp>
        <p:nvSpPr>
          <p:cNvPr id="3" name="Freeform 3"/>
          <p:cNvSpPr/>
          <p:nvPr/>
        </p:nvSpPr>
        <p:spPr>
          <a:xfrm>
            <a:off x="467974" y="46797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2054515"/>
            <a:ext cx="15727429" cy="7449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3EDA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Situation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Our team at XYZ Corp noticed [problems] when working at/with XYZ company/ team, I was involved in a project where ................................. 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CB6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Task &amp; Action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 was tasked with [doing ST]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 conducted a .....................................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 took the initiative to dig deep into the codebase and our logging system.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 started by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 tackle this, I collaborated with ..............................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C6A2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As a result of my recommendations, ...............................................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This experience highlighted the importance of..........................................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20389" y="1066800"/>
            <a:ext cx="15872588" cy="1177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Variations of “Describe a time when you had to dive deep into a problem to find the root cause.”</a:t>
            </a:r>
          </a:p>
        </p:txBody>
      </p:sp>
      <p:sp>
        <p:nvSpPr>
          <p:cNvPr id="3" name="Freeform 3"/>
          <p:cNvSpPr/>
          <p:nvPr/>
        </p:nvSpPr>
        <p:spPr>
          <a:xfrm>
            <a:off x="467974" y="1028700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1"/>
                </a:lnTo>
                <a:lnTo>
                  <a:pt x="0" y="11214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802291" y="2357544"/>
            <a:ext cx="14683419" cy="6905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6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Tell me about a time when you had to dig deep into a problem to find a solution.</a:t>
            </a:r>
          </a:p>
          <a:p>
            <a:pPr marL="647700" lvl="1" indent="-323850" algn="l">
              <a:lnSpc>
                <a:spcPts val="6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Describe a situation where you discovered something unexpected while investigating a problem.</a:t>
            </a:r>
          </a:p>
          <a:p>
            <a:pPr marL="647700" lvl="1" indent="-323850" algn="l">
              <a:lnSpc>
                <a:spcPts val="6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Can you give an example of a time when you had to dive into the details of a project?</a:t>
            </a:r>
          </a:p>
          <a:p>
            <a:pPr marL="647700" lvl="1" indent="-323850" algn="l">
              <a:lnSpc>
                <a:spcPts val="6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•Describe a situation where you had to go beyond your role to uncover important insights.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88994" y="7365830"/>
            <a:ext cx="6120792" cy="14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BRAINSTORMING</a:t>
            </a:r>
          </a:p>
          <a:p>
            <a:pPr algn="ctr">
              <a:lnSpc>
                <a:spcPts val="5500"/>
              </a:lnSpc>
            </a:pPr>
            <a:r>
              <a:rPr lang="en-US" sz="50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Writing Time</a:t>
            </a:r>
          </a:p>
        </p:txBody>
      </p:sp>
      <p:sp>
        <p:nvSpPr>
          <p:cNvPr id="3" name="Freeform 3"/>
          <p:cNvSpPr/>
          <p:nvPr/>
        </p:nvSpPr>
        <p:spPr>
          <a:xfrm>
            <a:off x="6935311" y="2505665"/>
            <a:ext cx="4417378" cy="4411856"/>
          </a:xfrm>
          <a:custGeom>
            <a:avLst/>
            <a:gdLst/>
            <a:ahLst/>
            <a:cxnLst/>
            <a:rect l="l" t="t" r="r" b="b"/>
            <a:pathLst>
              <a:path w="4417378" h="4411856">
                <a:moveTo>
                  <a:pt x="0" y="0"/>
                </a:moveTo>
                <a:lnTo>
                  <a:pt x="4417378" y="0"/>
                </a:lnTo>
                <a:lnTo>
                  <a:pt x="4417378" y="4411856"/>
                </a:lnTo>
                <a:lnTo>
                  <a:pt x="0" y="4411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0453" y="2147062"/>
            <a:ext cx="795045" cy="795045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5E8C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4784229" y="330603"/>
            <a:ext cx="819801" cy="995343"/>
          </a:xfrm>
          <a:custGeom>
            <a:avLst/>
            <a:gdLst/>
            <a:ahLst/>
            <a:cxnLst/>
            <a:rect l="l" t="t" r="r" b="b"/>
            <a:pathLst>
              <a:path w="819801" h="995343">
                <a:moveTo>
                  <a:pt x="0" y="0"/>
                </a:moveTo>
                <a:lnTo>
                  <a:pt x="819801" y="0"/>
                </a:lnTo>
                <a:lnTo>
                  <a:pt x="819801" y="995343"/>
                </a:lnTo>
                <a:lnTo>
                  <a:pt x="0" y="99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628608" y="1991194"/>
            <a:ext cx="14412163" cy="1835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Can you give an example of how you identified a problem that others had missed by digging deeper into the data or processes?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04030" y="549159"/>
            <a:ext cx="7116559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ANALYZING QUESTIONS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50453" y="2230641"/>
            <a:ext cx="795045" cy="608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900">
                <a:solidFill>
                  <a:srgbClr val="900EED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8" name="Freeform 8"/>
          <p:cNvSpPr/>
          <p:nvPr/>
        </p:nvSpPr>
        <p:spPr>
          <a:xfrm rot="5400000">
            <a:off x="7675396" y="4849516"/>
            <a:ext cx="1943694" cy="587967"/>
          </a:xfrm>
          <a:custGeom>
            <a:avLst/>
            <a:gdLst/>
            <a:ahLst/>
            <a:cxnLst/>
            <a:rect l="l" t="t" r="r" b="b"/>
            <a:pathLst>
              <a:path w="1943694" h="587967">
                <a:moveTo>
                  <a:pt x="0" y="0"/>
                </a:moveTo>
                <a:lnTo>
                  <a:pt x="1943694" y="0"/>
                </a:lnTo>
                <a:lnTo>
                  <a:pt x="1943694" y="587968"/>
                </a:lnTo>
                <a:lnTo>
                  <a:pt x="0" y="58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628607" y="6877347"/>
            <a:ext cx="12458993" cy="21046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talking Analytical Skills</a:t>
            </a:r>
          </a:p>
          <a:p>
            <a:pPr algn="ctr">
              <a:lnSpc>
                <a:spcPts val="3300"/>
              </a:lnSpc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Attention to detail</a:t>
            </a:r>
          </a:p>
          <a:p>
            <a:pPr algn="ctr">
              <a:lnSpc>
                <a:spcPts val="3300"/>
              </a:lnSpc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Ability to be proactive problem-solving person</a:t>
            </a:r>
          </a:p>
          <a:p>
            <a:pPr algn="ctr">
              <a:lnSpc>
                <a:spcPts val="3300"/>
              </a:lnSpc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Technical competence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Communication skills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915017" y="9914017"/>
            <a:ext cx="745965" cy="607962"/>
          </a:xfrm>
          <a:custGeom>
            <a:avLst/>
            <a:gdLst/>
            <a:ahLst/>
            <a:cxnLst/>
            <a:rect l="l" t="t" r="r" b="b"/>
            <a:pathLst>
              <a:path w="745965" h="607962">
                <a:moveTo>
                  <a:pt x="0" y="0"/>
                </a:moveTo>
                <a:lnTo>
                  <a:pt x="745966" y="0"/>
                </a:lnTo>
                <a:lnTo>
                  <a:pt x="745966" y="607962"/>
                </a:lnTo>
                <a:lnTo>
                  <a:pt x="0" y="607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5400000">
            <a:off x="6326825" y="2897592"/>
            <a:ext cx="934083" cy="875703"/>
          </a:xfrm>
          <a:custGeom>
            <a:avLst/>
            <a:gdLst/>
            <a:ahLst/>
            <a:cxnLst/>
            <a:rect l="l" t="t" r="r" b="b"/>
            <a:pathLst>
              <a:path w="934083" h="875703">
                <a:moveTo>
                  <a:pt x="0" y="0"/>
                </a:moveTo>
                <a:lnTo>
                  <a:pt x="934083" y="0"/>
                </a:lnTo>
                <a:lnTo>
                  <a:pt x="934083" y="875703"/>
                </a:lnTo>
                <a:lnTo>
                  <a:pt x="0" y="8757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5400000">
            <a:off x="6326825" y="4817347"/>
            <a:ext cx="934083" cy="875703"/>
          </a:xfrm>
          <a:custGeom>
            <a:avLst/>
            <a:gdLst/>
            <a:ahLst/>
            <a:cxnLst/>
            <a:rect l="l" t="t" r="r" b="b"/>
            <a:pathLst>
              <a:path w="934083" h="875703">
                <a:moveTo>
                  <a:pt x="0" y="0"/>
                </a:moveTo>
                <a:lnTo>
                  <a:pt x="934083" y="0"/>
                </a:lnTo>
                <a:lnTo>
                  <a:pt x="934083" y="875703"/>
                </a:lnTo>
                <a:lnTo>
                  <a:pt x="0" y="8757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798317" y="4259200"/>
            <a:ext cx="3203110" cy="1571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1" spc="22">
                <a:solidFill>
                  <a:srgbClr val="95C740"/>
                </a:solidFill>
                <a:latin typeface="Inter Bold"/>
                <a:ea typeface="Inter Bold"/>
                <a:cs typeface="Inter Bold"/>
                <a:sym typeface="Inter Bold"/>
              </a:rPr>
              <a:t>P</a:t>
            </a:r>
            <a:r>
              <a:rPr lang="en-US" sz="4500" b="1" spc="22">
                <a:solidFill>
                  <a:srgbClr val="CB6CE6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sz="4500" b="1" spc="22">
                <a:solidFill>
                  <a:srgbClr val="C6A237"/>
                </a:solidFill>
                <a:latin typeface="Inter Bold"/>
                <a:ea typeface="Inter Bold"/>
                <a:cs typeface="Inter Bold"/>
                <a:sym typeface="Inter Bold"/>
              </a:rPr>
              <a:t>R/ </a:t>
            </a:r>
            <a:r>
              <a:rPr lang="en-US" sz="4500" b="1" spc="22">
                <a:solidFill>
                  <a:srgbClr val="FF5757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sz="4500" b="1" spc="22">
                <a:solidFill>
                  <a:srgbClr val="95C740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  <a:r>
              <a:rPr lang="en-US" sz="4500" b="1" spc="22">
                <a:solidFill>
                  <a:srgbClr val="CB6CE6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sz="4500" b="1" spc="22">
                <a:solidFill>
                  <a:srgbClr val="C6A237"/>
                </a:solidFill>
                <a:latin typeface="Inter Bold"/>
                <a:ea typeface="Inter Bold"/>
                <a:cs typeface="Inter Bold"/>
                <a:sym typeface="Inter Bold"/>
              </a:rPr>
              <a:t>R</a:t>
            </a:r>
            <a:r>
              <a:rPr lang="en-US" sz="4500" b="1" spc="2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4500" b="1" spc="22">
                <a:solidFill>
                  <a:srgbClr val="FCFCFC"/>
                </a:solidFill>
                <a:latin typeface="Inter Bold"/>
                <a:ea typeface="Inter Bold"/>
                <a:cs typeface="Inter Bold"/>
                <a:sym typeface="Inter Bold"/>
              </a:rPr>
              <a:t>FORMAT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742011" y="881005"/>
            <a:ext cx="7116559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STRUCTURING ANSWERS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040709" y="3098873"/>
            <a:ext cx="5762956" cy="501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50"/>
              </a:lnSpc>
              <a:spcBef>
                <a:spcPct val="0"/>
              </a:spcBef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Rely on the STAR Method.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40709" y="5018628"/>
            <a:ext cx="6196046" cy="501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0"/>
              </a:lnSpc>
              <a:spcBef>
                <a:spcPct val="0"/>
              </a:spcBef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Choose a Relevant Example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40709" y="6939569"/>
            <a:ext cx="7895002" cy="501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0"/>
              </a:lnSpc>
              <a:spcBef>
                <a:spcPct val="0"/>
              </a:spcBef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Highlight Your Skills</a:t>
            </a:r>
          </a:p>
        </p:txBody>
      </p:sp>
      <p:sp>
        <p:nvSpPr>
          <p:cNvPr id="10" name="Freeform 10"/>
          <p:cNvSpPr/>
          <p:nvPr/>
        </p:nvSpPr>
        <p:spPr>
          <a:xfrm rot="5400000">
            <a:off x="6326825" y="6871306"/>
            <a:ext cx="934083" cy="875703"/>
          </a:xfrm>
          <a:custGeom>
            <a:avLst/>
            <a:gdLst/>
            <a:ahLst/>
            <a:cxnLst/>
            <a:rect l="l" t="t" r="r" b="b"/>
            <a:pathLst>
              <a:path w="934083" h="875703">
                <a:moveTo>
                  <a:pt x="0" y="0"/>
                </a:moveTo>
                <a:lnTo>
                  <a:pt x="934083" y="0"/>
                </a:lnTo>
                <a:lnTo>
                  <a:pt x="934083" y="875703"/>
                </a:lnTo>
                <a:lnTo>
                  <a:pt x="0" y="8757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99010" y="506074"/>
            <a:ext cx="5232025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SAMPLE ANSWER</a:t>
            </a:r>
          </a:p>
        </p:txBody>
      </p:sp>
      <p:sp>
        <p:nvSpPr>
          <p:cNvPr id="3" name="Freeform 3"/>
          <p:cNvSpPr/>
          <p:nvPr/>
        </p:nvSpPr>
        <p:spPr>
          <a:xfrm>
            <a:off x="641992" y="22446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202717" y="2324100"/>
            <a:ext cx="16056582" cy="6178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 b="1" dirty="0">
                <a:solidFill>
                  <a:srgbClr val="15E8C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Situation</a:t>
            </a:r>
          </a:p>
          <a:p>
            <a:pPr algn="just">
              <a:lnSpc>
                <a:spcPts val="4900"/>
              </a:lnSpc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 remember that my team was experiencing an unexpected increase in customer complaints about slow checkout processes when I was a backend developer at XYZ. While many supposed it was due to high traffic, I thought there might be deeper issues at play.</a:t>
            </a:r>
          </a:p>
          <a:p>
            <a:pPr algn="just">
              <a:lnSpc>
                <a:spcPts val="4900"/>
              </a:lnSpc>
            </a:pPr>
            <a:endParaRPr lang="en-US" sz="35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4900"/>
              </a:lnSpc>
            </a:pPr>
            <a:r>
              <a:rPr lang="en-US" sz="3500" b="1" dirty="0">
                <a:solidFill>
                  <a:srgbClr val="95C7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Task</a:t>
            </a:r>
          </a:p>
          <a:p>
            <a:pPr algn="just">
              <a:lnSpc>
                <a:spcPts val="4900"/>
              </a:lnSpc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 started to investigate the root cause of the performance issues and provide a solution because It was essential to ensure a seamless user experience, especially during peak shopping times.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99010" y="506074"/>
            <a:ext cx="5232025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SAMPLE ANSWER</a:t>
            </a:r>
          </a:p>
        </p:txBody>
      </p:sp>
      <p:sp>
        <p:nvSpPr>
          <p:cNvPr id="3" name="Freeform 3"/>
          <p:cNvSpPr/>
          <p:nvPr/>
        </p:nvSpPr>
        <p:spPr>
          <a:xfrm>
            <a:off x="641992" y="22446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660784"/>
            <a:ext cx="16230600" cy="7829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1">
                <a:solidFill>
                  <a:srgbClr val="C6A2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 &amp; Result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 began by analyzing</a:t>
            </a: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the server logs and performance metrics related to the checkout process. </a:t>
            </a:r>
            <a:r>
              <a:rPr lang="en-US" sz="2999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My analytical skills and attention to detail helped me identify that</a:t>
            </a: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specific database queries were taking significantly longer than expected. </a:t>
            </a:r>
            <a:r>
              <a:rPr lang="en-US" sz="2999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 noticed that t</a:t>
            </a: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he queries related to user session data and product availability were not optimized.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After knowing this as a potential bottleneck,</a:t>
            </a: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999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  proposed </a:t>
            </a: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rewriting those queries and implementing indexing for the relevant database tables. </a:t>
            </a:r>
            <a:r>
              <a:rPr lang="en-US" sz="2999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 communicated</a:t>
            </a: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my findings and recommendations to the team to ensure that everyone understood the implications of the slow queries. </a:t>
            </a:r>
            <a:r>
              <a:rPr lang="en-US" sz="2999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Also,</a:t>
            </a: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 set up a test to measure the performance before and after the changes to see the impact of the optimizations firsthand.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After implementing the changes</a:t>
            </a: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we reduced the checkout response time by over 60%. This decreased customer complaints and increased conversion rates during peak sales periods. </a:t>
            </a:r>
            <a:r>
              <a:rPr lang="en-US" sz="2999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So </a:t>
            </a: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digging deeper into data and processing and effective communication within the team drive meaningful improvements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79675" y="749584"/>
            <a:ext cx="11088801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SENTENCE STRUCTURE TEMPLATES</a:t>
            </a:r>
          </a:p>
        </p:txBody>
      </p:sp>
      <p:sp>
        <p:nvSpPr>
          <p:cNvPr id="3" name="Freeform 3"/>
          <p:cNvSpPr/>
          <p:nvPr/>
        </p:nvSpPr>
        <p:spPr>
          <a:xfrm>
            <a:off x="467974" y="46797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2139975"/>
            <a:ext cx="16525055" cy="6916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15E8C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Situation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While working on a</a:t>
            </a:r>
            <a:r>
              <a:rPr lang="en-US" sz="30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 [project] 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as a </a:t>
            </a:r>
            <a:r>
              <a:rPr lang="en-US" sz="30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[your position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], I noticed that our project timeline was </a:t>
            </a:r>
            <a:r>
              <a:rPr lang="en-US" sz="30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[general problems]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While reviewing our energy consumption data, I noticed that ...........................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 my previous role as a </a:t>
            </a:r>
            <a:r>
              <a:rPr lang="en-US" sz="30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[position]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we encountered an increase in ...................................... While the team initially attributed ........................., I decided to dig deeper into the data</a:t>
            </a:r>
          </a:p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CB6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Task &amp; Action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 analyzed ......................................, and I noticed that </a:t>
            </a:r>
            <a:r>
              <a:rPr lang="en-US" sz="30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[specific problems]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 investigated further and discovered that ...................................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 presented my findings to the team and recommended .........................................</a:t>
            </a:r>
          </a:p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C6A2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After discussing my findings with the team, we .................................................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This experience highlights the value of ..............................................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53853" y="542256"/>
            <a:ext cx="14939893" cy="1660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99"/>
              </a:lnSpc>
            </a:pPr>
            <a:r>
              <a:rPr lang="en-US" sz="3999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Variations of “Can you give an example of how you identified a problem that others had missed by digging deeper into the data or processes?”</a:t>
            </a:r>
          </a:p>
        </p:txBody>
      </p:sp>
      <p:sp>
        <p:nvSpPr>
          <p:cNvPr id="3" name="Freeform 3"/>
          <p:cNvSpPr/>
          <p:nvPr/>
        </p:nvSpPr>
        <p:spPr>
          <a:xfrm>
            <a:off x="614469" y="639342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1"/>
                </a:lnTo>
                <a:lnTo>
                  <a:pt x="0" y="11214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773025" y="2352940"/>
            <a:ext cx="15701550" cy="6905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6900"/>
              </a:lnSpc>
              <a:buFont typeface="Arial"/>
              <a:buChar char="•"/>
            </a:pPr>
            <a:r>
              <a:rPr lang="en-US" sz="300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•Describe a time when you uncovered an issue that others overlooked. What steps did you take to identify it?</a:t>
            </a:r>
          </a:p>
          <a:p>
            <a:pPr marL="647700" lvl="1" indent="-323850" algn="l">
              <a:lnSpc>
                <a:spcPts val="6900"/>
              </a:lnSpc>
              <a:buFont typeface="Arial"/>
              <a:buChar char="•"/>
            </a:pPr>
            <a:r>
              <a:rPr lang="en-US" sz="300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•Can you share an experience where your attention to detail led to the identification of a problem?</a:t>
            </a:r>
          </a:p>
          <a:p>
            <a:pPr marL="647700" lvl="1" indent="-323850" algn="l">
              <a:lnSpc>
                <a:spcPts val="6900"/>
              </a:lnSpc>
              <a:buFont typeface="Arial"/>
              <a:buChar char="•"/>
            </a:pPr>
            <a:r>
              <a:rPr lang="en-US" sz="300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•Tell me about a situation where you had to analyze data to find a root cause of a problem. What was the outcome?</a:t>
            </a:r>
          </a:p>
          <a:p>
            <a:pPr marL="647700" lvl="1" indent="-323850" algn="l">
              <a:lnSpc>
                <a:spcPts val="6900"/>
              </a:lnSpc>
              <a:buFont typeface="Arial"/>
              <a:buChar char="•"/>
            </a:pPr>
            <a:r>
              <a:rPr lang="en-US" sz="300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•Have you ever identified a process inefficiency that your team was unaware of? How did you address it?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88994" y="7365830"/>
            <a:ext cx="5556275" cy="14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BRAINSTORMING</a:t>
            </a:r>
          </a:p>
          <a:p>
            <a:pPr algn="ctr">
              <a:lnSpc>
                <a:spcPts val="5500"/>
              </a:lnSpc>
            </a:pPr>
            <a:r>
              <a:rPr lang="en-US" sz="50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Writing Time</a:t>
            </a:r>
          </a:p>
        </p:txBody>
      </p:sp>
      <p:sp>
        <p:nvSpPr>
          <p:cNvPr id="3" name="Freeform 3"/>
          <p:cNvSpPr/>
          <p:nvPr/>
        </p:nvSpPr>
        <p:spPr>
          <a:xfrm>
            <a:off x="6643279" y="2370922"/>
            <a:ext cx="4417378" cy="4411856"/>
          </a:xfrm>
          <a:custGeom>
            <a:avLst/>
            <a:gdLst/>
            <a:ahLst/>
            <a:cxnLst/>
            <a:rect l="l" t="t" r="r" b="b"/>
            <a:pathLst>
              <a:path w="4417378" h="4411856">
                <a:moveTo>
                  <a:pt x="0" y="0"/>
                </a:moveTo>
                <a:lnTo>
                  <a:pt x="4417379" y="0"/>
                </a:lnTo>
                <a:lnTo>
                  <a:pt x="4417379" y="4411856"/>
                </a:lnTo>
                <a:lnTo>
                  <a:pt x="0" y="4411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83478" y="2470108"/>
            <a:ext cx="4156364" cy="4114800"/>
          </a:xfrm>
          <a:custGeom>
            <a:avLst/>
            <a:gdLst/>
            <a:ahLst/>
            <a:cxnLst/>
            <a:rect l="l" t="t" r="r" b="b"/>
            <a:pathLst>
              <a:path w="4156364" h="4114800">
                <a:moveTo>
                  <a:pt x="0" y="0"/>
                </a:moveTo>
                <a:lnTo>
                  <a:pt x="4156364" y="0"/>
                </a:lnTo>
                <a:lnTo>
                  <a:pt x="41563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188994" y="7365830"/>
            <a:ext cx="5556275" cy="14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KEY POINTS TO TAKEAWAY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43458" y="3368188"/>
            <a:ext cx="9401084" cy="423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00"/>
              </a:lnSpc>
            </a:pPr>
            <a:r>
              <a:rPr lang="en-US" sz="150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1399</Words>
  <Application>Microsoft Office PowerPoint</Application>
  <PresentationFormat>Custom</PresentationFormat>
  <Paragraphs>111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Montserrat Classic Bold</vt:lpstr>
      <vt:lpstr>Open Sans Bold</vt:lpstr>
      <vt:lpstr>Calibri</vt:lpstr>
      <vt:lpstr>Arial</vt:lpstr>
      <vt:lpstr>Montserrat</vt:lpstr>
      <vt:lpstr>Inter Bold</vt:lpstr>
      <vt:lpstr>Poppins Bold</vt:lpstr>
      <vt:lpstr>Montserrat Bold</vt:lpstr>
      <vt:lpstr>Montserrat Classic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BEHAVIORAL INTERVIEW - LESSON 9</dc:title>
  <cp:lastModifiedBy>Truyen Le</cp:lastModifiedBy>
  <cp:revision>3</cp:revision>
  <dcterms:created xsi:type="dcterms:W3CDTF">2006-08-16T00:00:00Z</dcterms:created>
  <dcterms:modified xsi:type="dcterms:W3CDTF">2025-10-18T02:51:52Z</dcterms:modified>
  <dc:identifier>DAGZeZPuGFE</dc:identifier>
</cp:coreProperties>
</file>