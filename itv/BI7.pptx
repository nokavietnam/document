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80"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8288000" cy="10287000"/>
  <p:notesSz cx="6858000" cy="9144000"/>
  <p:embeddedFontLst>
    <p:embeddedFont>
      <p:font typeface="Inter" panose="020B0604020202020204" charset="0"/>
      <p:regular r:id="rId27"/>
    </p:embeddedFont>
    <p:embeddedFont>
      <p:font typeface="Inter Bold" panose="020B0604020202020204" charset="0"/>
      <p:regular r:id="rId28"/>
    </p:embeddedFont>
    <p:embeddedFont>
      <p:font typeface="Montserrat" panose="00000500000000000000" pitchFamily="2" charset="0"/>
      <p:regular r:id="rId29"/>
    </p:embeddedFont>
    <p:embeddedFont>
      <p:font typeface="Montserrat Bold" panose="00000800000000000000" charset="0"/>
      <p:regular r:id="rId30"/>
    </p:embeddedFont>
    <p:embeddedFont>
      <p:font typeface="Montserrat Classic" panose="020B0604020202020204" charset="0"/>
      <p:regular r:id="rId31"/>
    </p:embeddedFont>
    <p:embeddedFont>
      <p:font typeface="Montserrat Classic Bold" panose="020B0604020202020204" charset="0"/>
      <p:regular r:id="rId32"/>
    </p:embeddedFont>
    <p:embeddedFont>
      <p:font typeface="Montserrat Semi-Bold" panose="020B0604020202020204" charset="0"/>
      <p:regular r:id="rId33"/>
    </p:embeddedFont>
    <p:embeddedFont>
      <p:font typeface="Open Sans Bold" panose="020B0604020202020204" charset="0"/>
      <p:regular r:id="rId34"/>
    </p:embeddedFont>
    <p:embeddedFont>
      <p:font typeface="Poppins Bold" panose="020B0604020202020204" charset="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105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 Id="rId9" Type="http://schemas.openxmlformats.org/officeDocument/2006/relationships/image" Target="../media/image30.svg"/></Relationships>
</file>

<file path=ppt/slides/_rels/slide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svg"/><Relationship Id="rId18" Type="http://schemas.openxmlformats.org/officeDocument/2006/relationships/image" Target="../media/image47.png"/><Relationship Id="rId3" Type="http://schemas.openxmlformats.org/officeDocument/2006/relationships/image" Target="../media/image32.svg"/><Relationship Id="rId7" Type="http://schemas.openxmlformats.org/officeDocument/2006/relationships/image" Target="../media/image36.svg"/><Relationship Id="rId12" Type="http://schemas.openxmlformats.org/officeDocument/2006/relationships/image" Target="../media/image41.png"/><Relationship Id="rId17" Type="http://schemas.openxmlformats.org/officeDocument/2006/relationships/image" Target="../media/image46.svg"/><Relationship Id="rId2" Type="http://schemas.openxmlformats.org/officeDocument/2006/relationships/image" Target="../media/image31.png"/><Relationship Id="rId16"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35.png"/><Relationship Id="rId11" Type="http://schemas.openxmlformats.org/officeDocument/2006/relationships/image" Target="../media/image40.svg"/><Relationship Id="rId5" Type="http://schemas.openxmlformats.org/officeDocument/2006/relationships/image" Target="../media/image34.svg"/><Relationship Id="rId15" Type="http://schemas.openxmlformats.org/officeDocument/2006/relationships/image" Target="../media/image44.svg"/><Relationship Id="rId10" Type="http://schemas.openxmlformats.org/officeDocument/2006/relationships/image" Target="../media/image39.png"/><Relationship Id="rId19" Type="http://schemas.openxmlformats.org/officeDocument/2006/relationships/image" Target="../media/image48.svg"/><Relationship Id="rId4" Type="http://schemas.openxmlformats.org/officeDocument/2006/relationships/image" Target="../media/image33.png"/><Relationship Id="rId9" Type="http://schemas.openxmlformats.org/officeDocument/2006/relationships/image" Target="../media/image38.svg"/><Relationship Id="rId1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Freeform 2"/>
          <p:cNvSpPr/>
          <p:nvPr/>
        </p:nvSpPr>
        <p:spPr>
          <a:xfrm flipH="1">
            <a:off x="6301242" y="8616642"/>
            <a:ext cx="438008" cy="312180"/>
          </a:xfrm>
          <a:custGeom>
            <a:avLst/>
            <a:gdLst/>
            <a:ahLst/>
            <a:cxnLst/>
            <a:rect l="l" t="t" r="r" b="b"/>
            <a:pathLst>
              <a:path w="438008" h="312180">
                <a:moveTo>
                  <a:pt x="438008" y="0"/>
                </a:moveTo>
                <a:lnTo>
                  <a:pt x="0" y="0"/>
                </a:lnTo>
                <a:lnTo>
                  <a:pt x="0" y="312180"/>
                </a:lnTo>
                <a:lnTo>
                  <a:pt x="438008" y="312180"/>
                </a:lnTo>
                <a:lnTo>
                  <a:pt x="438008"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5025280" y="9100272"/>
            <a:ext cx="7991171" cy="900823"/>
            <a:chOff x="0" y="0"/>
            <a:chExt cx="10654894" cy="1201097"/>
          </a:xfrm>
        </p:grpSpPr>
        <p:sp>
          <p:nvSpPr>
            <p:cNvPr id="4" name="Freeform 4"/>
            <p:cNvSpPr/>
            <p:nvPr/>
          </p:nvSpPr>
          <p:spPr>
            <a:xfrm>
              <a:off x="0" y="0"/>
              <a:ext cx="10654894" cy="1201097"/>
            </a:xfrm>
            <a:custGeom>
              <a:avLst/>
              <a:gdLst/>
              <a:ahLst/>
              <a:cxnLst/>
              <a:rect l="l" t="t" r="r" b="b"/>
              <a:pathLst>
                <a:path w="10654894" h="1201097">
                  <a:moveTo>
                    <a:pt x="0" y="0"/>
                  </a:moveTo>
                  <a:lnTo>
                    <a:pt x="10654894" y="0"/>
                  </a:lnTo>
                  <a:lnTo>
                    <a:pt x="10654894" y="1201097"/>
                  </a:lnTo>
                  <a:lnTo>
                    <a:pt x="0" y="12010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9367739" y="336203"/>
              <a:ext cx="741786" cy="528691"/>
            </a:xfrm>
            <a:custGeom>
              <a:avLst/>
              <a:gdLst/>
              <a:ahLst/>
              <a:cxnLst/>
              <a:rect l="l" t="t" r="r" b="b"/>
              <a:pathLst>
                <a:path w="741786" h="528691">
                  <a:moveTo>
                    <a:pt x="0" y="0"/>
                  </a:moveTo>
                  <a:lnTo>
                    <a:pt x="741785" y="0"/>
                  </a:lnTo>
                  <a:lnTo>
                    <a:pt x="741785" y="528691"/>
                  </a:lnTo>
                  <a:lnTo>
                    <a:pt x="0" y="5286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2639854" y="325476"/>
              <a:ext cx="5375186" cy="502520"/>
            </a:xfrm>
            <a:prstGeom prst="rect">
              <a:avLst/>
            </a:prstGeom>
          </p:spPr>
          <p:txBody>
            <a:bodyPr lIns="0" tIns="0" rIns="0" bIns="0" rtlCol="0" anchor="t">
              <a:spAutoFit/>
            </a:bodyPr>
            <a:lstStyle/>
            <a:p>
              <a:pPr algn="ctr">
                <a:lnSpc>
                  <a:spcPts val="3200"/>
                </a:lnSpc>
              </a:pPr>
              <a:r>
                <a:rPr lang="en-US" sz="2286" b="1">
                  <a:solidFill>
                    <a:srgbClr val="FFFFFF"/>
                  </a:solidFill>
                  <a:latin typeface="Open Sans Bold"/>
                  <a:ea typeface="Open Sans Bold"/>
                  <a:cs typeface="Open Sans Bold"/>
                  <a:sym typeface="Open Sans Bold"/>
                </a:rPr>
                <a:t>Get Started</a:t>
              </a:r>
            </a:p>
          </p:txBody>
        </p:sp>
      </p:grpSp>
      <p:sp>
        <p:nvSpPr>
          <p:cNvPr id="7" name="TextBox 7"/>
          <p:cNvSpPr txBox="1"/>
          <p:nvPr/>
        </p:nvSpPr>
        <p:spPr>
          <a:xfrm>
            <a:off x="5914662" y="2731911"/>
            <a:ext cx="5787253" cy="1149317"/>
          </a:xfrm>
          <a:prstGeom prst="rect">
            <a:avLst/>
          </a:prstGeom>
        </p:spPr>
        <p:txBody>
          <a:bodyPr lIns="0" tIns="0" rIns="0" bIns="0" rtlCol="0" anchor="t">
            <a:spAutoFit/>
          </a:bodyPr>
          <a:lstStyle/>
          <a:p>
            <a:pPr algn="r">
              <a:lnSpc>
                <a:spcPts val="8800"/>
              </a:lnSpc>
            </a:pPr>
            <a:r>
              <a:rPr lang="en-US" sz="8000" b="1">
                <a:solidFill>
                  <a:srgbClr val="FFFFFF"/>
                </a:solidFill>
                <a:latin typeface="Montserrat Classic Bold"/>
                <a:ea typeface="Montserrat Classic Bold"/>
                <a:cs typeface="Montserrat Classic Bold"/>
                <a:sym typeface="Montserrat Classic Bold"/>
              </a:rPr>
              <a:t>LESSON 7</a:t>
            </a:r>
          </a:p>
        </p:txBody>
      </p:sp>
      <p:grpSp>
        <p:nvGrpSpPr>
          <p:cNvPr id="8" name="Group 8"/>
          <p:cNvGrpSpPr/>
          <p:nvPr/>
        </p:nvGrpSpPr>
        <p:grpSpPr>
          <a:xfrm>
            <a:off x="2110641" y="4224412"/>
            <a:ext cx="14717778" cy="2927985"/>
            <a:chOff x="0" y="0"/>
            <a:chExt cx="19623704" cy="3903980"/>
          </a:xfrm>
        </p:grpSpPr>
        <p:sp>
          <p:nvSpPr>
            <p:cNvPr id="9" name="TextBox 9"/>
            <p:cNvSpPr txBox="1"/>
            <p:nvPr/>
          </p:nvSpPr>
          <p:spPr>
            <a:xfrm>
              <a:off x="0" y="66675"/>
              <a:ext cx="19623704" cy="3040504"/>
            </a:xfrm>
            <a:prstGeom prst="rect">
              <a:avLst/>
            </a:prstGeom>
          </p:spPr>
          <p:txBody>
            <a:bodyPr lIns="0" tIns="0" rIns="0" bIns="0" rtlCol="0" anchor="t">
              <a:spAutoFit/>
            </a:bodyPr>
            <a:lstStyle/>
            <a:p>
              <a:pPr algn="ctr">
                <a:lnSpc>
                  <a:spcPts val="8800"/>
                </a:lnSpc>
              </a:pPr>
              <a:r>
                <a:rPr lang="en-US" sz="8000" b="1">
                  <a:solidFill>
                    <a:srgbClr val="00B9EF"/>
                  </a:solidFill>
                  <a:latin typeface="Montserrat Classic Bold"/>
                  <a:ea typeface="Montserrat Classic Bold"/>
                  <a:cs typeface="Montserrat Classic Bold"/>
                  <a:sym typeface="Montserrat Classic Bold"/>
                </a:rPr>
                <a:t>LEADERSHIP PRINCIPLE</a:t>
              </a:r>
            </a:p>
            <a:p>
              <a:pPr algn="ctr">
                <a:lnSpc>
                  <a:spcPts val="8800"/>
                </a:lnSpc>
              </a:pPr>
              <a:r>
                <a:rPr lang="en-US" sz="8000" b="1">
                  <a:solidFill>
                    <a:srgbClr val="00B9EF"/>
                  </a:solidFill>
                  <a:latin typeface="Montserrat Classic Bold"/>
                  <a:ea typeface="Montserrat Classic Bold"/>
                  <a:cs typeface="Montserrat Classic Bold"/>
                  <a:sym typeface="Montserrat Classic Bold"/>
                </a:rPr>
                <a:t>BIAS FOR ACTION</a:t>
              </a:r>
            </a:p>
          </p:txBody>
        </p:sp>
        <p:sp>
          <p:nvSpPr>
            <p:cNvPr id="10" name="TextBox 10"/>
            <p:cNvSpPr txBox="1"/>
            <p:nvPr/>
          </p:nvSpPr>
          <p:spPr>
            <a:xfrm>
              <a:off x="1623003" y="3364354"/>
              <a:ext cx="15997452" cy="539626"/>
            </a:xfrm>
            <a:prstGeom prst="rect">
              <a:avLst/>
            </a:prstGeom>
          </p:spPr>
          <p:txBody>
            <a:bodyPr lIns="0" tIns="0" rIns="0" bIns="0" rtlCol="0" anchor="t">
              <a:spAutoFit/>
            </a:bodyPr>
            <a:lstStyle/>
            <a:p>
              <a:pPr algn="ctr">
                <a:lnSpc>
                  <a:spcPts val="3079"/>
                </a:lnSpc>
              </a:pPr>
              <a:r>
                <a:rPr lang="en-US" sz="2799" b="1" spc="977">
                  <a:solidFill>
                    <a:srgbClr val="FFFFFF"/>
                  </a:solidFill>
                  <a:latin typeface="Montserrat Classic Bold"/>
                  <a:ea typeface="Montserrat Classic Bold"/>
                  <a:cs typeface="Montserrat Classic Bold"/>
                  <a:sym typeface="Montserrat Classic Bold"/>
                </a:rPr>
                <a:t>BEHAVIORAL INTERVIEW COURSE</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grpSp>
        <p:nvGrpSpPr>
          <p:cNvPr id="2" name="Group 2"/>
          <p:cNvGrpSpPr/>
          <p:nvPr/>
        </p:nvGrpSpPr>
        <p:grpSpPr>
          <a:xfrm>
            <a:off x="299262" y="4539810"/>
            <a:ext cx="2697079" cy="2697079"/>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A0FF0"/>
            </a:solidFill>
          </p:spPr>
          <p:txBody>
            <a:bodyPr/>
            <a:lstStyle/>
            <a:p>
              <a:endParaRPr lang="en-US"/>
            </a:p>
          </p:txBody>
        </p:sp>
      </p:grpSp>
      <p:sp>
        <p:nvSpPr>
          <p:cNvPr id="4" name="Freeform 4"/>
          <p:cNvSpPr/>
          <p:nvPr/>
        </p:nvSpPr>
        <p:spPr>
          <a:xfrm>
            <a:off x="741202" y="5055410"/>
            <a:ext cx="1813201" cy="1665878"/>
          </a:xfrm>
          <a:custGeom>
            <a:avLst/>
            <a:gdLst/>
            <a:ahLst/>
            <a:cxnLst/>
            <a:rect l="l" t="t" r="r" b="b"/>
            <a:pathLst>
              <a:path w="1813201" h="1665878">
                <a:moveTo>
                  <a:pt x="0" y="0"/>
                </a:moveTo>
                <a:lnTo>
                  <a:pt x="1813200" y="0"/>
                </a:lnTo>
                <a:lnTo>
                  <a:pt x="1813200" y="1665879"/>
                </a:lnTo>
                <a:lnTo>
                  <a:pt x="0" y="16658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213107">
            <a:off x="2868045" y="3321923"/>
            <a:ext cx="3270377" cy="715395"/>
          </a:xfrm>
          <a:custGeom>
            <a:avLst/>
            <a:gdLst/>
            <a:ahLst/>
            <a:cxnLst/>
            <a:rect l="l" t="t" r="r" b="b"/>
            <a:pathLst>
              <a:path w="3270377" h="715395">
                <a:moveTo>
                  <a:pt x="0" y="0"/>
                </a:moveTo>
                <a:lnTo>
                  <a:pt x="3270377" y="0"/>
                </a:lnTo>
                <a:lnTo>
                  <a:pt x="3270377" y="715395"/>
                </a:lnTo>
                <a:lnTo>
                  <a:pt x="0" y="7153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rot="-820815">
            <a:off x="3472217" y="5128136"/>
            <a:ext cx="3270377" cy="715395"/>
          </a:xfrm>
          <a:custGeom>
            <a:avLst/>
            <a:gdLst/>
            <a:ahLst/>
            <a:cxnLst/>
            <a:rect l="l" t="t" r="r" b="b"/>
            <a:pathLst>
              <a:path w="3270377" h="715395">
                <a:moveTo>
                  <a:pt x="0" y="0"/>
                </a:moveTo>
                <a:lnTo>
                  <a:pt x="3270377" y="0"/>
                </a:lnTo>
                <a:lnTo>
                  <a:pt x="3270377" y="715395"/>
                </a:lnTo>
                <a:lnTo>
                  <a:pt x="0" y="7153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1569951">
            <a:off x="2986504" y="7858490"/>
            <a:ext cx="3270377" cy="715395"/>
          </a:xfrm>
          <a:custGeom>
            <a:avLst/>
            <a:gdLst/>
            <a:ahLst/>
            <a:cxnLst/>
            <a:rect l="l" t="t" r="r" b="b"/>
            <a:pathLst>
              <a:path w="3270377" h="715395">
                <a:moveTo>
                  <a:pt x="0" y="0"/>
                </a:moveTo>
                <a:lnTo>
                  <a:pt x="3270377" y="0"/>
                </a:lnTo>
                <a:lnTo>
                  <a:pt x="3270377" y="715395"/>
                </a:lnTo>
                <a:lnTo>
                  <a:pt x="0" y="7153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8"/>
          <p:cNvSpPr txBox="1"/>
          <p:nvPr/>
        </p:nvSpPr>
        <p:spPr>
          <a:xfrm>
            <a:off x="7660409" y="2797892"/>
            <a:ext cx="9365211" cy="432435"/>
          </a:xfrm>
          <a:prstGeom prst="rect">
            <a:avLst/>
          </a:prstGeom>
        </p:spPr>
        <p:txBody>
          <a:bodyPr lIns="0" tIns="0" rIns="0" bIns="0" rtlCol="0" anchor="t">
            <a:spAutoFit/>
          </a:bodyPr>
          <a:lstStyle/>
          <a:p>
            <a:pPr algn="l">
              <a:lnSpc>
                <a:spcPts val="3419"/>
              </a:lnSpc>
            </a:pPr>
            <a:r>
              <a:rPr lang="en-US" sz="3000">
                <a:solidFill>
                  <a:srgbClr val="FFFFFF"/>
                </a:solidFill>
                <a:latin typeface="Montserrat"/>
                <a:ea typeface="Montserrat"/>
                <a:cs typeface="Montserrat"/>
                <a:sym typeface="Montserrat"/>
              </a:rPr>
              <a:t>Revise question 1 &amp; 2 - Learn and Be Curioius LP</a:t>
            </a:r>
          </a:p>
        </p:txBody>
      </p:sp>
      <p:sp>
        <p:nvSpPr>
          <p:cNvPr id="9" name="TextBox 9"/>
          <p:cNvSpPr txBox="1"/>
          <p:nvPr/>
        </p:nvSpPr>
        <p:spPr>
          <a:xfrm>
            <a:off x="7660409" y="4750446"/>
            <a:ext cx="9598891" cy="432435"/>
          </a:xfrm>
          <a:prstGeom prst="rect">
            <a:avLst/>
          </a:prstGeom>
        </p:spPr>
        <p:txBody>
          <a:bodyPr lIns="0" tIns="0" rIns="0" bIns="0" rtlCol="0" anchor="t">
            <a:spAutoFit/>
          </a:bodyPr>
          <a:lstStyle/>
          <a:p>
            <a:pPr algn="l">
              <a:lnSpc>
                <a:spcPts val="3419"/>
              </a:lnSpc>
            </a:pPr>
            <a:r>
              <a:rPr lang="en-US" sz="3000">
                <a:solidFill>
                  <a:srgbClr val="FFFFFF"/>
                </a:solidFill>
                <a:latin typeface="Montserrat"/>
                <a:ea typeface="Montserrat"/>
                <a:cs typeface="Montserrat"/>
                <a:sym typeface="Montserrat"/>
              </a:rPr>
              <a:t>How have you managed risk in a project?</a:t>
            </a:r>
          </a:p>
        </p:txBody>
      </p:sp>
      <p:sp>
        <p:nvSpPr>
          <p:cNvPr id="10" name="TextBox 10"/>
          <p:cNvSpPr txBox="1"/>
          <p:nvPr/>
        </p:nvSpPr>
        <p:spPr>
          <a:xfrm>
            <a:off x="7660409" y="6592049"/>
            <a:ext cx="9733380" cy="872034"/>
          </a:xfrm>
          <a:prstGeom prst="rect">
            <a:avLst/>
          </a:prstGeom>
        </p:spPr>
        <p:txBody>
          <a:bodyPr lIns="0" tIns="0" rIns="0" bIns="0" rtlCol="0" anchor="t">
            <a:spAutoFit/>
          </a:bodyPr>
          <a:lstStyle/>
          <a:p>
            <a:pPr algn="l">
              <a:lnSpc>
                <a:spcPts val="3419"/>
              </a:lnSpc>
            </a:pPr>
            <a:r>
              <a:rPr lang="en-US" sz="3000" dirty="0">
                <a:solidFill>
                  <a:srgbClr val="FFFFFF"/>
                </a:solidFill>
                <a:latin typeface="Montserrat"/>
                <a:ea typeface="Montserrat"/>
                <a:cs typeface="Montserrat"/>
                <a:sym typeface="Montserrat"/>
              </a:rPr>
              <a:t>Tell me about a tough decision you made quickly during a project</a:t>
            </a:r>
          </a:p>
        </p:txBody>
      </p:sp>
      <p:sp>
        <p:nvSpPr>
          <p:cNvPr id="11" name="TextBox 11"/>
          <p:cNvSpPr txBox="1"/>
          <p:nvPr/>
        </p:nvSpPr>
        <p:spPr>
          <a:xfrm>
            <a:off x="7660409" y="4339281"/>
            <a:ext cx="2437624" cy="392115"/>
          </a:xfrm>
          <a:prstGeom prst="rect">
            <a:avLst/>
          </a:prstGeom>
        </p:spPr>
        <p:txBody>
          <a:bodyPr lIns="0" tIns="0" rIns="0" bIns="0" rtlCol="0" anchor="t">
            <a:spAutoFit/>
          </a:bodyPr>
          <a:lstStyle/>
          <a:p>
            <a:pPr algn="l">
              <a:lnSpc>
                <a:spcPts val="3077"/>
              </a:lnSpc>
            </a:pPr>
            <a:r>
              <a:rPr lang="en-US" sz="2700">
                <a:solidFill>
                  <a:srgbClr val="FFFFFF"/>
                </a:solidFill>
                <a:latin typeface="Montserrat Classic"/>
                <a:ea typeface="Montserrat Classic"/>
                <a:cs typeface="Montserrat Classic"/>
                <a:sym typeface="Montserrat Classic"/>
              </a:rPr>
              <a:t>QUESTION 1</a:t>
            </a:r>
          </a:p>
        </p:txBody>
      </p:sp>
      <p:sp>
        <p:nvSpPr>
          <p:cNvPr id="12" name="TextBox 12"/>
          <p:cNvSpPr txBox="1"/>
          <p:nvPr/>
        </p:nvSpPr>
        <p:spPr>
          <a:xfrm>
            <a:off x="7660409" y="5965010"/>
            <a:ext cx="2437624" cy="392115"/>
          </a:xfrm>
          <a:prstGeom prst="rect">
            <a:avLst/>
          </a:prstGeom>
        </p:spPr>
        <p:txBody>
          <a:bodyPr lIns="0" tIns="0" rIns="0" bIns="0" rtlCol="0" anchor="t">
            <a:spAutoFit/>
          </a:bodyPr>
          <a:lstStyle/>
          <a:p>
            <a:pPr algn="l">
              <a:lnSpc>
                <a:spcPts val="3077"/>
              </a:lnSpc>
            </a:pPr>
            <a:r>
              <a:rPr lang="en-US" sz="2700">
                <a:solidFill>
                  <a:srgbClr val="FFFFFF"/>
                </a:solidFill>
                <a:latin typeface="Montserrat Classic"/>
                <a:ea typeface="Montserrat Classic"/>
                <a:cs typeface="Montserrat Classic"/>
                <a:sym typeface="Montserrat Classic"/>
              </a:rPr>
              <a:t>QUESTION 2</a:t>
            </a:r>
          </a:p>
        </p:txBody>
      </p:sp>
      <p:sp>
        <p:nvSpPr>
          <p:cNvPr id="13" name="TextBox 13"/>
          <p:cNvSpPr txBox="1"/>
          <p:nvPr/>
        </p:nvSpPr>
        <p:spPr>
          <a:xfrm>
            <a:off x="1472942" y="553294"/>
            <a:ext cx="15342116" cy="1312032"/>
          </a:xfrm>
          <a:prstGeom prst="rect">
            <a:avLst/>
          </a:prstGeom>
        </p:spPr>
        <p:txBody>
          <a:bodyPr lIns="0" tIns="0" rIns="0" bIns="0" rtlCol="0" anchor="t">
            <a:spAutoFit/>
          </a:bodyPr>
          <a:lstStyle/>
          <a:p>
            <a:pPr algn="ctr">
              <a:lnSpc>
                <a:spcPts val="5208"/>
              </a:lnSpc>
            </a:pPr>
            <a:r>
              <a:rPr lang="en-US" sz="4200" b="1">
                <a:solidFill>
                  <a:srgbClr val="00B9EF"/>
                </a:solidFill>
                <a:latin typeface="Montserrat Bold"/>
                <a:ea typeface="Montserrat Bold"/>
                <a:cs typeface="Montserrat Bold"/>
                <a:sym typeface="Montserrat Bold"/>
              </a:rPr>
              <a:t>CONTENTS</a:t>
            </a:r>
          </a:p>
          <a:p>
            <a:pPr algn="ctr">
              <a:lnSpc>
                <a:spcPts val="5208"/>
              </a:lnSpc>
            </a:pPr>
            <a:r>
              <a:rPr lang="en-US" sz="4200" b="1">
                <a:solidFill>
                  <a:srgbClr val="00B9EF"/>
                </a:solidFill>
                <a:latin typeface="Montserrat Bold"/>
                <a:ea typeface="Montserrat Bold"/>
                <a:cs typeface="Montserrat Bold"/>
                <a:sym typeface="Montserrat Bold"/>
              </a:rPr>
              <a:t> BIAS FOR ACTION</a:t>
            </a:r>
          </a:p>
        </p:txBody>
      </p:sp>
      <p:sp>
        <p:nvSpPr>
          <p:cNvPr id="14" name="TextBox 14"/>
          <p:cNvSpPr txBox="1"/>
          <p:nvPr/>
        </p:nvSpPr>
        <p:spPr>
          <a:xfrm>
            <a:off x="7660409" y="8235238"/>
            <a:ext cx="2437624" cy="392115"/>
          </a:xfrm>
          <a:prstGeom prst="rect">
            <a:avLst/>
          </a:prstGeom>
        </p:spPr>
        <p:txBody>
          <a:bodyPr lIns="0" tIns="0" rIns="0" bIns="0" rtlCol="0" anchor="t">
            <a:spAutoFit/>
          </a:bodyPr>
          <a:lstStyle/>
          <a:p>
            <a:pPr algn="l">
              <a:lnSpc>
                <a:spcPts val="3077"/>
              </a:lnSpc>
            </a:pPr>
            <a:r>
              <a:rPr lang="en-US" sz="2700">
                <a:solidFill>
                  <a:srgbClr val="FFFFFF"/>
                </a:solidFill>
                <a:latin typeface="Montserrat Classic"/>
                <a:ea typeface="Montserrat Classic"/>
                <a:cs typeface="Montserrat Classic"/>
                <a:sym typeface="Montserrat Classic"/>
              </a:rPr>
              <a:t>QUESTION 3</a:t>
            </a:r>
          </a:p>
        </p:txBody>
      </p:sp>
      <p:sp>
        <p:nvSpPr>
          <p:cNvPr id="15" name="TextBox 15"/>
          <p:cNvSpPr txBox="1"/>
          <p:nvPr/>
        </p:nvSpPr>
        <p:spPr>
          <a:xfrm>
            <a:off x="7525920" y="8865478"/>
            <a:ext cx="9733380" cy="861060"/>
          </a:xfrm>
          <a:prstGeom prst="rect">
            <a:avLst/>
          </a:prstGeom>
        </p:spPr>
        <p:txBody>
          <a:bodyPr lIns="0" tIns="0" rIns="0" bIns="0" rtlCol="0" anchor="t">
            <a:spAutoFit/>
          </a:bodyPr>
          <a:lstStyle/>
          <a:p>
            <a:pPr algn="l">
              <a:lnSpc>
                <a:spcPts val="3419"/>
              </a:lnSpc>
            </a:pPr>
            <a:r>
              <a:rPr lang="en-US" sz="3000">
                <a:solidFill>
                  <a:srgbClr val="FFFFFF"/>
                </a:solidFill>
                <a:latin typeface="Montserrat"/>
                <a:ea typeface="Montserrat"/>
                <a:cs typeface="Montserrat"/>
                <a:sym typeface="Montserrat"/>
              </a:rPr>
              <a:t>How do you prioritize if you have to work on 4 different projects?</a:t>
            </a:r>
          </a:p>
        </p:txBody>
      </p:sp>
      <p:sp>
        <p:nvSpPr>
          <p:cNvPr id="16" name="Freeform 16"/>
          <p:cNvSpPr/>
          <p:nvPr/>
        </p:nvSpPr>
        <p:spPr>
          <a:xfrm rot="510017">
            <a:off x="3468920" y="6363591"/>
            <a:ext cx="3270377" cy="715395"/>
          </a:xfrm>
          <a:custGeom>
            <a:avLst/>
            <a:gdLst/>
            <a:ahLst/>
            <a:cxnLst/>
            <a:rect l="l" t="t" r="r" b="b"/>
            <a:pathLst>
              <a:path w="3270377" h="715395">
                <a:moveTo>
                  <a:pt x="0" y="0"/>
                </a:moveTo>
                <a:lnTo>
                  <a:pt x="3270377" y="0"/>
                </a:lnTo>
                <a:lnTo>
                  <a:pt x="3270377" y="715395"/>
                </a:lnTo>
                <a:lnTo>
                  <a:pt x="0" y="7153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grpSp>
        <p:nvGrpSpPr>
          <p:cNvPr id="2" name="Group 2"/>
          <p:cNvGrpSpPr/>
          <p:nvPr/>
        </p:nvGrpSpPr>
        <p:grpSpPr>
          <a:xfrm>
            <a:off x="3540054" y="4254399"/>
            <a:ext cx="795045" cy="795045"/>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5E8C2"/>
            </a:solidFill>
          </p:spPr>
          <p:txBody>
            <a:bodyPr/>
            <a:lstStyle/>
            <a:p>
              <a:endParaRPr lang="en-US"/>
            </a:p>
          </p:txBody>
        </p:sp>
      </p:grpSp>
      <p:graphicFrame>
        <p:nvGraphicFramePr>
          <p:cNvPr id="4" name="Table 4"/>
          <p:cNvGraphicFramePr>
            <a:graphicFrameLocks noGrp="1"/>
          </p:cNvGraphicFramePr>
          <p:nvPr/>
        </p:nvGraphicFramePr>
        <p:xfrm>
          <a:off x="4884754" y="6764074"/>
          <a:ext cx="12189590" cy="2208022"/>
        </p:xfrm>
        <a:graphic>
          <a:graphicData uri="http://schemas.openxmlformats.org/drawingml/2006/table">
            <a:tbl>
              <a:tblPr/>
              <a:tblGrid>
                <a:gridCol w="12189590">
                  <a:extLst>
                    <a:ext uri="{9D8B030D-6E8A-4147-A177-3AD203B41FA5}">
                      <a16:colId xmlns:a16="http://schemas.microsoft.com/office/drawing/2014/main" val="20000"/>
                    </a:ext>
                  </a:extLst>
                </a:gridCol>
              </a:tblGrid>
              <a:tr h="1343792">
                <a:tc>
                  <a:txBody>
                    <a:bodyPr/>
                    <a:lstStyle/>
                    <a:p>
                      <a:pPr algn="l">
                        <a:lnSpc>
                          <a:spcPts val="4900"/>
                        </a:lnSpc>
                        <a:defRPr/>
                      </a:pPr>
                      <a:r>
                        <a:rPr lang="en-US" sz="3500" b="1">
                          <a:solidFill>
                            <a:srgbClr val="FFFFFF"/>
                          </a:solidFill>
                          <a:latin typeface="Montserrat Bold"/>
                          <a:ea typeface="Montserrat Bold"/>
                          <a:cs typeface="Montserrat Bold"/>
                          <a:sym typeface="Montserrat Bold"/>
                        </a:rPr>
                        <a:t>How do you stay updated on industry trends and new technologies? Give an example of how this has benefited your work.</a:t>
                      </a:r>
                      <a:endParaRPr lang="en-US" sz="1100"/>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pSp>
        <p:nvGrpSpPr>
          <p:cNvPr id="5" name="Group 5"/>
          <p:cNvGrpSpPr/>
          <p:nvPr/>
        </p:nvGrpSpPr>
        <p:grpSpPr>
          <a:xfrm>
            <a:off x="3540054" y="6937163"/>
            <a:ext cx="795045" cy="795045"/>
            <a:chOff x="0" y="0"/>
            <a:chExt cx="6350000" cy="6350000"/>
          </a:xfrm>
        </p:grpSpPr>
        <p:sp>
          <p:nvSpPr>
            <p:cNvPr id="6" name="Freeform 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5E8C2"/>
            </a:solidFill>
          </p:spPr>
          <p:txBody>
            <a:bodyPr/>
            <a:lstStyle/>
            <a:p>
              <a:endParaRPr lang="en-US"/>
            </a:p>
          </p:txBody>
        </p:sp>
      </p:grpSp>
      <p:sp>
        <p:nvSpPr>
          <p:cNvPr id="7" name="Freeform 7"/>
          <p:cNvSpPr/>
          <p:nvPr/>
        </p:nvSpPr>
        <p:spPr>
          <a:xfrm>
            <a:off x="3614187" y="1028700"/>
            <a:ext cx="2209289" cy="2057400"/>
          </a:xfrm>
          <a:custGeom>
            <a:avLst/>
            <a:gdLst/>
            <a:ahLst/>
            <a:cxnLst/>
            <a:rect l="l" t="t" r="r" b="b"/>
            <a:pathLst>
              <a:path w="2209289" h="2057400">
                <a:moveTo>
                  <a:pt x="0" y="0"/>
                </a:moveTo>
                <a:lnTo>
                  <a:pt x="2209289" y="0"/>
                </a:lnTo>
                <a:lnTo>
                  <a:pt x="2209289"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TextBox 8"/>
          <p:cNvSpPr txBox="1"/>
          <p:nvPr/>
        </p:nvSpPr>
        <p:spPr>
          <a:xfrm>
            <a:off x="4718831" y="4290353"/>
            <a:ext cx="11820339" cy="1835151"/>
          </a:xfrm>
          <a:prstGeom prst="rect">
            <a:avLst/>
          </a:prstGeom>
        </p:spPr>
        <p:txBody>
          <a:bodyPr lIns="0" tIns="0" rIns="0" bIns="0" rtlCol="0" anchor="t">
            <a:spAutoFit/>
          </a:bodyPr>
          <a:lstStyle/>
          <a:p>
            <a:pPr algn="l">
              <a:lnSpc>
                <a:spcPts val="4899"/>
              </a:lnSpc>
            </a:pPr>
            <a:r>
              <a:rPr lang="en-US" sz="3499" b="1">
                <a:solidFill>
                  <a:srgbClr val="FFFFFF"/>
                </a:solidFill>
                <a:latin typeface="Montserrat Bold"/>
                <a:ea typeface="Montserrat Bold"/>
                <a:cs typeface="Montserrat Bold"/>
                <a:sym typeface="Montserrat Bold"/>
              </a:rPr>
              <a:t>Tell me about a time when you had to quickly learn something new to complete a task. How did you approach it?</a:t>
            </a:r>
          </a:p>
        </p:txBody>
      </p:sp>
      <p:sp>
        <p:nvSpPr>
          <p:cNvPr id="9" name="TextBox 9"/>
          <p:cNvSpPr txBox="1"/>
          <p:nvPr/>
        </p:nvSpPr>
        <p:spPr>
          <a:xfrm>
            <a:off x="5473488" y="1832824"/>
            <a:ext cx="7899812" cy="596331"/>
          </a:xfrm>
          <a:prstGeom prst="rect">
            <a:avLst/>
          </a:prstGeom>
        </p:spPr>
        <p:txBody>
          <a:bodyPr lIns="0" tIns="0" rIns="0" bIns="0" rtlCol="0" anchor="t">
            <a:spAutoFit/>
          </a:bodyPr>
          <a:lstStyle/>
          <a:p>
            <a:pPr algn="ctr">
              <a:lnSpc>
                <a:spcPts val="4620"/>
              </a:lnSpc>
            </a:pPr>
            <a:r>
              <a:rPr lang="en-US" sz="4200">
                <a:solidFill>
                  <a:srgbClr val="00B9EF"/>
                </a:solidFill>
                <a:latin typeface="Poppins Bold"/>
                <a:ea typeface="Poppins Bold"/>
                <a:cs typeface="Poppins Bold"/>
                <a:sym typeface="Poppins Bold"/>
              </a:rPr>
              <a:t>REVISE QUESTIONS 1 &amp; 2</a:t>
            </a:r>
          </a:p>
        </p:txBody>
      </p:sp>
      <p:sp>
        <p:nvSpPr>
          <p:cNvPr id="10" name="TextBox 10"/>
          <p:cNvSpPr txBox="1"/>
          <p:nvPr/>
        </p:nvSpPr>
        <p:spPr>
          <a:xfrm>
            <a:off x="3540054" y="4337978"/>
            <a:ext cx="795045" cy="608772"/>
          </a:xfrm>
          <a:prstGeom prst="rect">
            <a:avLst/>
          </a:prstGeom>
        </p:spPr>
        <p:txBody>
          <a:bodyPr lIns="0" tIns="0" rIns="0" bIns="0" rtlCol="0" anchor="t">
            <a:spAutoFit/>
          </a:bodyPr>
          <a:lstStyle/>
          <a:p>
            <a:pPr algn="ctr">
              <a:lnSpc>
                <a:spcPts val="4836"/>
              </a:lnSpc>
            </a:pPr>
            <a:r>
              <a:rPr lang="en-US" sz="3900">
                <a:solidFill>
                  <a:srgbClr val="900EED"/>
                </a:solidFill>
                <a:latin typeface="Poppins Bold"/>
                <a:ea typeface="Poppins Bold"/>
                <a:cs typeface="Poppins Bold"/>
                <a:sym typeface="Poppins Bold"/>
              </a:rPr>
              <a:t>1</a:t>
            </a:r>
          </a:p>
        </p:txBody>
      </p:sp>
      <p:sp>
        <p:nvSpPr>
          <p:cNvPr id="11" name="TextBox 11"/>
          <p:cNvSpPr txBox="1"/>
          <p:nvPr/>
        </p:nvSpPr>
        <p:spPr>
          <a:xfrm>
            <a:off x="3540054" y="7020742"/>
            <a:ext cx="795045" cy="608772"/>
          </a:xfrm>
          <a:prstGeom prst="rect">
            <a:avLst/>
          </a:prstGeom>
        </p:spPr>
        <p:txBody>
          <a:bodyPr lIns="0" tIns="0" rIns="0" bIns="0" rtlCol="0" anchor="t">
            <a:spAutoFit/>
          </a:bodyPr>
          <a:lstStyle/>
          <a:p>
            <a:pPr algn="ctr">
              <a:lnSpc>
                <a:spcPts val="4836"/>
              </a:lnSpc>
            </a:pPr>
            <a:r>
              <a:rPr lang="en-US" sz="3900">
                <a:solidFill>
                  <a:srgbClr val="900EED"/>
                </a:solidFill>
                <a:latin typeface="Poppins Bold"/>
                <a:ea typeface="Poppins Bold"/>
                <a:cs typeface="Poppins Bold"/>
                <a:sym typeface="Poppins Bold"/>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Freeform 2"/>
          <p:cNvSpPr/>
          <p:nvPr/>
        </p:nvSpPr>
        <p:spPr>
          <a:xfrm>
            <a:off x="4352054" y="1028700"/>
            <a:ext cx="1314106" cy="2176983"/>
          </a:xfrm>
          <a:custGeom>
            <a:avLst/>
            <a:gdLst/>
            <a:ahLst/>
            <a:cxnLst/>
            <a:rect l="l" t="t" r="r" b="b"/>
            <a:pathLst>
              <a:path w="1314106" h="2176983">
                <a:moveTo>
                  <a:pt x="0" y="0"/>
                </a:moveTo>
                <a:lnTo>
                  <a:pt x="1314106" y="0"/>
                </a:lnTo>
                <a:lnTo>
                  <a:pt x="1314106" y="2176983"/>
                </a:lnTo>
                <a:lnTo>
                  <a:pt x="0" y="21769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5493273" y="1951534"/>
            <a:ext cx="7899812" cy="596331"/>
          </a:xfrm>
          <a:prstGeom prst="rect">
            <a:avLst/>
          </a:prstGeom>
        </p:spPr>
        <p:txBody>
          <a:bodyPr lIns="0" tIns="0" rIns="0" bIns="0" rtlCol="0" anchor="t">
            <a:spAutoFit/>
          </a:bodyPr>
          <a:lstStyle/>
          <a:p>
            <a:pPr algn="ctr">
              <a:lnSpc>
                <a:spcPts val="4620"/>
              </a:lnSpc>
            </a:pPr>
            <a:r>
              <a:rPr lang="en-US" sz="4200">
                <a:solidFill>
                  <a:srgbClr val="00B9EF"/>
                </a:solidFill>
                <a:latin typeface="Poppins Bold"/>
                <a:ea typeface="Poppins Bold"/>
                <a:cs typeface="Poppins Bold"/>
                <a:sym typeface="Poppins Bold"/>
              </a:rPr>
              <a:t>BIAS FOR ACTION?</a:t>
            </a:r>
          </a:p>
        </p:txBody>
      </p:sp>
      <p:sp>
        <p:nvSpPr>
          <p:cNvPr id="4" name="TextBox 4"/>
          <p:cNvSpPr txBox="1"/>
          <p:nvPr/>
        </p:nvSpPr>
        <p:spPr>
          <a:xfrm>
            <a:off x="1028700" y="4291189"/>
            <a:ext cx="16363357" cy="1971675"/>
          </a:xfrm>
          <a:prstGeom prst="rect">
            <a:avLst/>
          </a:prstGeom>
        </p:spPr>
        <p:txBody>
          <a:bodyPr lIns="0" tIns="0" rIns="0" bIns="0" rtlCol="0" anchor="t">
            <a:spAutoFit/>
          </a:bodyPr>
          <a:lstStyle/>
          <a:p>
            <a:pPr algn="ctr">
              <a:lnSpc>
                <a:spcPts val="5250"/>
              </a:lnSpc>
              <a:spcBef>
                <a:spcPct val="0"/>
              </a:spcBef>
            </a:pPr>
            <a:r>
              <a:rPr lang="en-US" sz="3500" spc="182">
                <a:solidFill>
                  <a:srgbClr val="FFFFFF"/>
                </a:solidFill>
                <a:latin typeface="Montserrat"/>
                <a:ea typeface="Montserrat"/>
                <a:cs typeface="Montserrat"/>
                <a:sym typeface="Montserrat"/>
              </a:rPr>
              <a:t> Speed matters in business. Many decisions and actions are reversible and do not need extensive study. We value calculated risk taking.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Freeform 2"/>
          <p:cNvSpPr/>
          <p:nvPr/>
        </p:nvSpPr>
        <p:spPr>
          <a:xfrm>
            <a:off x="3886200" y="431740"/>
            <a:ext cx="1314106" cy="2176983"/>
          </a:xfrm>
          <a:custGeom>
            <a:avLst/>
            <a:gdLst/>
            <a:ahLst/>
            <a:cxnLst/>
            <a:rect l="l" t="t" r="r" b="b"/>
            <a:pathLst>
              <a:path w="1314106" h="2176983">
                <a:moveTo>
                  <a:pt x="0" y="0"/>
                </a:moveTo>
                <a:lnTo>
                  <a:pt x="1314106" y="0"/>
                </a:lnTo>
                <a:lnTo>
                  <a:pt x="1314106" y="2176983"/>
                </a:lnTo>
                <a:lnTo>
                  <a:pt x="0" y="21769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TextBox 3"/>
          <p:cNvSpPr txBox="1"/>
          <p:nvPr/>
        </p:nvSpPr>
        <p:spPr>
          <a:xfrm>
            <a:off x="5498501" y="923272"/>
            <a:ext cx="7899812" cy="1193917"/>
          </a:xfrm>
          <a:prstGeom prst="rect">
            <a:avLst/>
          </a:prstGeom>
        </p:spPr>
        <p:txBody>
          <a:bodyPr lIns="0" tIns="0" rIns="0" bIns="0" rtlCol="0" anchor="t">
            <a:spAutoFit/>
          </a:bodyPr>
          <a:lstStyle/>
          <a:p>
            <a:pPr algn="ctr">
              <a:lnSpc>
                <a:spcPts val="4620"/>
              </a:lnSpc>
            </a:pPr>
            <a:r>
              <a:rPr lang="en-US" sz="4200" dirty="0">
                <a:solidFill>
                  <a:srgbClr val="00B9EF"/>
                </a:solidFill>
                <a:latin typeface="Poppins Bold"/>
                <a:ea typeface="Poppins Bold"/>
                <a:cs typeface="Poppins Bold"/>
                <a:sym typeface="Poppins Bold"/>
              </a:rPr>
              <a:t>Decision Making using One and Two-Way Doors</a:t>
            </a:r>
          </a:p>
        </p:txBody>
      </p:sp>
      <p:pic>
        <p:nvPicPr>
          <p:cNvPr id="4" name="Picture 2" descr="Early-stage startup decisions are two ...">
            <a:extLst>
              <a:ext uri="{FF2B5EF4-FFF2-40B4-BE49-F238E27FC236}">
                <a16:creationId xmlns:a16="http://schemas.microsoft.com/office/drawing/2014/main" id="{539DB52D-1BC9-4344-AB77-4F6EAECE326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1120"/>
          <a:stretch/>
        </p:blipFill>
        <p:spPr bwMode="auto">
          <a:xfrm>
            <a:off x="4267200" y="3086100"/>
            <a:ext cx="9922637"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7540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grpSp>
        <p:nvGrpSpPr>
          <p:cNvPr id="2" name="Group 2"/>
          <p:cNvGrpSpPr/>
          <p:nvPr/>
        </p:nvGrpSpPr>
        <p:grpSpPr>
          <a:xfrm>
            <a:off x="1386107" y="2274509"/>
            <a:ext cx="795045" cy="795045"/>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5E8C2"/>
            </a:solidFill>
          </p:spPr>
          <p:txBody>
            <a:bodyPr/>
            <a:lstStyle/>
            <a:p>
              <a:endParaRPr lang="en-US"/>
            </a:p>
          </p:txBody>
        </p:sp>
      </p:grpSp>
      <p:sp>
        <p:nvSpPr>
          <p:cNvPr id="4" name="Freeform 4"/>
          <p:cNvSpPr/>
          <p:nvPr/>
        </p:nvSpPr>
        <p:spPr>
          <a:xfrm>
            <a:off x="4784229" y="330603"/>
            <a:ext cx="819801" cy="995343"/>
          </a:xfrm>
          <a:custGeom>
            <a:avLst/>
            <a:gdLst/>
            <a:ahLst/>
            <a:cxnLst/>
            <a:rect l="l" t="t" r="r" b="b"/>
            <a:pathLst>
              <a:path w="819801" h="995343">
                <a:moveTo>
                  <a:pt x="0" y="0"/>
                </a:moveTo>
                <a:lnTo>
                  <a:pt x="819801" y="0"/>
                </a:lnTo>
                <a:lnTo>
                  <a:pt x="819801" y="995343"/>
                </a:lnTo>
                <a:lnTo>
                  <a:pt x="0" y="9953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858633">
            <a:off x="13971869" y="2372766"/>
            <a:ext cx="1311593" cy="4114800"/>
          </a:xfrm>
          <a:custGeom>
            <a:avLst/>
            <a:gdLst/>
            <a:ahLst/>
            <a:cxnLst/>
            <a:rect l="l" t="t" r="r" b="b"/>
            <a:pathLst>
              <a:path w="1311593" h="4114800">
                <a:moveTo>
                  <a:pt x="0" y="0"/>
                </a:moveTo>
                <a:lnTo>
                  <a:pt x="1311593" y="0"/>
                </a:lnTo>
                <a:lnTo>
                  <a:pt x="131159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2564885" y="2310462"/>
            <a:ext cx="14694415" cy="596901"/>
          </a:xfrm>
          <a:prstGeom prst="rect">
            <a:avLst/>
          </a:prstGeom>
        </p:spPr>
        <p:txBody>
          <a:bodyPr lIns="0" tIns="0" rIns="0" bIns="0" rtlCol="0" anchor="t">
            <a:spAutoFit/>
          </a:bodyPr>
          <a:lstStyle/>
          <a:p>
            <a:pPr algn="l">
              <a:lnSpc>
                <a:spcPts val="4899"/>
              </a:lnSpc>
            </a:pPr>
            <a:r>
              <a:rPr lang="en-US" sz="3499" b="1" dirty="0">
                <a:solidFill>
                  <a:srgbClr val="FFFFFF"/>
                </a:solidFill>
                <a:latin typeface="Montserrat Bold"/>
                <a:ea typeface="Montserrat Bold"/>
                <a:cs typeface="Montserrat Bold"/>
                <a:sym typeface="Montserrat Bold"/>
              </a:rPr>
              <a:t>How have you managed risk in a project?</a:t>
            </a:r>
          </a:p>
        </p:txBody>
      </p:sp>
      <p:sp>
        <p:nvSpPr>
          <p:cNvPr id="7" name="TextBox 7"/>
          <p:cNvSpPr txBox="1"/>
          <p:nvPr/>
        </p:nvSpPr>
        <p:spPr>
          <a:xfrm>
            <a:off x="5604030" y="549159"/>
            <a:ext cx="7899812" cy="596331"/>
          </a:xfrm>
          <a:prstGeom prst="rect">
            <a:avLst/>
          </a:prstGeom>
        </p:spPr>
        <p:txBody>
          <a:bodyPr lIns="0" tIns="0" rIns="0" bIns="0" rtlCol="0" anchor="t">
            <a:spAutoFit/>
          </a:bodyPr>
          <a:lstStyle/>
          <a:p>
            <a:pPr algn="ctr">
              <a:lnSpc>
                <a:spcPts val="4620"/>
              </a:lnSpc>
            </a:pPr>
            <a:r>
              <a:rPr lang="en-US" sz="4200">
                <a:solidFill>
                  <a:srgbClr val="00B9EF"/>
                </a:solidFill>
                <a:latin typeface="Poppins Bold"/>
                <a:ea typeface="Poppins Bold"/>
                <a:cs typeface="Poppins Bold"/>
                <a:sym typeface="Poppins Bold"/>
              </a:rPr>
              <a:t>ANALYZING QUESTIONS</a:t>
            </a:r>
          </a:p>
        </p:txBody>
      </p:sp>
      <p:sp>
        <p:nvSpPr>
          <p:cNvPr id="8" name="TextBox 8"/>
          <p:cNvSpPr txBox="1"/>
          <p:nvPr/>
        </p:nvSpPr>
        <p:spPr>
          <a:xfrm>
            <a:off x="1386107" y="2358087"/>
            <a:ext cx="795045" cy="608772"/>
          </a:xfrm>
          <a:prstGeom prst="rect">
            <a:avLst/>
          </a:prstGeom>
        </p:spPr>
        <p:txBody>
          <a:bodyPr lIns="0" tIns="0" rIns="0" bIns="0" rtlCol="0" anchor="t">
            <a:spAutoFit/>
          </a:bodyPr>
          <a:lstStyle/>
          <a:p>
            <a:pPr algn="ctr">
              <a:lnSpc>
                <a:spcPts val="4836"/>
              </a:lnSpc>
            </a:pPr>
            <a:r>
              <a:rPr lang="en-US" sz="3900">
                <a:solidFill>
                  <a:srgbClr val="900EED"/>
                </a:solidFill>
                <a:latin typeface="Poppins Bold"/>
                <a:ea typeface="Poppins Bold"/>
                <a:cs typeface="Poppins Bold"/>
                <a:sym typeface="Poppins Bold"/>
              </a:rPr>
              <a:t>1</a:t>
            </a:r>
          </a:p>
        </p:txBody>
      </p:sp>
      <p:sp>
        <p:nvSpPr>
          <p:cNvPr id="9" name="TextBox 9"/>
          <p:cNvSpPr txBox="1"/>
          <p:nvPr/>
        </p:nvSpPr>
        <p:spPr>
          <a:xfrm>
            <a:off x="1783630" y="5128498"/>
            <a:ext cx="12206591" cy="2828925"/>
          </a:xfrm>
          <a:prstGeom prst="rect">
            <a:avLst/>
          </a:prstGeom>
        </p:spPr>
        <p:txBody>
          <a:bodyPr lIns="0" tIns="0" rIns="0" bIns="0" rtlCol="0" anchor="t">
            <a:spAutoFit/>
          </a:bodyPr>
          <a:lstStyle/>
          <a:p>
            <a:pPr marL="647700" lvl="1" indent="-323850" algn="l">
              <a:lnSpc>
                <a:spcPts val="4500"/>
              </a:lnSpc>
              <a:buFont typeface="Arial"/>
              <a:buChar char="•"/>
            </a:pPr>
            <a:r>
              <a:rPr lang="en-US" sz="3000" spc="156" dirty="0">
                <a:solidFill>
                  <a:srgbClr val="FFFFFF"/>
                </a:solidFill>
                <a:latin typeface="Montserrat"/>
                <a:ea typeface="Montserrat"/>
                <a:cs typeface="Montserrat"/>
                <a:sym typeface="Montserrat"/>
              </a:rPr>
              <a:t>To ascertain your ability to plan, forecast, and preemptively deal with any potential issue that could have negatively impacted the project. </a:t>
            </a:r>
          </a:p>
          <a:p>
            <a:pPr marL="647700" lvl="1" indent="-323850" algn="l">
              <a:lnSpc>
                <a:spcPts val="4500"/>
              </a:lnSpc>
              <a:spcBef>
                <a:spcPct val="0"/>
              </a:spcBef>
              <a:buFont typeface="Arial"/>
              <a:buChar char="•"/>
            </a:pPr>
            <a:r>
              <a:rPr lang="en-US" sz="3000" spc="156" dirty="0">
                <a:solidFill>
                  <a:srgbClr val="FFFFFF"/>
                </a:solidFill>
                <a:latin typeface="Montserrat"/>
                <a:ea typeface="Montserrat"/>
                <a:cs typeface="Montserrat"/>
                <a:sym typeface="Montserrat"/>
              </a:rPr>
              <a:t>To gauge how you deal with unexpected situations and pressure.</a:t>
            </a:r>
          </a:p>
        </p:txBody>
      </p:sp>
      <p:sp>
        <p:nvSpPr>
          <p:cNvPr id="10" name="TextBox 8">
            <a:extLst>
              <a:ext uri="{FF2B5EF4-FFF2-40B4-BE49-F238E27FC236}">
                <a16:creationId xmlns:a16="http://schemas.microsoft.com/office/drawing/2014/main" id="{F80C428A-1688-6B6F-A859-652A31D53E6A}"/>
              </a:ext>
            </a:extLst>
          </p:cNvPr>
          <p:cNvSpPr txBox="1"/>
          <p:nvPr/>
        </p:nvSpPr>
        <p:spPr>
          <a:xfrm>
            <a:off x="1402834" y="2298591"/>
            <a:ext cx="795045" cy="608772"/>
          </a:xfrm>
          <a:prstGeom prst="rect">
            <a:avLst/>
          </a:prstGeom>
        </p:spPr>
        <p:txBody>
          <a:bodyPr lIns="0" tIns="0" rIns="0" bIns="0" rtlCol="0" anchor="t">
            <a:spAutoFit/>
          </a:bodyPr>
          <a:lstStyle/>
          <a:p>
            <a:pPr algn="ctr">
              <a:lnSpc>
                <a:spcPts val="4836"/>
              </a:lnSpc>
            </a:pPr>
            <a:r>
              <a:rPr lang="en-US" sz="3900">
                <a:solidFill>
                  <a:srgbClr val="900EED"/>
                </a:solidFill>
                <a:latin typeface="Poppins Bold"/>
                <a:ea typeface="Poppins Bold"/>
                <a:cs typeface="Poppins Bold"/>
                <a:sym typeface="Poppins Bold"/>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5346826" y="749584"/>
            <a:ext cx="7899812" cy="596331"/>
          </a:xfrm>
          <a:prstGeom prst="rect">
            <a:avLst/>
          </a:prstGeom>
        </p:spPr>
        <p:txBody>
          <a:bodyPr lIns="0" tIns="0" rIns="0" bIns="0" rtlCol="0" anchor="t">
            <a:spAutoFit/>
          </a:bodyPr>
          <a:lstStyle/>
          <a:p>
            <a:pPr algn="ctr">
              <a:lnSpc>
                <a:spcPts val="4620"/>
              </a:lnSpc>
            </a:pPr>
            <a:r>
              <a:rPr lang="en-US" sz="4200">
                <a:solidFill>
                  <a:srgbClr val="00B9EF"/>
                </a:solidFill>
                <a:latin typeface="Poppins Bold"/>
                <a:ea typeface="Poppins Bold"/>
                <a:cs typeface="Poppins Bold"/>
                <a:sym typeface="Poppins Bold"/>
              </a:rPr>
              <a:t>STRUCTURING ANSWER</a:t>
            </a:r>
          </a:p>
        </p:txBody>
      </p:sp>
      <p:sp>
        <p:nvSpPr>
          <p:cNvPr id="3" name="TextBox 3"/>
          <p:cNvSpPr txBox="1"/>
          <p:nvPr/>
        </p:nvSpPr>
        <p:spPr>
          <a:xfrm>
            <a:off x="6754874" y="3502677"/>
            <a:ext cx="4509431" cy="1295226"/>
          </a:xfrm>
          <a:prstGeom prst="rect">
            <a:avLst/>
          </a:prstGeom>
        </p:spPr>
        <p:txBody>
          <a:bodyPr lIns="0" tIns="0" rIns="0" bIns="0" rtlCol="0" anchor="t">
            <a:spAutoFit/>
          </a:bodyPr>
          <a:lstStyle/>
          <a:p>
            <a:pPr algn="ctr">
              <a:lnSpc>
                <a:spcPts val="4950"/>
              </a:lnSpc>
            </a:pPr>
            <a:r>
              <a:rPr lang="en-US" sz="4500" dirty="0">
                <a:solidFill>
                  <a:srgbClr val="00B9EF"/>
                </a:solidFill>
                <a:latin typeface="Poppins Bold"/>
                <a:ea typeface="Poppins Bold"/>
                <a:cs typeface="Poppins Bold"/>
                <a:sym typeface="Poppins Bold"/>
              </a:rPr>
              <a:t>S</a:t>
            </a:r>
            <a:r>
              <a:rPr lang="en-US" sz="4500" dirty="0">
                <a:solidFill>
                  <a:srgbClr val="CB6CE6"/>
                </a:solidFill>
                <a:latin typeface="Poppins Bold"/>
                <a:ea typeface="Poppins Bold"/>
                <a:cs typeface="Poppins Bold"/>
                <a:sym typeface="Poppins Bold"/>
              </a:rPr>
              <a:t>T</a:t>
            </a:r>
            <a:r>
              <a:rPr lang="en-US" sz="4500" dirty="0">
                <a:solidFill>
                  <a:srgbClr val="95C740"/>
                </a:solidFill>
                <a:latin typeface="Poppins Bold"/>
                <a:ea typeface="Poppins Bold"/>
                <a:cs typeface="Poppins Bold"/>
                <a:sym typeface="Poppins Bold"/>
              </a:rPr>
              <a:t>A</a:t>
            </a:r>
            <a:r>
              <a:rPr lang="en-US" sz="4500" dirty="0">
                <a:solidFill>
                  <a:srgbClr val="FF5757"/>
                </a:solidFill>
                <a:latin typeface="Poppins Bold"/>
                <a:ea typeface="Poppins Bold"/>
                <a:cs typeface="Poppins Bold"/>
                <a:sym typeface="Poppins Bold"/>
              </a:rPr>
              <a:t>R</a:t>
            </a:r>
          </a:p>
          <a:p>
            <a:pPr algn="ctr">
              <a:lnSpc>
                <a:spcPts val="4950"/>
              </a:lnSpc>
            </a:pPr>
            <a:r>
              <a:rPr lang="en-US" sz="4500" dirty="0">
                <a:solidFill>
                  <a:srgbClr val="00B9EF"/>
                </a:solidFill>
                <a:latin typeface="Poppins Bold"/>
                <a:ea typeface="Poppins Bold"/>
                <a:cs typeface="Poppins Bold"/>
                <a:sym typeface="Poppins Bold"/>
              </a:rPr>
              <a:t>TECHNIQUE</a:t>
            </a:r>
          </a:p>
        </p:txBody>
      </p:sp>
      <p:sp>
        <p:nvSpPr>
          <p:cNvPr id="4" name="TextBox 4"/>
          <p:cNvSpPr txBox="1"/>
          <p:nvPr/>
        </p:nvSpPr>
        <p:spPr>
          <a:xfrm>
            <a:off x="696879" y="4623170"/>
            <a:ext cx="4324880" cy="428559"/>
          </a:xfrm>
          <a:prstGeom prst="rect">
            <a:avLst/>
          </a:prstGeom>
        </p:spPr>
        <p:txBody>
          <a:bodyPr lIns="0" tIns="0" rIns="0" bIns="0" rtlCol="0" anchor="t">
            <a:spAutoFit/>
          </a:bodyPr>
          <a:lstStyle/>
          <a:p>
            <a:pPr algn="ctr">
              <a:lnSpc>
                <a:spcPts val="3300"/>
              </a:lnSpc>
              <a:spcBef>
                <a:spcPct val="0"/>
              </a:spcBef>
            </a:pPr>
            <a:r>
              <a:rPr lang="en-US" sz="3000" dirty="0">
                <a:solidFill>
                  <a:srgbClr val="00B9EF"/>
                </a:solidFill>
                <a:latin typeface="Montserrat"/>
                <a:ea typeface="Montserrat"/>
                <a:cs typeface="Montserrat"/>
                <a:sym typeface="Montserrat"/>
              </a:rPr>
              <a:t>Identify the project </a:t>
            </a:r>
          </a:p>
        </p:txBody>
      </p:sp>
      <p:sp>
        <p:nvSpPr>
          <p:cNvPr id="5" name="TextBox 5"/>
          <p:cNvSpPr txBox="1"/>
          <p:nvPr/>
        </p:nvSpPr>
        <p:spPr>
          <a:xfrm>
            <a:off x="1788162" y="6874329"/>
            <a:ext cx="5595258" cy="847593"/>
          </a:xfrm>
          <a:prstGeom prst="rect">
            <a:avLst/>
          </a:prstGeom>
        </p:spPr>
        <p:txBody>
          <a:bodyPr lIns="0" tIns="0" rIns="0" bIns="0" rtlCol="0" anchor="t">
            <a:spAutoFit/>
          </a:bodyPr>
          <a:lstStyle/>
          <a:p>
            <a:pPr algn="ctr">
              <a:lnSpc>
                <a:spcPts val="3300"/>
              </a:lnSpc>
              <a:spcBef>
                <a:spcPct val="0"/>
              </a:spcBef>
            </a:pPr>
            <a:r>
              <a:rPr lang="en-US" sz="3000" dirty="0">
                <a:solidFill>
                  <a:srgbClr val="CB6CE6"/>
                </a:solidFill>
                <a:latin typeface="Montserrat"/>
                <a:ea typeface="Montserrat"/>
                <a:cs typeface="Montserrat"/>
                <a:sym typeface="Montserrat"/>
              </a:rPr>
              <a:t>Elaborate on the risk identification process</a:t>
            </a:r>
          </a:p>
        </p:txBody>
      </p:sp>
      <p:sp>
        <p:nvSpPr>
          <p:cNvPr id="6" name="TextBox 6"/>
          <p:cNvSpPr txBox="1"/>
          <p:nvPr/>
        </p:nvSpPr>
        <p:spPr>
          <a:xfrm>
            <a:off x="9704464" y="6874329"/>
            <a:ext cx="5034533" cy="847593"/>
          </a:xfrm>
          <a:prstGeom prst="rect">
            <a:avLst/>
          </a:prstGeom>
        </p:spPr>
        <p:txBody>
          <a:bodyPr lIns="0" tIns="0" rIns="0" bIns="0" rtlCol="0" anchor="t">
            <a:spAutoFit/>
          </a:bodyPr>
          <a:lstStyle/>
          <a:p>
            <a:pPr algn="ctr">
              <a:lnSpc>
                <a:spcPts val="3300"/>
              </a:lnSpc>
              <a:spcBef>
                <a:spcPct val="0"/>
              </a:spcBef>
            </a:pPr>
            <a:r>
              <a:rPr lang="en-US" sz="3000" dirty="0">
                <a:solidFill>
                  <a:srgbClr val="95C740"/>
                </a:solidFill>
                <a:latin typeface="Montserrat"/>
                <a:ea typeface="Montserrat"/>
                <a:cs typeface="Montserrat"/>
                <a:sym typeface="Montserrat"/>
              </a:rPr>
              <a:t>Describe the risk management plan</a:t>
            </a:r>
          </a:p>
        </p:txBody>
      </p:sp>
      <p:sp>
        <p:nvSpPr>
          <p:cNvPr id="7" name="TextBox 7"/>
          <p:cNvSpPr txBox="1"/>
          <p:nvPr/>
        </p:nvSpPr>
        <p:spPr>
          <a:xfrm>
            <a:off x="12610693" y="3914097"/>
            <a:ext cx="5285892" cy="428559"/>
          </a:xfrm>
          <a:prstGeom prst="rect">
            <a:avLst/>
          </a:prstGeom>
        </p:spPr>
        <p:txBody>
          <a:bodyPr lIns="0" tIns="0" rIns="0" bIns="0" rtlCol="0" anchor="t">
            <a:spAutoFit/>
          </a:bodyPr>
          <a:lstStyle/>
          <a:p>
            <a:pPr algn="ctr">
              <a:lnSpc>
                <a:spcPts val="3300"/>
              </a:lnSpc>
              <a:spcBef>
                <a:spcPct val="0"/>
              </a:spcBef>
            </a:pPr>
            <a:r>
              <a:rPr lang="en-US" sz="3000" dirty="0">
                <a:solidFill>
                  <a:srgbClr val="FF5757"/>
                </a:solidFill>
                <a:latin typeface="Montserrat"/>
                <a:ea typeface="Montserrat"/>
                <a:cs typeface="Montserrat"/>
                <a:sym typeface="Montserrat"/>
              </a:rPr>
              <a:t>Discuss the result</a:t>
            </a:r>
          </a:p>
        </p:txBody>
      </p:sp>
      <p:sp>
        <p:nvSpPr>
          <p:cNvPr id="8" name="Freeform 8"/>
          <p:cNvSpPr/>
          <p:nvPr/>
        </p:nvSpPr>
        <p:spPr>
          <a:xfrm rot="9892788">
            <a:off x="5258450" y="4280156"/>
            <a:ext cx="2078935" cy="628878"/>
          </a:xfrm>
          <a:custGeom>
            <a:avLst/>
            <a:gdLst/>
            <a:ahLst/>
            <a:cxnLst/>
            <a:rect l="l" t="t" r="r" b="b"/>
            <a:pathLst>
              <a:path w="2078935" h="628878">
                <a:moveTo>
                  <a:pt x="0" y="0"/>
                </a:moveTo>
                <a:lnTo>
                  <a:pt x="2078935" y="0"/>
                </a:lnTo>
                <a:lnTo>
                  <a:pt x="2078935" y="628878"/>
                </a:lnTo>
                <a:lnTo>
                  <a:pt x="0" y="6288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rot="7595610">
            <a:off x="6818790" y="5509294"/>
            <a:ext cx="2078935" cy="628878"/>
          </a:xfrm>
          <a:custGeom>
            <a:avLst/>
            <a:gdLst/>
            <a:ahLst/>
            <a:cxnLst/>
            <a:rect l="l" t="t" r="r" b="b"/>
            <a:pathLst>
              <a:path w="2078935" h="628878">
                <a:moveTo>
                  <a:pt x="0" y="0"/>
                </a:moveTo>
                <a:lnTo>
                  <a:pt x="2078935" y="0"/>
                </a:lnTo>
                <a:lnTo>
                  <a:pt x="2078935" y="628878"/>
                </a:lnTo>
                <a:lnTo>
                  <a:pt x="0" y="6288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rot="3756754">
            <a:off x="9277511" y="5554877"/>
            <a:ext cx="2078935" cy="628878"/>
          </a:xfrm>
          <a:custGeom>
            <a:avLst/>
            <a:gdLst/>
            <a:ahLst/>
            <a:cxnLst/>
            <a:rect l="l" t="t" r="r" b="b"/>
            <a:pathLst>
              <a:path w="2078935" h="628878">
                <a:moveTo>
                  <a:pt x="0" y="0"/>
                </a:moveTo>
                <a:lnTo>
                  <a:pt x="2078935" y="0"/>
                </a:lnTo>
                <a:lnTo>
                  <a:pt x="2078935" y="628878"/>
                </a:lnTo>
                <a:lnTo>
                  <a:pt x="0" y="6288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rot="378146">
            <a:off x="10662326" y="3997731"/>
            <a:ext cx="2078935" cy="628878"/>
          </a:xfrm>
          <a:custGeom>
            <a:avLst/>
            <a:gdLst/>
            <a:ahLst/>
            <a:cxnLst/>
            <a:rect l="l" t="t" r="r" b="b"/>
            <a:pathLst>
              <a:path w="2078935" h="628878">
                <a:moveTo>
                  <a:pt x="0" y="0"/>
                </a:moveTo>
                <a:lnTo>
                  <a:pt x="2078936" y="0"/>
                </a:lnTo>
                <a:lnTo>
                  <a:pt x="2078936" y="628878"/>
                </a:lnTo>
                <a:lnTo>
                  <a:pt x="0" y="6288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animBg="1"/>
      <p:bldP spid="9" grpId="0" animBg="1"/>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5232025"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SAMPLE ANSWER</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623141" y="1754543"/>
            <a:ext cx="17032380" cy="7500964"/>
          </a:xfrm>
          <a:prstGeom prst="rect">
            <a:avLst/>
          </a:prstGeom>
        </p:spPr>
        <p:txBody>
          <a:bodyPr lIns="0" tIns="0" rIns="0" bIns="0" rtlCol="0" anchor="t">
            <a:spAutoFit/>
          </a:bodyPr>
          <a:lstStyle/>
          <a:p>
            <a:pPr algn="just">
              <a:lnSpc>
                <a:spcPts val="4200"/>
              </a:lnSpc>
            </a:pPr>
            <a:r>
              <a:rPr lang="en-US" sz="3000" dirty="0">
                <a:solidFill>
                  <a:srgbClr val="FF5757"/>
                </a:solidFill>
                <a:latin typeface="Montserrat"/>
                <a:ea typeface="Montserrat"/>
                <a:cs typeface="Montserrat"/>
                <a:sym typeface="Montserrat"/>
              </a:rPr>
              <a:t>While working on a major software at </a:t>
            </a:r>
            <a:r>
              <a:rPr lang="en-US" sz="3000" dirty="0">
                <a:solidFill>
                  <a:srgbClr val="FFFFFF"/>
                </a:solidFill>
                <a:latin typeface="Montserrat"/>
                <a:ea typeface="Montserrat"/>
                <a:cs typeface="Montserrat"/>
                <a:sym typeface="Montserrat"/>
              </a:rPr>
              <a:t>XYZ Company, </a:t>
            </a:r>
            <a:r>
              <a:rPr lang="en-US" sz="3000" dirty="0">
                <a:solidFill>
                  <a:srgbClr val="FF5757"/>
                </a:solidFill>
                <a:latin typeface="Montserrat"/>
                <a:ea typeface="Montserrat"/>
                <a:cs typeface="Montserrat"/>
                <a:sym typeface="Montserrat"/>
              </a:rPr>
              <a:t>I realized that there were potential risks associated with </a:t>
            </a:r>
            <a:r>
              <a:rPr lang="en-US" sz="3000" dirty="0">
                <a:solidFill>
                  <a:srgbClr val="FFFFFF"/>
                </a:solidFill>
                <a:latin typeface="Montserrat"/>
                <a:ea typeface="Montserrat"/>
                <a:cs typeface="Montserrat"/>
                <a:sym typeface="Montserrat"/>
              </a:rPr>
              <a:t>data migration, which could affect system performance and user experience.</a:t>
            </a:r>
          </a:p>
          <a:p>
            <a:pPr algn="just">
              <a:lnSpc>
                <a:spcPts val="4200"/>
              </a:lnSpc>
            </a:pPr>
            <a:r>
              <a:rPr lang="en-US" sz="3000" dirty="0">
                <a:solidFill>
                  <a:srgbClr val="FF5757"/>
                </a:solidFill>
                <a:latin typeface="Montserrat"/>
                <a:ea typeface="Montserrat"/>
                <a:cs typeface="Montserrat"/>
                <a:sym typeface="Montserrat"/>
              </a:rPr>
              <a:t>My task was to</a:t>
            </a:r>
            <a:r>
              <a:rPr lang="en-US" sz="3000" dirty="0">
                <a:solidFill>
                  <a:srgbClr val="FFFFFF"/>
                </a:solidFill>
                <a:latin typeface="Montserrat"/>
                <a:ea typeface="Montserrat"/>
                <a:cs typeface="Montserrat"/>
                <a:sym typeface="Montserrat"/>
              </a:rPr>
              <a:t> ensure a smooth migration process </a:t>
            </a:r>
            <a:r>
              <a:rPr lang="en-US" sz="3000" dirty="0">
                <a:solidFill>
                  <a:srgbClr val="FF5757"/>
                </a:solidFill>
                <a:latin typeface="Montserrat"/>
                <a:ea typeface="Montserrat"/>
                <a:cs typeface="Montserrat"/>
                <a:sym typeface="Montserrat"/>
              </a:rPr>
              <a:t>while</a:t>
            </a:r>
            <a:r>
              <a:rPr lang="en-US" sz="3000" dirty="0">
                <a:solidFill>
                  <a:srgbClr val="FFFFFF"/>
                </a:solidFill>
                <a:latin typeface="Montserrat"/>
                <a:ea typeface="Montserrat"/>
                <a:cs typeface="Montserrat"/>
                <a:sym typeface="Montserrat"/>
              </a:rPr>
              <a:t> minimizing risks to data integrity and system uptime. </a:t>
            </a:r>
            <a:r>
              <a:rPr lang="en-US" sz="3000" dirty="0">
                <a:solidFill>
                  <a:srgbClr val="FF5757"/>
                </a:solidFill>
                <a:latin typeface="Montserrat"/>
                <a:ea typeface="Montserrat"/>
                <a:cs typeface="Montserrat"/>
                <a:sym typeface="Montserrat"/>
              </a:rPr>
              <a:t>I managed risk by</a:t>
            </a:r>
            <a:r>
              <a:rPr lang="en-US" sz="3000" dirty="0">
                <a:solidFill>
                  <a:srgbClr val="FFFFFF"/>
                </a:solidFill>
                <a:latin typeface="Montserrat"/>
                <a:ea typeface="Montserrat"/>
                <a:cs typeface="Montserrat"/>
                <a:sym typeface="Montserrat"/>
              </a:rPr>
              <a:t> implementing a phased migration strategy. </a:t>
            </a:r>
            <a:r>
              <a:rPr lang="en-US" sz="3000" dirty="0">
                <a:solidFill>
                  <a:srgbClr val="FF5757"/>
                </a:solidFill>
                <a:latin typeface="Montserrat"/>
                <a:ea typeface="Montserrat"/>
                <a:cs typeface="Montserrat"/>
                <a:sym typeface="Montserrat"/>
              </a:rPr>
              <a:t>This involved</a:t>
            </a:r>
            <a:r>
              <a:rPr lang="en-US" sz="3000" dirty="0">
                <a:solidFill>
                  <a:srgbClr val="FFFFFF"/>
                </a:solidFill>
                <a:latin typeface="Montserrat"/>
                <a:ea typeface="Montserrat"/>
                <a:cs typeface="Montserrat"/>
                <a:sym typeface="Montserrat"/>
              </a:rPr>
              <a:t> migrating a small subset of data first to identify any issues before a full-scale migration. </a:t>
            </a:r>
            <a:r>
              <a:rPr lang="en-US" sz="3000" dirty="0">
                <a:solidFill>
                  <a:srgbClr val="FF5757"/>
                </a:solidFill>
                <a:latin typeface="Montserrat"/>
                <a:ea typeface="Montserrat"/>
                <a:cs typeface="Montserrat"/>
                <a:sym typeface="Montserrat"/>
              </a:rPr>
              <a:t>I also conducted thorough testing and created backup plans in case </a:t>
            </a:r>
            <a:r>
              <a:rPr lang="en-US" sz="3000" dirty="0">
                <a:solidFill>
                  <a:srgbClr val="FFFFFF"/>
                </a:solidFill>
                <a:latin typeface="Montserrat"/>
                <a:ea typeface="Montserrat"/>
                <a:cs typeface="Montserrat"/>
                <a:sym typeface="Montserrat"/>
              </a:rPr>
              <a:t>anything went wrong. Throughout the process, </a:t>
            </a:r>
            <a:r>
              <a:rPr lang="en-US" sz="3000" dirty="0">
                <a:solidFill>
                  <a:srgbClr val="FF5757"/>
                </a:solidFill>
                <a:latin typeface="Montserrat"/>
                <a:ea typeface="Montserrat"/>
                <a:cs typeface="Montserrat"/>
                <a:sym typeface="Montserrat"/>
              </a:rPr>
              <a:t>I communicated regularly with</a:t>
            </a:r>
            <a:r>
              <a:rPr lang="en-US" sz="3000" dirty="0">
                <a:solidFill>
                  <a:srgbClr val="FFFFFF"/>
                </a:solidFill>
                <a:latin typeface="Montserrat"/>
                <a:ea typeface="Montserrat"/>
                <a:cs typeface="Montserrat"/>
                <a:sym typeface="Montserrat"/>
              </a:rPr>
              <a:t> stakeholders to keep them informed of our progress and any potential issues.</a:t>
            </a:r>
          </a:p>
          <a:p>
            <a:pPr algn="just">
              <a:lnSpc>
                <a:spcPts val="4200"/>
              </a:lnSpc>
            </a:pPr>
            <a:r>
              <a:rPr lang="en-US" sz="3000" dirty="0">
                <a:solidFill>
                  <a:srgbClr val="FF5757"/>
                </a:solidFill>
                <a:latin typeface="Montserrat"/>
                <a:ea typeface="Montserrat"/>
                <a:cs typeface="Montserrat"/>
                <a:sym typeface="Montserrat"/>
              </a:rPr>
              <a:t>By taking these steps, we successfully completed</a:t>
            </a:r>
            <a:r>
              <a:rPr lang="en-US" sz="3000" dirty="0">
                <a:solidFill>
                  <a:srgbClr val="FFFFFF"/>
                </a:solidFill>
                <a:latin typeface="Montserrat"/>
                <a:ea typeface="Montserrat"/>
                <a:cs typeface="Montserrat"/>
                <a:sym typeface="Montserrat"/>
              </a:rPr>
              <a:t> the migration without any data loss or significant downtime. The phased approach allowed us to address issues early, and stakeholders appreciated the transparency throughout the process. This experience taught me valuable lessons in risk management and the importance of thorough planning.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11088801"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SENTENCE STRUCTURE TEMPLATES</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956035" y="1885110"/>
            <a:ext cx="16375930" cy="7982942"/>
          </a:xfrm>
          <a:prstGeom prst="rect">
            <a:avLst/>
          </a:prstGeom>
        </p:spPr>
        <p:txBody>
          <a:bodyPr lIns="0" tIns="0" rIns="0" bIns="0" rtlCol="0" anchor="t">
            <a:spAutoFit/>
          </a:bodyPr>
          <a:lstStyle/>
          <a:p>
            <a:pPr algn="l">
              <a:lnSpc>
                <a:spcPts val="4200"/>
              </a:lnSpc>
            </a:pPr>
            <a:r>
              <a:rPr lang="en-US" sz="3000" b="1" dirty="0">
                <a:solidFill>
                  <a:srgbClr val="3EDAD8"/>
                </a:solidFill>
                <a:latin typeface="Montserrat Bold"/>
                <a:ea typeface="Montserrat Bold"/>
                <a:cs typeface="Montserrat Bold"/>
                <a:sym typeface="Montserrat Bold"/>
              </a:rPr>
              <a:t>Situation</a:t>
            </a:r>
          </a:p>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While working on </a:t>
            </a:r>
            <a:r>
              <a:rPr lang="en-US" sz="3000" dirty="0">
                <a:solidFill>
                  <a:srgbClr val="95C740"/>
                </a:solidFill>
                <a:latin typeface="Montserrat"/>
                <a:ea typeface="Montserrat"/>
                <a:cs typeface="Montserrat"/>
                <a:sym typeface="Montserrat"/>
              </a:rPr>
              <a:t>[your role]</a:t>
            </a:r>
            <a:r>
              <a:rPr lang="en-US" sz="3000" dirty="0">
                <a:solidFill>
                  <a:srgbClr val="FFFFFF"/>
                </a:solidFill>
                <a:latin typeface="Montserrat"/>
                <a:ea typeface="Montserrat"/>
                <a:cs typeface="Montserrat"/>
                <a:sym typeface="Montserrat"/>
              </a:rPr>
              <a:t> at XYZ, we/I faced risks related to </a:t>
            </a:r>
            <a:r>
              <a:rPr lang="en-US" sz="3000" dirty="0">
                <a:solidFill>
                  <a:srgbClr val="95C740"/>
                </a:solidFill>
                <a:latin typeface="Montserrat"/>
                <a:ea typeface="Montserrat"/>
                <a:cs typeface="Montserrat"/>
                <a:sym typeface="Montserrat"/>
              </a:rPr>
              <a:t>[problems]</a:t>
            </a:r>
          </a:p>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During my time at XYZ, there was a time we/ I had struggled with </a:t>
            </a:r>
            <a:r>
              <a:rPr lang="en-US" sz="3000" dirty="0">
                <a:solidFill>
                  <a:srgbClr val="95C740"/>
                </a:solidFill>
                <a:latin typeface="Montserrat"/>
                <a:ea typeface="Montserrat"/>
                <a:cs typeface="Montserrat"/>
                <a:sym typeface="Montserrat"/>
              </a:rPr>
              <a:t>[problems]</a:t>
            </a:r>
          </a:p>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In a recent </a:t>
            </a:r>
            <a:r>
              <a:rPr lang="en-US" sz="3000" dirty="0">
                <a:solidFill>
                  <a:srgbClr val="95C740"/>
                </a:solidFill>
                <a:latin typeface="Montserrat"/>
                <a:ea typeface="Montserrat"/>
                <a:cs typeface="Montserrat"/>
                <a:sym typeface="Montserrat"/>
              </a:rPr>
              <a:t>[name project]</a:t>
            </a:r>
            <a:r>
              <a:rPr lang="en-US" sz="3000" dirty="0">
                <a:solidFill>
                  <a:srgbClr val="FFFFFF"/>
                </a:solidFill>
                <a:latin typeface="Montserrat"/>
                <a:ea typeface="Montserrat"/>
                <a:cs typeface="Montserrat"/>
                <a:sym typeface="Montserrat"/>
              </a:rPr>
              <a:t> project, we faced </a:t>
            </a:r>
            <a:r>
              <a:rPr lang="en-US" sz="3000" dirty="0">
                <a:solidFill>
                  <a:srgbClr val="95C740"/>
                </a:solidFill>
                <a:latin typeface="Montserrat"/>
                <a:ea typeface="Montserrat"/>
                <a:cs typeface="Montserrat"/>
                <a:sym typeface="Montserrat"/>
              </a:rPr>
              <a:t>[problems]</a:t>
            </a:r>
            <a:r>
              <a:rPr lang="en-US" sz="3000" dirty="0">
                <a:solidFill>
                  <a:srgbClr val="FFFFFF"/>
                </a:solidFill>
                <a:latin typeface="Montserrat"/>
                <a:ea typeface="Montserrat"/>
                <a:cs typeface="Montserrat"/>
                <a:sym typeface="Montserrat"/>
              </a:rPr>
              <a:t> risks related to</a:t>
            </a:r>
          </a:p>
          <a:p>
            <a:pPr algn="l">
              <a:lnSpc>
                <a:spcPts val="4200"/>
              </a:lnSpc>
            </a:pPr>
            <a:r>
              <a:rPr lang="en-US" sz="3000" b="1" dirty="0">
                <a:solidFill>
                  <a:srgbClr val="CB6CE6"/>
                </a:solidFill>
                <a:latin typeface="Montserrat Bold"/>
                <a:ea typeface="Montserrat Bold"/>
                <a:cs typeface="Montserrat Bold"/>
                <a:sym typeface="Montserrat Bold"/>
              </a:rPr>
              <a:t>Task &amp; Actions</a:t>
            </a:r>
          </a:p>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I initiated a thorough requirements - gathering </a:t>
            </a:r>
            <a:r>
              <a:rPr lang="en-US" sz="3000" dirty="0">
                <a:solidFill>
                  <a:srgbClr val="95C740"/>
                </a:solidFill>
                <a:latin typeface="Montserrat"/>
                <a:ea typeface="Montserrat"/>
                <a:cs typeface="Montserrat"/>
                <a:sym typeface="Montserrat"/>
              </a:rPr>
              <a:t>[information/ things need to complete the task]</a:t>
            </a:r>
          </a:p>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Additionally, I conducted </a:t>
            </a:r>
            <a:r>
              <a:rPr lang="en-US" sz="3000" dirty="0">
                <a:solidFill>
                  <a:srgbClr val="95C740"/>
                </a:solidFill>
                <a:latin typeface="Montserrat"/>
                <a:ea typeface="Montserrat"/>
                <a:cs typeface="Montserrat"/>
                <a:sym typeface="Montserrat"/>
              </a:rPr>
              <a:t>[actions/steps]</a:t>
            </a:r>
          </a:p>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To mitigate this risk, I </a:t>
            </a:r>
            <a:r>
              <a:rPr lang="en-US" sz="3000" dirty="0">
                <a:solidFill>
                  <a:srgbClr val="95C740"/>
                </a:solidFill>
                <a:latin typeface="Montserrat"/>
                <a:ea typeface="Montserrat"/>
                <a:cs typeface="Montserrat"/>
                <a:sym typeface="Montserrat"/>
              </a:rPr>
              <a:t>[actions]</a:t>
            </a:r>
          </a:p>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To manage these risks, I collaborated with </a:t>
            </a:r>
            <a:r>
              <a:rPr lang="en-US" sz="3000" dirty="0">
                <a:solidFill>
                  <a:srgbClr val="95C740"/>
                </a:solidFill>
                <a:latin typeface="Montserrat"/>
                <a:ea typeface="Montserrat"/>
                <a:cs typeface="Montserrat"/>
                <a:sym typeface="Montserrat"/>
              </a:rPr>
              <a:t>[people you worked with]</a:t>
            </a:r>
          </a:p>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We identified potential issues and developed a mitigation plan that included </a:t>
            </a:r>
            <a:r>
              <a:rPr lang="en-US" sz="3000" dirty="0">
                <a:solidFill>
                  <a:srgbClr val="95C740"/>
                </a:solidFill>
                <a:latin typeface="Montserrat"/>
                <a:ea typeface="Montserrat"/>
                <a:cs typeface="Montserrat"/>
                <a:sym typeface="Montserrat"/>
              </a:rPr>
              <a:t>[elements]</a:t>
            </a:r>
          </a:p>
          <a:p>
            <a:pPr algn="l">
              <a:lnSpc>
                <a:spcPts val="4200"/>
              </a:lnSpc>
            </a:pPr>
            <a:r>
              <a:rPr lang="en-US" sz="3000" b="1" dirty="0">
                <a:solidFill>
                  <a:srgbClr val="C6A237"/>
                </a:solidFill>
                <a:latin typeface="Montserrat Bold"/>
                <a:ea typeface="Montserrat Bold"/>
                <a:cs typeface="Montserrat Bold"/>
                <a:sym typeface="Montserrat Bold"/>
              </a:rPr>
              <a:t>Results</a:t>
            </a:r>
          </a:p>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This proactive approach not only ....................................but also ...............................</a:t>
            </a:r>
          </a:p>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By taking these steps, we successfully completed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1761684" y="540225"/>
            <a:ext cx="15872588" cy="596331"/>
          </a:xfrm>
          <a:prstGeom prst="rect">
            <a:avLst/>
          </a:prstGeom>
        </p:spPr>
        <p:txBody>
          <a:bodyPr lIns="0" tIns="0" rIns="0" bIns="0" rtlCol="0" anchor="t">
            <a:spAutoFit/>
          </a:bodyPr>
          <a:lstStyle/>
          <a:p>
            <a:pPr algn="just">
              <a:lnSpc>
                <a:spcPts val="4620"/>
              </a:lnSpc>
            </a:pPr>
            <a:r>
              <a:rPr lang="en-US" sz="4200" b="1">
                <a:solidFill>
                  <a:srgbClr val="00B9EF"/>
                </a:solidFill>
                <a:latin typeface="Montserrat Bold"/>
                <a:ea typeface="Montserrat Bold"/>
                <a:cs typeface="Montserrat Bold"/>
                <a:sym typeface="Montserrat Bold"/>
              </a:rPr>
              <a:t>Variations of “How have you managed risk in a project?”</a:t>
            </a:r>
          </a:p>
        </p:txBody>
      </p:sp>
      <p:sp>
        <p:nvSpPr>
          <p:cNvPr id="3" name="Freeform 3"/>
          <p:cNvSpPr/>
          <p:nvPr/>
        </p:nvSpPr>
        <p:spPr>
          <a:xfrm>
            <a:off x="467974" y="569526"/>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028700" y="2505372"/>
            <a:ext cx="16698574" cy="5152827"/>
          </a:xfrm>
          <a:prstGeom prst="rect">
            <a:avLst/>
          </a:prstGeom>
        </p:spPr>
        <p:txBody>
          <a:bodyPr lIns="0" tIns="0" rIns="0" bIns="0" rtlCol="0" anchor="t">
            <a:spAutoFit/>
          </a:bodyPr>
          <a:lstStyle/>
          <a:p>
            <a:pPr marL="647700" lvl="1" indent="-323850" algn="l">
              <a:lnSpc>
                <a:spcPts val="6900"/>
              </a:lnSpc>
              <a:buFont typeface="Arial"/>
              <a:buChar char="•"/>
            </a:pPr>
            <a:r>
              <a:rPr lang="en-US" sz="3000">
                <a:solidFill>
                  <a:srgbClr val="FFFFFF"/>
                </a:solidFill>
                <a:latin typeface="Montserrat"/>
                <a:ea typeface="Montserrat"/>
                <a:cs typeface="Montserrat"/>
                <a:sym typeface="Montserrat"/>
              </a:rPr>
              <a:t>How do you identify and assess risks in a new project? </a:t>
            </a:r>
          </a:p>
          <a:p>
            <a:pPr marL="647700" lvl="1" indent="-323850" algn="l">
              <a:lnSpc>
                <a:spcPts val="6900"/>
              </a:lnSpc>
              <a:buFont typeface="Arial"/>
              <a:buChar char="•"/>
            </a:pPr>
            <a:r>
              <a:rPr lang="en-US" sz="3000">
                <a:solidFill>
                  <a:srgbClr val="FFFFFF"/>
                </a:solidFill>
                <a:latin typeface="Montserrat"/>
                <a:ea typeface="Montserrat"/>
                <a:cs typeface="Montserrat"/>
                <a:sym typeface="Montserrat"/>
              </a:rPr>
              <a:t>Can you describe a time when you had to manage a significant risk that threatened project success?</a:t>
            </a:r>
          </a:p>
          <a:p>
            <a:pPr marL="647700" lvl="1" indent="-323850" algn="l">
              <a:lnSpc>
                <a:spcPts val="6900"/>
              </a:lnSpc>
              <a:buFont typeface="Arial"/>
              <a:buChar char="•"/>
            </a:pPr>
            <a:r>
              <a:rPr lang="en-US" sz="3000">
                <a:solidFill>
                  <a:srgbClr val="FFFFFF"/>
                </a:solidFill>
                <a:latin typeface="Montserrat"/>
                <a:ea typeface="Montserrat"/>
                <a:cs typeface="Montserrat"/>
                <a:sym typeface="Montserrat"/>
              </a:rPr>
              <a:t>Describe your process for creating a risk management plan for a new project</a:t>
            </a:r>
          </a:p>
          <a:p>
            <a:pPr marL="647700" lvl="1" indent="-323850" algn="l">
              <a:lnSpc>
                <a:spcPts val="6900"/>
              </a:lnSpc>
              <a:buFont typeface="Arial"/>
              <a:buChar char="•"/>
            </a:pPr>
            <a:r>
              <a:rPr lang="en-US" sz="3000">
                <a:solidFill>
                  <a:srgbClr val="FFFFFF"/>
                </a:solidFill>
                <a:latin typeface="Montserrat"/>
                <a:ea typeface="Montserrat"/>
                <a:cs typeface="Montserrat"/>
                <a:sym typeface="Montserrat"/>
              </a:rPr>
              <a:t>How do you assess and address risks when working on a project?</a:t>
            </a:r>
          </a:p>
          <a:p>
            <a:pPr marL="647700" lvl="1" indent="-323850" algn="l">
              <a:lnSpc>
                <a:spcPts val="6900"/>
              </a:lnSpc>
              <a:buFont typeface="Arial"/>
              <a:buChar char="•"/>
            </a:pPr>
            <a:r>
              <a:rPr lang="en-US" sz="3000">
                <a:solidFill>
                  <a:srgbClr val="FFFFFF"/>
                </a:solidFill>
                <a:latin typeface="Montserrat"/>
                <a:ea typeface="Montserrat"/>
                <a:cs typeface="Montserrat"/>
                <a:sym typeface="Montserrat"/>
              </a:rPr>
              <a:t>Can you share an experience where you successfully managed risks in a project?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6188994" y="7365830"/>
            <a:ext cx="6120792" cy="1406591"/>
          </a:xfrm>
          <a:prstGeom prst="rect">
            <a:avLst/>
          </a:prstGeom>
        </p:spPr>
        <p:txBody>
          <a:bodyPr lIns="0" tIns="0" rIns="0" bIns="0" rtlCol="0" anchor="t">
            <a:spAutoFit/>
          </a:bodyPr>
          <a:lstStyle/>
          <a:p>
            <a:pPr algn="ctr">
              <a:lnSpc>
                <a:spcPts val="5500"/>
              </a:lnSpc>
            </a:pPr>
            <a:r>
              <a:rPr lang="en-US" sz="5000" b="1">
                <a:solidFill>
                  <a:srgbClr val="00B9EF"/>
                </a:solidFill>
                <a:latin typeface="Montserrat Bold"/>
                <a:ea typeface="Montserrat Bold"/>
                <a:cs typeface="Montserrat Bold"/>
                <a:sym typeface="Montserrat Bold"/>
              </a:rPr>
              <a:t>BRAINSTORMING</a:t>
            </a:r>
          </a:p>
          <a:p>
            <a:pPr algn="ctr">
              <a:lnSpc>
                <a:spcPts val="5500"/>
              </a:lnSpc>
            </a:pPr>
            <a:r>
              <a:rPr lang="en-US" sz="5000" b="1">
                <a:solidFill>
                  <a:srgbClr val="00B9EF"/>
                </a:solidFill>
                <a:latin typeface="Montserrat Bold"/>
                <a:ea typeface="Montserrat Bold"/>
                <a:cs typeface="Montserrat Bold"/>
                <a:sym typeface="Montserrat Bold"/>
              </a:rPr>
              <a:t>Writing Time</a:t>
            </a:r>
          </a:p>
        </p:txBody>
      </p:sp>
      <p:sp>
        <p:nvSpPr>
          <p:cNvPr id="3" name="Freeform 3"/>
          <p:cNvSpPr/>
          <p:nvPr/>
        </p:nvSpPr>
        <p:spPr>
          <a:xfrm>
            <a:off x="6935311" y="2505665"/>
            <a:ext cx="4417378" cy="4411856"/>
          </a:xfrm>
          <a:custGeom>
            <a:avLst/>
            <a:gdLst/>
            <a:ahLst/>
            <a:cxnLst/>
            <a:rect l="l" t="t" r="r" b="b"/>
            <a:pathLst>
              <a:path w="4417378" h="4411856">
                <a:moveTo>
                  <a:pt x="0" y="0"/>
                </a:moveTo>
                <a:lnTo>
                  <a:pt x="4417378" y="0"/>
                </a:lnTo>
                <a:lnTo>
                  <a:pt x="4417378" y="4411856"/>
                </a:lnTo>
                <a:lnTo>
                  <a:pt x="0" y="4411856"/>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grpSp>
        <p:nvGrpSpPr>
          <p:cNvPr id="2" name="Group 2"/>
          <p:cNvGrpSpPr/>
          <p:nvPr/>
        </p:nvGrpSpPr>
        <p:grpSpPr>
          <a:xfrm>
            <a:off x="1450453" y="2147062"/>
            <a:ext cx="795045" cy="795045"/>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5E8C2"/>
            </a:solidFill>
          </p:spPr>
          <p:txBody>
            <a:bodyPr/>
            <a:lstStyle/>
            <a:p>
              <a:endParaRPr lang="en-US"/>
            </a:p>
          </p:txBody>
        </p:sp>
      </p:grpSp>
      <p:sp>
        <p:nvSpPr>
          <p:cNvPr id="4" name="Freeform 4"/>
          <p:cNvSpPr/>
          <p:nvPr/>
        </p:nvSpPr>
        <p:spPr>
          <a:xfrm>
            <a:off x="4784229" y="330603"/>
            <a:ext cx="819801" cy="995343"/>
          </a:xfrm>
          <a:custGeom>
            <a:avLst/>
            <a:gdLst/>
            <a:ahLst/>
            <a:cxnLst/>
            <a:rect l="l" t="t" r="r" b="b"/>
            <a:pathLst>
              <a:path w="819801" h="995343">
                <a:moveTo>
                  <a:pt x="0" y="0"/>
                </a:moveTo>
                <a:lnTo>
                  <a:pt x="819801" y="0"/>
                </a:lnTo>
                <a:lnTo>
                  <a:pt x="819801" y="995343"/>
                </a:lnTo>
                <a:lnTo>
                  <a:pt x="0" y="9953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2610598" y="2242511"/>
            <a:ext cx="14412163" cy="1210524"/>
          </a:xfrm>
          <a:prstGeom prst="rect">
            <a:avLst/>
          </a:prstGeom>
        </p:spPr>
        <p:txBody>
          <a:bodyPr lIns="0" tIns="0" rIns="0" bIns="0" rtlCol="0" anchor="t">
            <a:spAutoFit/>
          </a:bodyPr>
          <a:lstStyle/>
          <a:p>
            <a:pPr algn="l">
              <a:lnSpc>
                <a:spcPts val="4899"/>
              </a:lnSpc>
            </a:pPr>
            <a:r>
              <a:rPr lang="en-US" sz="3499" b="1" dirty="0">
                <a:solidFill>
                  <a:srgbClr val="FFFFFF"/>
                </a:solidFill>
                <a:latin typeface="Montserrat Bold"/>
                <a:ea typeface="Montserrat Bold"/>
                <a:cs typeface="Montserrat Bold"/>
                <a:sym typeface="Montserrat Bold"/>
              </a:rPr>
              <a:t>Tell me about a tough decision you made quickly during a project</a:t>
            </a:r>
          </a:p>
        </p:txBody>
      </p:sp>
      <p:sp>
        <p:nvSpPr>
          <p:cNvPr id="6" name="TextBox 6"/>
          <p:cNvSpPr txBox="1"/>
          <p:nvPr/>
        </p:nvSpPr>
        <p:spPr>
          <a:xfrm>
            <a:off x="5604030" y="549159"/>
            <a:ext cx="7116559" cy="596331"/>
          </a:xfrm>
          <a:prstGeom prst="rect">
            <a:avLst/>
          </a:prstGeom>
        </p:spPr>
        <p:txBody>
          <a:bodyPr lIns="0" tIns="0" rIns="0" bIns="0" rtlCol="0" anchor="t">
            <a:spAutoFit/>
          </a:bodyPr>
          <a:lstStyle/>
          <a:p>
            <a:pPr algn="ctr">
              <a:lnSpc>
                <a:spcPts val="4620"/>
              </a:lnSpc>
            </a:pPr>
            <a:r>
              <a:rPr lang="en-US" sz="4200">
                <a:solidFill>
                  <a:srgbClr val="00B9EF"/>
                </a:solidFill>
                <a:latin typeface="Poppins Bold"/>
                <a:ea typeface="Poppins Bold"/>
                <a:cs typeface="Poppins Bold"/>
                <a:sym typeface="Poppins Bold"/>
              </a:rPr>
              <a:t>ANALYZING QUESTIONS</a:t>
            </a:r>
          </a:p>
        </p:txBody>
      </p:sp>
      <p:sp>
        <p:nvSpPr>
          <p:cNvPr id="7" name="TextBox 7"/>
          <p:cNvSpPr txBox="1"/>
          <p:nvPr/>
        </p:nvSpPr>
        <p:spPr>
          <a:xfrm>
            <a:off x="1450453" y="2230641"/>
            <a:ext cx="795045" cy="608772"/>
          </a:xfrm>
          <a:prstGeom prst="rect">
            <a:avLst/>
          </a:prstGeom>
        </p:spPr>
        <p:txBody>
          <a:bodyPr lIns="0" tIns="0" rIns="0" bIns="0" rtlCol="0" anchor="t">
            <a:spAutoFit/>
          </a:bodyPr>
          <a:lstStyle/>
          <a:p>
            <a:pPr algn="ctr">
              <a:lnSpc>
                <a:spcPts val="4836"/>
              </a:lnSpc>
            </a:pPr>
            <a:r>
              <a:rPr lang="en-US" sz="3900">
                <a:solidFill>
                  <a:srgbClr val="900EED"/>
                </a:solidFill>
                <a:latin typeface="Poppins Bold"/>
                <a:ea typeface="Poppins Bold"/>
                <a:cs typeface="Poppins Bold"/>
                <a:sym typeface="Poppins Bold"/>
              </a:rPr>
              <a:t>2</a:t>
            </a:r>
          </a:p>
        </p:txBody>
      </p:sp>
      <p:sp>
        <p:nvSpPr>
          <p:cNvPr id="8" name="Freeform 8"/>
          <p:cNvSpPr/>
          <p:nvPr/>
        </p:nvSpPr>
        <p:spPr>
          <a:xfrm rot="5400000">
            <a:off x="3665648" y="4421182"/>
            <a:ext cx="1943694" cy="587967"/>
          </a:xfrm>
          <a:custGeom>
            <a:avLst/>
            <a:gdLst/>
            <a:ahLst/>
            <a:cxnLst/>
            <a:rect l="l" t="t" r="r" b="b"/>
            <a:pathLst>
              <a:path w="1943694" h="587967">
                <a:moveTo>
                  <a:pt x="0" y="0"/>
                </a:moveTo>
                <a:lnTo>
                  <a:pt x="1943694" y="0"/>
                </a:lnTo>
                <a:lnTo>
                  <a:pt x="1943694" y="587967"/>
                </a:lnTo>
                <a:lnTo>
                  <a:pt x="0" y="5879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TextBox 9"/>
          <p:cNvSpPr txBox="1"/>
          <p:nvPr/>
        </p:nvSpPr>
        <p:spPr>
          <a:xfrm>
            <a:off x="1741017" y="6294964"/>
            <a:ext cx="6086425" cy="2104694"/>
          </a:xfrm>
          <a:prstGeom prst="rect">
            <a:avLst/>
          </a:prstGeom>
        </p:spPr>
        <p:txBody>
          <a:bodyPr lIns="0" tIns="0" rIns="0" bIns="0" rtlCol="0" anchor="t">
            <a:spAutoFit/>
          </a:bodyPr>
          <a:lstStyle/>
          <a:p>
            <a:pPr algn="ctr">
              <a:lnSpc>
                <a:spcPts val="3300"/>
              </a:lnSpc>
              <a:spcBef>
                <a:spcPct val="0"/>
              </a:spcBef>
            </a:pPr>
            <a:r>
              <a:rPr lang="en-US" sz="3000" dirty="0">
                <a:solidFill>
                  <a:srgbClr val="FFFFFF"/>
                </a:solidFill>
                <a:latin typeface="Montserrat"/>
                <a:ea typeface="Montserrat"/>
                <a:cs typeface="Montserrat"/>
                <a:sym typeface="Montserrat"/>
              </a:rPr>
              <a:t>They want to get a handle on how you might handle a difficult decision at the company you're interviewing for.</a:t>
            </a:r>
          </a:p>
        </p:txBody>
      </p:sp>
      <p:sp>
        <p:nvSpPr>
          <p:cNvPr id="10" name="Freeform 10"/>
          <p:cNvSpPr/>
          <p:nvPr/>
        </p:nvSpPr>
        <p:spPr>
          <a:xfrm rot="5400000">
            <a:off x="11454758" y="4111105"/>
            <a:ext cx="1943694" cy="587967"/>
          </a:xfrm>
          <a:custGeom>
            <a:avLst/>
            <a:gdLst/>
            <a:ahLst/>
            <a:cxnLst/>
            <a:rect l="l" t="t" r="r" b="b"/>
            <a:pathLst>
              <a:path w="1943694" h="587967">
                <a:moveTo>
                  <a:pt x="0" y="0"/>
                </a:moveTo>
                <a:lnTo>
                  <a:pt x="1943694" y="0"/>
                </a:lnTo>
                <a:lnTo>
                  <a:pt x="1943694" y="587967"/>
                </a:lnTo>
                <a:lnTo>
                  <a:pt x="0" y="5879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TextBox 11"/>
          <p:cNvSpPr txBox="1"/>
          <p:nvPr/>
        </p:nvSpPr>
        <p:spPr>
          <a:xfrm>
            <a:off x="9580977" y="6294964"/>
            <a:ext cx="5691256" cy="1266627"/>
          </a:xfrm>
          <a:prstGeom prst="rect">
            <a:avLst/>
          </a:prstGeom>
        </p:spPr>
        <p:txBody>
          <a:bodyPr lIns="0" tIns="0" rIns="0" bIns="0" rtlCol="0" anchor="t">
            <a:spAutoFit/>
          </a:bodyPr>
          <a:lstStyle/>
          <a:p>
            <a:pPr algn="ctr">
              <a:lnSpc>
                <a:spcPts val="3300"/>
              </a:lnSpc>
              <a:spcBef>
                <a:spcPct val="0"/>
              </a:spcBef>
            </a:pPr>
            <a:r>
              <a:rPr lang="en-US" sz="3000" dirty="0">
                <a:solidFill>
                  <a:srgbClr val="FFFFFF"/>
                </a:solidFill>
                <a:latin typeface="Montserrat"/>
                <a:ea typeface="Montserrat"/>
                <a:cs typeface="Montserrat"/>
                <a:sym typeface="Montserrat"/>
              </a:rPr>
              <a:t>They also want to get a feel for how strong your critical thinking skills 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animBg="1"/>
      <p:bldP spid="9" grpId="0"/>
      <p:bldP spid="10" grpId="0" animBg="1"/>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Freeform 2"/>
          <p:cNvSpPr/>
          <p:nvPr/>
        </p:nvSpPr>
        <p:spPr>
          <a:xfrm>
            <a:off x="17915017" y="9914017"/>
            <a:ext cx="745965" cy="607962"/>
          </a:xfrm>
          <a:custGeom>
            <a:avLst/>
            <a:gdLst/>
            <a:ahLst/>
            <a:cxnLst/>
            <a:rect l="l" t="t" r="r" b="b"/>
            <a:pathLst>
              <a:path w="745965" h="607962">
                <a:moveTo>
                  <a:pt x="0" y="0"/>
                </a:moveTo>
                <a:lnTo>
                  <a:pt x="745966" y="0"/>
                </a:lnTo>
                <a:lnTo>
                  <a:pt x="745966" y="607962"/>
                </a:lnTo>
                <a:lnTo>
                  <a:pt x="0" y="6079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7251372" y="2580614"/>
            <a:ext cx="3814224" cy="3814224"/>
            <a:chOff x="0" y="0"/>
            <a:chExt cx="5085632" cy="5085632"/>
          </a:xfrm>
        </p:grpSpPr>
        <p:grpSp>
          <p:nvGrpSpPr>
            <p:cNvPr id="4" name="Group 4"/>
            <p:cNvGrpSpPr/>
            <p:nvPr/>
          </p:nvGrpSpPr>
          <p:grpSpPr>
            <a:xfrm>
              <a:off x="0" y="0"/>
              <a:ext cx="5085632" cy="5085632"/>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B6CE6"/>
              </a:solidFill>
            </p:spPr>
            <p:txBody>
              <a:bodyPr/>
              <a:lstStyle/>
              <a:p>
                <a:endParaRPr lang="en-US"/>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469758" y="592452"/>
              <a:ext cx="4146117" cy="3816285"/>
              <a:chOff x="0" y="0"/>
              <a:chExt cx="883048" cy="812800"/>
            </a:xfrm>
          </p:grpSpPr>
          <p:sp>
            <p:nvSpPr>
              <p:cNvPr id="8" name="Freeform 8"/>
              <p:cNvSpPr/>
              <p:nvPr/>
            </p:nvSpPr>
            <p:spPr>
              <a:xfrm>
                <a:off x="0" y="0"/>
                <a:ext cx="883048" cy="812800"/>
              </a:xfrm>
              <a:custGeom>
                <a:avLst/>
                <a:gdLst/>
                <a:ahLst/>
                <a:cxnLst/>
                <a:rect l="l" t="t" r="r" b="b"/>
                <a:pathLst>
                  <a:path w="883048" h="812800">
                    <a:moveTo>
                      <a:pt x="441524" y="0"/>
                    </a:moveTo>
                    <a:cubicBezTo>
                      <a:pt x="197677" y="0"/>
                      <a:pt x="0" y="181951"/>
                      <a:pt x="0" y="406400"/>
                    </a:cubicBezTo>
                    <a:cubicBezTo>
                      <a:pt x="0" y="630849"/>
                      <a:pt x="197677" y="812800"/>
                      <a:pt x="441524" y="812800"/>
                    </a:cubicBezTo>
                    <a:cubicBezTo>
                      <a:pt x="685371" y="812800"/>
                      <a:pt x="883048" y="630849"/>
                      <a:pt x="883048" y="406400"/>
                    </a:cubicBezTo>
                    <a:cubicBezTo>
                      <a:pt x="883048" y="181951"/>
                      <a:pt x="685371" y="0"/>
                      <a:pt x="441524" y="0"/>
                    </a:cubicBezTo>
                    <a:close/>
                  </a:path>
                </a:pathLst>
              </a:custGeom>
              <a:solidFill>
                <a:srgbClr val="E7E7E7"/>
              </a:solidFill>
            </p:spPr>
            <p:txBody>
              <a:bodyPr/>
              <a:lstStyle/>
              <a:p>
                <a:endParaRPr lang="en-US"/>
              </a:p>
            </p:txBody>
          </p:sp>
          <p:sp>
            <p:nvSpPr>
              <p:cNvPr id="9" name="TextBox 9"/>
              <p:cNvSpPr txBox="1"/>
              <p:nvPr/>
            </p:nvSpPr>
            <p:spPr>
              <a:xfrm>
                <a:off x="82786" y="38100"/>
                <a:ext cx="717477" cy="698500"/>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503565" y="1689376"/>
              <a:ext cx="4270813" cy="1820157"/>
            </a:xfrm>
            <a:prstGeom prst="rect">
              <a:avLst/>
            </a:prstGeom>
          </p:spPr>
          <p:txBody>
            <a:bodyPr lIns="0" tIns="0" rIns="0" bIns="0" rtlCol="0" anchor="t">
              <a:spAutoFit/>
            </a:bodyPr>
            <a:lstStyle/>
            <a:p>
              <a:pPr algn="ctr">
                <a:lnSpc>
                  <a:spcPts val="5599"/>
                </a:lnSpc>
              </a:pPr>
              <a:r>
                <a:rPr lang="en-US" sz="3999" b="1" spc="19">
                  <a:solidFill>
                    <a:srgbClr val="95C740"/>
                  </a:solidFill>
                  <a:latin typeface="Inter Bold"/>
                  <a:ea typeface="Inter Bold"/>
                  <a:cs typeface="Inter Bold"/>
                  <a:sym typeface="Inter Bold"/>
                </a:rPr>
                <a:t>P</a:t>
              </a:r>
              <a:r>
                <a:rPr lang="en-US" sz="3999" b="1" spc="19">
                  <a:solidFill>
                    <a:srgbClr val="CB6CE6"/>
                  </a:solidFill>
                  <a:latin typeface="Inter Bold"/>
                  <a:ea typeface="Inter Bold"/>
                  <a:cs typeface="Inter Bold"/>
                  <a:sym typeface="Inter Bold"/>
                </a:rPr>
                <a:t>A</a:t>
              </a:r>
              <a:r>
                <a:rPr lang="en-US" sz="3999" b="1" spc="19">
                  <a:solidFill>
                    <a:srgbClr val="C6A237"/>
                  </a:solidFill>
                  <a:latin typeface="Inter Bold"/>
                  <a:ea typeface="Inter Bold"/>
                  <a:cs typeface="Inter Bold"/>
                  <a:sym typeface="Inter Bold"/>
                </a:rPr>
                <a:t>R/ </a:t>
              </a:r>
              <a:r>
                <a:rPr lang="en-US" sz="3999" b="1" spc="19">
                  <a:solidFill>
                    <a:srgbClr val="FF5757"/>
                  </a:solidFill>
                  <a:latin typeface="Inter Bold"/>
                  <a:ea typeface="Inter Bold"/>
                  <a:cs typeface="Inter Bold"/>
                  <a:sym typeface="Inter Bold"/>
                </a:rPr>
                <a:t>S</a:t>
              </a:r>
              <a:r>
                <a:rPr lang="en-US" sz="3999" b="1" spc="19">
                  <a:solidFill>
                    <a:srgbClr val="95C740"/>
                  </a:solidFill>
                  <a:latin typeface="Inter Bold"/>
                  <a:ea typeface="Inter Bold"/>
                  <a:cs typeface="Inter Bold"/>
                  <a:sym typeface="Inter Bold"/>
                </a:rPr>
                <a:t>T</a:t>
              </a:r>
              <a:r>
                <a:rPr lang="en-US" sz="3999" b="1" spc="19">
                  <a:solidFill>
                    <a:srgbClr val="CB6CE6"/>
                  </a:solidFill>
                  <a:latin typeface="Inter Bold"/>
                  <a:ea typeface="Inter Bold"/>
                  <a:cs typeface="Inter Bold"/>
                  <a:sym typeface="Inter Bold"/>
                </a:rPr>
                <a:t>A</a:t>
              </a:r>
              <a:r>
                <a:rPr lang="en-US" sz="3999" b="1" spc="19">
                  <a:solidFill>
                    <a:srgbClr val="C6A237"/>
                  </a:solidFill>
                  <a:latin typeface="Inter Bold"/>
                  <a:ea typeface="Inter Bold"/>
                  <a:cs typeface="Inter Bold"/>
                  <a:sym typeface="Inter Bold"/>
                </a:rPr>
                <a:t>R</a:t>
              </a:r>
              <a:r>
                <a:rPr lang="en-US" sz="3999" b="1" spc="19">
                  <a:solidFill>
                    <a:srgbClr val="000000"/>
                  </a:solidFill>
                  <a:latin typeface="Inter Bold"/>
                  <a:ea typeface="Inter Bold"/>
                  <a:cs typeface="Inter Bold"/>
                  <a:sym typeface="Inter Bold"/>
                </a:rPr>
                <a:t> FORMAT</a:t>
              </a:r>
            </a:p>
          </p:txBody>
        </p:sp>
      </p:grpSp>
      <p:sp>
        <p:nvSpPr>
          <p:cNvPr id="11" name="Freeform 11"/>
          <p:cNvSpPr/>
          <p:nvPr/>
        </p:nvSpPr>
        <p:spPr>
          <a:xfrm rot="5400000">
            <a:off x="10598554" y="4049874"/>
            <a:ext cx="934083" cy="875703"/>
          </a:xfrm>
          <a:custGeom>
            <a:avLst/>
            <a:gdLst/>
            <a:ahLst/>
            <a:cxnLst/>
            <a:rect l="l" t="t" r="r" b="b"/>
            <a:pathLst>
              <a:path w="934083" h="875703">
                <a:moveTo>
                  <a:pt x="0" y="0"/>
                </a:moveTo>
                <a:lnTo>
                  <a:pt x="934084" y="0"/>
                </a:lnTo>
                <a:lnTo>
                  <a:pt x="934084" y="875703"/>
                </a:lnTo>
                <a:lnTo>
                  <a:pt x="0" y="8757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Freeform 12"/>
          <p:cNvSpPr/>
          <p:nvPr/>
        </p:nvSpPr>
        <p:spPr>
          <a:xfrm rot="-5400000">
            <a:off x="6784331" y="4049874"/>
            <a:ext cx="934083" cy="875703"/>
          </a:xfrm>
          <a:custGeom>
            <a:avLst/>
            <a:gdLst/>
            <a:ahLst/>
            <a:cxnLst/>
            <a:rect l="l" t="t" r="r" b="b"/>
            <a:pathLst>
              <a:path w="934083" h="875703">
                <a:moveTo>
                  <a:pt x="0" y="0"/>
                </a:moveTo>
                <a:lnTo>
                  <a:pt x="934083" y="0"/>
                </a:lnTo>
                <a:lnTo>
                  <a:pt x="934083" y="875703"/>
                </a:lnTo>
                <a:lnTo>
                  <a:pt x="0" y="8757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3" name="Freeform 13"/>
          <p:cNvSpPr/>
          <p:nvPr/>
        </p:nvSpPr>
        <p:spPr>
          <a:xfrm rot="-10800000">
            <a:off x="8691443" y="5739165"/>
            <a:ext cx="934083" cy="875703"/>
          </a:xfrm>
          <a:custGeom>
            <a:avLst/>
            <a:gdLst/>
            <a:ahLst/>
            <a:cxnLst/>
            <a:rect l="l" t="t" r="r" b="b"/>
            <a:pathLst>
              <a:path w="934083" h="875703">
                <a:moveTo>
                  <a:pt x="0" y="0"/>
                </a:moveTo>
                <a:lnTo>
                  <a:pt x="934083" y="0"/>
                </a:lnTo>
                <a:lnTo>
                  <a:pt x="934083" y="875703"/>
                </a:lnTo>
                <a:lnTo>
                  <a:pt x="0" y="87570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4" name="TextBox 14"/>
          <p:cNvSpPr txBox="1"/>
          <p:nvPr/>
        </p:nvSpPr>
        <p:spPr>
          <a:xfrm>
            <a:off x="13131465" y="4089821"/>
            <a:ext cx="4894218" cy="1271438"/>
          </a:xfrm>
          <a:prstGeom prst="rect">
            <a:avLst/>
          </a:prstGeom>
        </p:spPr>
        <p:txBody>
          <a:bodyPr lIns="0" tIns="0" rIns="0" bIns="0" rtlCol="0" anchor="t">
            <a:spAutoFit/>
          </a:bodyPr>
          <a:lstStyle/>
          <a:p>
            <a:pPr algn="l">
              <a:lnSpc>
                <a:spcPts val="3359"/>
              </a:lnSpc>
            </a:pPr>
            <a:r>
              <a:rPr lang="en-US" sz="2399" b="1" spc="11" dirty="0">
                <a:solidFill>
                  <a:srgbClr val="35A7C0"/>
                </a:solidFill>
                <a:latin typeface="Inter"/>
                <a:ea typeface="Inter"/>
                <a:cs typeface="Inter"/>
                <a:sym typeface="Inter"/>
              </a:rPr>
              <a:t>Points to Emphasize (Keep it relevant be, genuine, be concise and highlight your skills.</a:t>
            </a:r>
          </a:p>
        </p:txBody>
      </p:sp>
      <p:sp>
        <p:nvSpPr>
          <p:cNvPr id="15" name="TextBox 15"/>
          <p:cNvSpPr txBox="1"/>
          <p:nvPr/>
        </p:nvSpPr>
        <p:spPr>
          <a:xfrm>
            <a:off x="11716697" y="3915909"/>
            <a:ext cx="943881" cy="896158"/>
          </a:xfrm>
          <a:prstGeom prst="rect">
            <a:avLst/>
          </a:prstGeom>
        </p:spPr>
        <p:txBody>
          <a:bodyPr lIns="0" tIns="0" rIns="0" bIns="0" rtlCol="0" anchor="t">
            <a:spAutoFit/>
          </a:bodyPr>
          <a:lstStyle/>
          <a:p>
            <a:pPr algn="r">
              <a:lnSpc>
                <a:spcPts val="7316"/>
              </a:lnSpc>
            </a:pPr>
            <a:r>
              <a:rPr lang="en-US" sz="5226" b="1" spc="26">
                <a:solidFill>
                  <a:srgbClr val="35A7C0"/>
                </a:solidFill>
                <a:latin typeface="Inter Bold"/>
                <a:ea typeface="Inter Bold"/>
                <a:cs typeface="Inter Bold"/>
                <a:sym typeface="Inter Bold"/>
              </a:rPr>
              <a:t>02</a:t>
            </a:r>
          </a:p>
        </p:txBody>
      </p:sp>
      <p:sp>
        <p:nvSpPr>
          <p:cNvPr id="16" name="TextBox 16"/>
          <p:cNvSpPr txBox="1"/>
          <p:nvPr/>
        </p:nvSpPr>
        <p:spPr>
          <a:xfrm>
            <a:off x="5540096" y="3740802"/>
            <a:ext cx="907844" cy="857319"/>
          </a:xfrm>
          <a:prstGeom prst="rect">
            <a:avLst/>
          </a:prstGeom>
        </p:spPr>
        <p:txBody>
          <a:bodyPr lIns="0" tIns="0" rIns="0" bIns="0" rtlCol="0" anchor="t">
            <a:spAutoFit/>
          </a:bodyPr>
          <a:lstStyle/>
          <a:p>
            <a:pPr algn="just">
              <a:lnSpc>
                <a:spcPts val="7037"/>
              </a:lnSpc>
            </a:pPr>
            <a:r>
              <a:rPr lang="en-US" sz="5026" b="1" spc="25">
                <a:solidFill>
                  <a:srgbClr val="3BB8B2"/>
                </a:solidFill>
                <a:latin typeface="Inter Bold"/>
                <a:ea typeface="Inter Bold"/>
                <a:cs typeface="Inter Bold"/>
                <a:sym typeface="Inter Bold"/>
              </a:rPr>
              <a:t>01</a:t>
            </a:r>
          </a:p>
        </p:txBody>
      </p:sp>
      <p:sp>
        <p:nvSpPr>
          <p:cNvPr id="17" name="TextBox 17"/>
          <p:cNvSpPr txBox="1"/>
          <p:nvPr/>
        </p:nvSpPr>
        <p:spPr>
          <a:xfrm>
            <a:off x="574897" y="3880304"/>
            <a:ext cx="4755650" cy="1662801"/>
          </a:xfrm>
          <a:prstGeom prst="rect">
            <a:avLst/>
          </a:prstGeom>
        </p:spPr>
        <p:txBody>
          <a:bodyPr lIns="0" tIns="0" rIns="0" bIns="0" rtlCol="0" anchor="t">
            <a:spAutoFit/>
          </a:bodyPr>
          <a:lstStyle/>
          <a:p>
            <a:pPr algn="r">
              <a:lnSpc>
                <a:spcPts val="3359"/>
              </a:lnSpc>
            </a:pPr>
            <a:r>
              <a:rPr lang="en-US" sz="2399" b="1" spc="11">
                <a:solidFill>
                  <a:srgbClr val="3BB8B2"/>
                </a:solidFill>
                <a:latin typeface="Inter Bold"/>
                <a:ea typeface="Inter Bold"/>
                <a:cs typeface="Inter Bold"/>
                <a:sym typeface="Inter Bold"/>
              </a:rPr>
              <a:t>Tell them what you did, how you did it, and how your decision benefited the employer.  </a:t>
            </a:r>
          </a:p>
        </p:txBody>
      </p:sp>
      <p:sp>
        <p:nvSpPr>
          <p:cNvPr id="18" name="TextBox 18"/>
          <p:cNvSpPr txBox="1"/>
          <p:nvPr/>
        </p:nvSpPr>
        <p:spPr>
          <a:xfrm>
            <a:off x="8849193" y="6710118"/>
            <a:ext cx="908686" cy="858026"/>
          </a:xfrm>
          <a:prstGeom prst="rect">
            <a:avLst/>
          </a:prstGeom>
        </p:spPr>
        <p:txBody>
          <a:bodyPr lIns="0" tIns="0" rIns="0" bIns="0" rtlCol="0" anchor="t">
            <a:spAutoFit/>
          </a:bodyPr>
          <a:lstStyle/>
          <a:p>
            <a:pPr algn="just">
              <a:lnSpc>
                <a:spcPts val="7044"/>
              </a:lnSpc>
            </a:pPr>
            <a:r>
              <a:rPr lang="en-US" sz="5031" b="1" spc="25">
                <a:solidFill>
                  <a:srgbClr val="4A80BE"/>
                </a:solidFill>
                <a:latin typeface="Inter Bold"/>
                <a:ea typeface="Inter Bold"/>
                <a:cs typeface="Inter Bold"/>
                <a:sym typeface="Inter Bold"/>
              </a:rPr>
              <a:t>03</a:t>
            </a:r>
          </a:p>
        </p:txBody>
      </p:sp>
      <p:sp>
        <p:nvSpPr>
          <p:cNvPr id="19" name="TextBox 19"/>
          <p:cNvSpPr txBox="1"/>
          <p:nvPr/>
        </p:nvSpPr>
        <p:spPr>
          <a:xfrm>
            <a:off x="7091072" y="7986007"/>
            <a:ext cx="5068990" cy="835422"/>
          </a:xfrm>
          <a:prstGeom prst="rect">
            <a:avLst/>
          </a:prstGeom>
        </p:spPr>
        <p:txBody>
          <a:bodyPr lIns="0" tIns="0" rIns="0" bIns="0" rtlCol="0" anchor="t">
            <a:spAutoFit/>
          </a:bodyPr>
          <a:lstStyle/>
          <a:p>
            <a:pPr algn="ctr">
              <a:lnSpc>
                <a:spcPts val="3359"/>
              </a:lnSpc>
            </a:pPr>
            <a:r>
              <a:rPr lang="en-US" sz="2399" spc="11" dirty="0">
                <a:solidFill>
                  <a:srgbClr val="4A80BE"/>
                </a:solidFill>
                <a:latin typeface="Inter Bold"/>
                <a:ea typeface="Inter Bold"/>
                <a:cs typeface="Inter Bold"/>
                <a:sym typeface="Inter Bold"/>
              </a:rPr>
              <a:t>don’t go negative, don’t have a pity party, don’t get too personal </a:t>
            </a:r>
          </a:p>
        </p:txBody>
      </p:sp>
      <p:sp>
        <p:nvSpPr>
          <p:cNvPr id="20" name="AutoShape 20"/>
          <p:cNvSpPr/>
          <p:nvPr/>
        </p:nvSpPr>
        <p:spPr>
          <a:xfrm flipV="1">
            <a:off x="5540096" y="4705038"/>
            <a:ext cx="773972" cy="0"/>
          </a:xfrm>
          <a:prstGeom prst="line">
            <a:avLst/>
          </a:prstGeom>
          <a:ln w="47625" cap="flat">
            <a:solidFill>
              <a:srgbClr val="3BB8B2"/>
            </a:solidFill>
            <a:prstDash val="solid"/>
            <a:headEnd type="oval" w="lg" len="lg"/>
            <a:tailEnd type="none" w="sm" len="sm"/>
          </a:ln>
        </p:spPr>
        <p:txBody>
          <a:bodyPr/>
          <a:lstStyle/>
          <a:p>
            <a:endParaRPr lang="en-US"/>
          </a:p>
        </p:txBody>
      </p:sp>
      <p:sp>
        <p:nvSpPr>
          <p:cNvPr id="21" name="AutoShape 21"/>
          <p:cNvSpPr/>
          <p:nvPr/>
        </p:nvSpPr>
        <p:spPr>
          <a:xfrm flipV="1">
            <a:off x="8896255" y="7600244"/>
            <a:ext cx="773972" cy="0"/>
          </a:xfrm>
          <a:prstGeom prst="line">
            <a:avLst/>
          </a:prstGeom>
          <a:ln w="47625" cap="flat">
            <a:solidFill>
              <a:srgbClr val="4A80BE"/>
            </a:solidFill>
            <a:prstDash val="solid"/>
            <a:headEnd type="oval" w="lg" len="lg"/>
            <a:tailEnd type="none" w="sm" len="sm"/>
          </a:ln>
        </p:spPr>
        <p:txBody>
          <a:bodyPr/>
          <a:lstStyle/>
          <a:p>
            <a:endParaRPr lang="en-US"/>
          </a:p>
        </p:txBody>
      </p:sp>
      <p:sp>
        <p:nvSpPr>
          <p:cNvPr id="22" name="AutoShape 22"/>
          <p:cNvSpPr/>
          <p:nvPr/>
        </p:nvSpPr>
        <p:spPr>
          <a:xfrm flipH="1">
            <a:off x="11988917" y="4759330"/>
            <a:ext cx="780598" cy="0"/>
          </a:xfrm>
          <a:prstGeom prst="line">
            <a:avLst/>
          </a:prstGeom>
          <a:ln w="47625" cap="flat">
            <a:solidFill>
              <a:srgbClr val="35A7C0"/>
            </a:solidFill>
            <a:prstDash val="solid"/>
            <a:headEnd type="oval" w="lg" len="lg"/>
            <a:tailEnd type="none" w="sm" len="sm"/>
          </a:ln>
        </p:spPr>
        <p:txBody>
          <a:bodyPr/>
          <a:lstStyle/>
          <a:p>
            <a:endParaRPr lang="en-US"/>
          </a:p>
        </p:txBody>
      </p:sp>
      <p:sp>
        <p:nvSpPr>
          <p:cNvPr id="23" name="TextBox 23"/>
          <p:cNvSpPr txBox="1"/>
          <p:nvPr/>
        </p:nvSpPr>
        <p:spPr>
          <a:xfrm>
            <a:off x="5742011" y="881005"/>
            <a:ext cx="7116559" cy="596331"/>
          </a:xfrm>
          <a:prstGeom prst="rect">
            <a:avLst/>
          </a:prstGeom>
        </p:spPr>
        <p:txBody>
          <a:bodyPr lIns="0" tIns="0" rIns="0" bIns="0" rtlCol="0" anchor="t">
            <a:spAutoFit/>
          </a:bodyPr>
          <a:lstStyle/>
          <a:p>
            <a:pPr algn="ctr">
              <a:lnSpc>
                <a:spcPts val="4620"/>
              </a:lnSpc>
            </a:pPr>
            <a:r>
              <a:rPr lang="en-US" sz="4200">
                <a:solidFill>
                  <a:srgbClr val="00B9EF"/>
                </a:solidFill>
                <a:latin typeface="Poppins Bold"/>
                <a:ea typeface="Poppins Bold"/>
                <a:cs typeface="Poppins Bold"/>
                <a:sym typeface="Poppins Bold"/>
              </a:rPr>
              <a:t>STRUCTURING ANSWERS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099010" y="506074"/>
            <a:ext cx="5232025"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SAMPLE ANSWER</a:t>
            </a:r>
          </a:p>
        </p:txBody>
      </p:sp>
      <p:sp>
        <p:nvSpPr>
          <p:cNvPr id="3" name="Freeform 3"/>
          <p:cNvSpPr/>
          <p:nvPr/>
        </p:nvSpPr>
        <p:spPr>
          <a:xfrm>
            <a:off x="641992" y="22446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641992" y="1409699"/>
            <a:ext cx="16856018" cy="8716791"/>
          </a:xfrm>
          <a:prstGeom prst="rect">
            <a:avLst/>
          </a:prstGeom>
        </p:spPr>
        <p:txBody>
          <a:bodyPr lIns="0" tIns="0" rIns="0" bIns="0" rtlCol="0" anchor="t">
            <a:spAutoFit/>
          </a:bodyPr>
          <a:lstStyle/>
          <a:p>
            <a:pPr algn="just">
              <a:lnSpc>
                <a:spcPts val="4060"/>
              </a:lnSpc>
            </a:pPr>
            <a:r>
              <a:rPr lang="en-US" sz="2900" dirty="0">
                <a:solidFill>
                  <a:srgbClr val="FF5757"/>
                </a:solidFill>
                <a:latin typeface="Montserrat"/>
                <a:ea typeface="Montserrat"/>
                <a:cs typeface="Montserrat"/>
                <a:sym typeface="Montserrat"/>
              </a:rPr>
              <a:t>We had to </a:t>
            </a:r>
            <a:r>
              <a:rPr lang="en-US" sz="2900" dirty="0">
                <a:solidFill>
                  <a:srgbClr val="FFFFFF"/>
                </a:solidFill>
                <a:latin typeface="Montserrat"/>
                <a:ea typeface="Montserrat"/>
                <a:cs typeface="Montserrat"/>
                <a:sym typeface="Montserrat"/>
              </a:rPr>
              <a:t>expand the storage capacity of a Commvault server to accommodate new machines that were coming online. We planned to double the capacity of the server from 32 to 64 terabytes. </a:t>
            </a:r>
            <a:r>
              <a:rPr lang="en-US" sz="2900" dirty="0">
                <a:solidFill>
                  <a:srgbClr val="FF5757"/>
                </a:solidFill>
                <a:latin typeface="Montserrat"/>
                <a:ea typeface="Montserrat"/>
                <a:cs typeface="Montserrat"/>
                <a:sym typeface="Montserrat"/>
              </a:rPr>
              <a:t>For this</a:t>
            </a:r>
            <a:r>
              <a:rPr lang="en-US" sz="2900" dirty="0">
                <a:solidFill>
                  <a:srgbClr val="FFFFFF"/>
                </a:solidFill>
                <a:latin typeface="Montserrat"/>
                <a:ea typeface="Montserrat"/>
                <a:cs typeface="Montserrat"/>
                <a:sym typeface="Montserrat"/>
              </a:rPr>
              <a:t> upgrade, the server had to be converted to </a:t>
            </a:r>
            <a:r>
              <a:rPr lang="en-US" sz="2900" dirty="0" err="1">
                <a:solidFill>
                  <a:srgbClr val="FFFFFF"/>
                </a:solidFill>
                <a:latin typeface="Montserrat"/>
                <a:ea typeface="Montserrat"/>
                <a:cs typeface="Montserrat"/>
                <a:sym typeface="Montserrat"/>
              </a:rPr>
              <a:t>MediaAgent</a:t>
            </a:r>
            <a:r>
              <a:rPr lang="en-US" sz="2900" dirty="0">
                <a:solidFill>
                  <a:srgbClr val="FFFFFF"/>
                </a:solidFill>
                <a:latin typeface="Montserrat"/>
                <a:ea typeface="Montserrat"/>
                <a:cs typeface="Montserrat"/>
                <a:sym typeface="Montserrat"/>
              </a:rPr>
              <a:t>, a procedure that was documented and tested. </a:t>
            </a:r>
          </a:p>
          <a:p>
            <a:pPr algn="just">
              <a:lnSpc>
                <a:spcPts val="4060"/>
              </a:lnSpc>
            </a:pPr>
            <a:endParaRPr lang="en-US" sz="2900" dirty="0">
              <a:solidFill>
                <a:srgbClr val="FFFFFF"/>
              </a:solidFill>
              <a:latin typeface="Montserrat"/>
              <a:ea typeface="Montserrat"/>
              <a:cs typeface="Montserrat"/>
              <a:sym typeface="Montserrat"/>
            </a:endParaRPr>
          </a:p>
          <a:p>
            <a:pPr algn="just">
              <a:lnSpc>
                <a:spcPts val="4060"/>
              </a:lnSpc>
            </a:pPr>
            <a:r>
              <a:rPr lang="en-US" sz="2900" dirty="0">
                <a:solidFill>
                  <a:srgbClr val="FF5757"/>
                </a:solidFill>
                <a:latin typeface="Montserrat"/>
                <a:ea typeface="Montserrat"/>
                <a:cs typeface="Montserrat"/>
                <a:sym typeface="Montserrat"/>
              </a:rPr>
              <a:t>We followed the documentation closely,</a:t>
            </a:r>
            <a:r>
              <a:rPr lang="en-US" sz="2900" dirty="0">
                <a:solidFill>
                  <a:srgbClr val="FFFFFF"/>
                </a:solidFill>
                <a:latin typeface="Montserrat"/>
                <a:ea typeface="Montserrat"/>
                <a:cs typeface="Montserrat"/>
                <a:sym typeface="Montserrat"/>
              </a:rPr>
              <a:t> but in production, the Windows batch file that was supposed to convert the server to </a:t>
            </a:r>
            <a:r>
              <a:rPr lang="en-US" sz="2900" dirty="0" err="1">
                <a:solidFill>
                  <a:srgbClr val="FFFFFF"/>
                </a:solidFill>
                <a:latin typeface="Montserrat"/>
                <a:ea typeface="Montserrat"/>
                <a:cs typeface="Montserrat"/>
                <a:sym typeface="Montserrat"/>
              </a:rPr>
              <a:t>MediaAgent</a:t>
            </a:r>
            <a:r>
              <a:rPr lang="en-US" sz="2900" dirty="0">
                <a:solidFill>
                  <a:srgbClr val="FFFFFF"/>
                </a:solidFill>
                <a:latin typeface="Montserrat"/>
                <a:ea typeface="Montserrat"/>
                <a:cs typeface="Montserrat"/>
                <a:sym typeface="Montserrat"/>
              </a:rPr>
              <a:t> accidentally deleted some important files on the server, effectively rendering the existing Commvault server useless. All backups from applications/DB started failing.</a:t>
            </a:r>
          </a:p>
          <a:p>
            <a:pPr algn="just">
              <a:lnSpc>
                <a:spcPts val="4060"/>
              </a:lnSpc>
            </a:pPr>
            <a:endParaRPr lang="en-US" sz="2900" dirty="0">
              <a:solidFill>
                <a:srgbClr val="FFFFFF"/>
              </a:solidFill>
              <a:latin typeface="Montserrat"/>
              <a:ea typeface="Montserrat"/>
              <a:cs typeface="Montserrat"/>
              <a:sym typeface="Montserrat"/>
            </a:endParaRPr>
          </a:p>
          <a:p>
            <a:pPr algn="just">
              <a:lnSpc>
                <a:spcPts val="4060"/>
              </a:lnSpc>
            </a:pPr>
            <a:r>
              <a:rPr lang="en-US" sz="2900" dirty="0">
                <a:solidFill>
                  <a:srgbClr val="FF5757"/>
                </a:solidFill>
                <a:latin typeface="Montserrat"/>
                <a:ea typeface="Montserrat"/>
                <a:cs typeface="Montserrat"/>
                <a:sym typeface="Montserrat"/>
              </a:rPr>
              <a:t>While experts from</a:t>
            </a:r>
            <a:r>
              <a:rPr lang="en-US" sz="2900" dirty="0">
                <a:solidFill>
                  <a:srgbClr val="FFFFFF"/>
                </a:solidFill>
                <a:latin typeface="Montserrat"/>
                <a:ea typeface="Montserrat"/>
                <a:cs typeface="Montserrat"/>
                <a:sym typeface="Montserrat"/>
              </a:rPr>
              <a:t> Commvault HQ were engaged to find the root cause, the customer was informed about this problem. </a:t>
            </a:r>
            <a:r>
              <a:rPr lang="en-US" sz="2900" dirty="0">
                <a:solidFill>
                  <a:srgbClr val="FF5757"/>
                </a:solidFill>
                <a:latin typeface="Montserrat"/>
                <a:ea typeface="Montserrat"/>
                <a:cs typeface="Montserrat"/>
                <a:sym typeface="Montserrat"/>
              </a:rPr>
              <a:t>In an hour, I determined that the problem was not easily fixable.</a:t>
            </a:r>
            <a:r>
              <a:rPr lang="en-US" sz="2900" dirty="0">
                <a:solidFill>
                  <a:srgbClr val="FFFFFF"/>
                </a:solidFill>
                <a:latin typeface="Montserrat"/>
                <a:ea typeface="Montserrat"/>
                <a:cs typeface="Montserrat"/>
                <a:sym typeface="Montserrat"/>
              </a:rPr>
              <a:t> I wanted to use a new server, but the Commvault license was linked to a particular IP address. Instead of waiting to hear back from Commvault HQ and our purchasing department on getting another license, I simply copied the XML license to a new machine, changed the IP, and updated the existing license. </a:t>
            </a:r>
            <a:r>
              <a:rPr lang="en-US" sz="2900" dirty="0">
                <a:solidFill>
                  <a:srgbClr val="FF5757"/>
                </a:solidFill>
                <a:latin typeface="Montserrat"/>
                <a:ea typeface="Montserrat"/>
                <a:cs typeface="Montserrat"/>
                <a:sym typeface="Montserrat"/>
              </a:rPr>
              <a:t>At that point, the team could move forward.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11088801"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SENTENCE STRUCTURE TEMPLATES</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543688" y="2111937"/>
            <a:ext cx="17200624" cy="2114815"/>
          </a:xfrm>
          <a:prstGeom prst="rect">
            <a:avLst/>
          </a:prstGeom>
        </p:spPr>
        <p:txBody>
          <a:bodyPr lIns="0" tIns="0" rIns="0" bIns="0" rtlCol="0" anchor="t">
            <a:spAutoFit/>
          </a:bodyPr>
          <a:lstStyle/>
          <a:p>
            <a:pPr algn="l">
              <a:lnSpc>
                <a:spcPts val="4200"/>
              </a:lnSpc>
            </a:pPr>
            <a:r>
              <a:rPr lang="en-US" sz="3000" b="1" dirty="0">
                <a:solidFill>
                  <a:srgbClr val="CB6CE6"/>
                </a:solidFill>
                <a:latin typeface="Montserrat Bold"/>
                <a:ea typeface="Montserrat Bold"/>
                <a:cs typeface="Montserrat Bold"/>
                <a:sym typeface="Montserrat Bold"/>
              </a:rPr>
              <a:t>Problem</a:t>
            </a:r>
          </a:p>
          <a:p>
            <a:pPr marL="647700" lvl="1" indent="-323850" algn="l">
              <a:lnSpc>
                <a:spcPts val="4200"/>
              </a:lnSpc>
              <a:buFont typeface="Arial"/>
              <a:buChar char="•"/>
            </a:pPr>
            <a:r>
              <a:rPr lang="en-US" sz="3000" b="1" dirty="0">
                <a:solidFill>
                  <a:srgbClr val="FFFFFF"/>
                </a:solidFill>
                <a:latin typeface="Montserrat Bold"/>
                <a:ea typeface="Montserrat Bold"/>
                <a:cs typeface="Montserrat Bold"/>
                <a:sym typeface="Montserrat Bold"/>
              </a:rPr>
              <a:t>O</a:t>
            </a:r>
            <a:r>
              <a:rPr lang="en-US" sz="3000" dirty="0">
                <a:solidFill>
                  <a:srgbClr val="FFFFFF"/>
                </a:solidFill>
                <a:latin typeface="Montserrat"/>
                <a:ea typeface="Montserrat"/>
                <a:cs typeface="Montserrat"/>
                <a:sym typeface="Montserrat"/>
              </a:rPr>
              <a:t>ne of the hardest decisions I’ve had to make was </a:t>
            </a:r>
            <a:r>
              <a:rPr lang="en-US" sz="3000" dirty="0">
                <a:solidFill>
                  <a:srgbClr val="95C740"/>
                </a:solidFill>
                <a:latin typeface="Montserrat"/>
                <a:ea typeface="Montserrat"/>
                <a:cs typeface="Montserrat"/>
                <a:sym typeface="Montserrat"/>
              </a:rPr>
              <a:t>[problems]</a:t>
            </a:r>
          </a:p>
          <a:p>
            <a:pPr marL="647700" lvl="1" indent="-323850" algn="l">
              <a:lnSpc>
                <a:spcPts val="4200"/>
              </a:lnSpc>
              <a:buFont typeface="Arial"/>
              <a:buChar char="•"/>
            </a:pPr>
            <a:r>
              <a:rPr lang="en-US" sz="3000" dirty="0">
                <a:solidFill>
                  <a:srgbClr val="FFFFFF"/>
                </a:solidFill>
                <a:latin typeface="Montserrat"/>
                <a:ea typeface="Montserrat"/>
                <a:cs typeface="Montserrat"/>
                <a:sym typeface="Montserrat"/>
              </a:rPr>
              <a:t>The most difficult decision I've had to make was one involving </a:t>
            </a:r>
            <a:r>
              <a:rPr lang="en-US" sz="3000" dirty="0">
                <a:solidFill>
                  <a:srgbClr val="95C740"/>
                </a:solidFill>
                <a:latin typeface="Montserrat"/>
                <a:ea typeface="Montserrat"/>
                <a:cs typeface="Montserrat"/>
                <a:sym typeface="Montserrat"/>
              </a:rPr>
              <a:t>[problems]</a:t>
            </a:r>
          </a:p>
          <a:p>
            <a:pPr algn="l">
              <a:lnSpc>
                <a:spcPts val="4200"/>
              </a:lnSpc>
            </a:pPr>
            <a:endParaRPr lang="en-US" sz="3000" dirty="0">
              <a:solidFill>
                <a:srgbClr val="95C740"/>
              </a:solidFill>
              <a:latin typeface="Montserrat"/>
              <a:ea typeface="Montserrat"/>
              <a:cs typeface="Montserrat"/>
              <a:sym typeface="Montserrat"/>
            </a:endParaRPr>
          </a:p>
        </p:txBody>
      </p:sp>
      <p:sp>
        <p:nvSpPr>
          <p:cNvPr id="5" name="TextBox 5"/>
          <p:cNvSpPr txBox="1"/>
          <p:nvPr/>
        </p:nvSpPr>
        <p:spPr>
          <a:xfrm>
            <a:off x="494417" y="4834988"/>
            <a:ext cx="17793583" cy="2104694"/>
          </a:xfrm>
          <a:prstGeom prst="rect">
            <a:avLst/>
          </a:prstGeom>
        </p:spPr>
        <p:txBody>
          <a:bodyPr lIns="0" tIns="0" rIns="0" bIns="0" rtlCol="0" anchor="t">
            <a:spAutoFit/>
          </a:bodyPr>
          <a:lstStyle/>
          <a:p>
            <a:pPr algn="l">
              <a:lnSpc>
                <a:spcPts val="3300"/>
              </a:lnSpc>
            </a:pPr>
            <a:r>
              <a:rPr lang="en-US" sz="3000" b="1" dirty="0">
                <a:solidFill>
                  <a:srgbClr val="15E8C2"/>
                </a:solidFill>
                <a:latin typeface="Montserrat Bold"/>
                <a:ea typeface="Montserrat Bold"/>
                <a:cs typeface="Montserrat Bold"/>
                <a:sym typeface="Montserrat Bold"/>
              </a:rPr>
              <a:t>Action</a:t>
            </a:r>
          </a:p>
          <a:p>
            <a:pPr marL="647700" lvl="1" indent="-323850" algn="l">
              <a:lnSpc>
                <a:spcPts val="3300"/>
              </a:lnSpc>
              <a:spcBef>
                <a:spcPct val="0"/>
              </a:spcBef>
              <a:buFont typeface="Arial"/>
              <a:buChar char="•"/>
            </a:pPr>
            <a:r>
              <a:rPr lang="en-US" sz="3000" dirty="0">
                <a:solidFill>
                  <a:srgbClr val="FFFFFF"/>
                </a:solidFill>
                <a:latin typeface="Montserrat"/>
                <a:ea typeface="Montserrat"/>
                <a:cs typeface="Montserrat"/>
                <a:sym typeface="Montserrat"/>
              </a:rPr>
              <a:t>After careful consideration and weighing the pros and cons, we decided to </a:t>
            </a:r>
            <a:r>
              <a:rPr lang="en-US" sz="3000" dirty="0">
                <a:solidFill>
                  <a:srgbClr val="95C740"/>
                </a:solidFill>
                <a:latin typeface="Montserrat"/>
                <a:ea typeface="Montserrat"/>
                <a:cs typeface="Montserrat"/>
                <a:sym typeface="Montserrat"/>
              </a:rPr>
              <a:t>[what you took]</a:t>
            </a:r>
          </a:p>
          <a:p>
            <a:pPr marL="647700" lvl="1" indent="-323850" algn="l">
              <a:lnSpc>
                <a:spcPts val="3300"/>
              </a:lnSpc>
              <a:spcBef>
                <a:spcPct val="0"/>
              </a:spcBef>
              <a:buFont typeface="Arial"/>
              <a:buChar char="•"/>
            </a:pPr>
            <a:r>
              <a:rPr lang="en-US" sz="3000" dirty="0">
                <a:solidFill>
                  <a:srgbClr val="FFFFFF"/>
                </a:solidFill>
                <a:latin typeface="Montserrat"/>
                <a:ea typeface="Montserrat"/>
                <a:cs typeface="Montserrat"/>
                <a:sym typeface="Montserrat"/>
              </a:rPr>
              <a:t>In order to resolve the problems quickly, I had no choice but to </a:t>
            </a:r>
            <a:r>
              <a:rPr lang="en-US" sz="3000" dirty="0">
                <a:solidFill>
                  <a:srgbClr val="95C740"/>
                </a:solidFill>
                <a:latin typeface="Montserrat"/>
                <a:ea typeface="Montserrat"/>
                <a:cs typeface="Montserrat"/>
                <a:sym typeface="Montserrat"/>
              </a:rPr>
              <a:t>[what you did]</a:t>
            </a:r>
          </a:p>
          <a:p>
            <a:pPr marL="647700" lvl="1" indent="-323850" algn="l">
              <a:lnSpc>
                <a:spcPts val="3300"/>
              </a:lnSpc>
              <a:spcBef>
                <a:spcPct val="0"/>
              </a:spcBef>
              <a:buFont typeface="Arial"/>
              <a:buChar char="•"/>
            </a:pPr>
            <a:r>
              <a:rPr lang="en-US" sz="3000" dirty="0">
                <a:solidFill>
                  <a:srgbClr val="FFFFFF"/>
                </a:solidFill>
                <a:latin typeface="Montserrat"/>
                <a:ea typeface="Montserrat"/>
                <a:cs typeface="Montserrat"/>
                <a:sym typeface="Montserrat"/>
              </a:rPr>
              <a:t>It was a very difficult decision on a personal level.</a:t>
            </a:r>
          </a:p>
        </p:txBody>
      </p:sp>
      <p:sp>
        <p:nvSpPr>
          <p:cNvPr id="6" name="TextBox 6"/>
          <p:cNvSpPr txBox="1"/>
          <p:nvPr/>
        </p:nvSpPr>
        <p:spPr>
          <a:xfrm>
            <a:off x="671566" y="7792276"/>
            <a:ext cx="13905018" cy="1266627"/>
          </a:xfrm>
          <a:prstGeom prst="rect">
            <a:avLst/>
          </a:prstGeom>
        </p:spPr>
        <p:txBody>
          <a:bodyPr lIns="0" tIns="0" rIns="0" bIns="0" rtlCol="0" anchor="t">
            <a:spAutoFit/>
          </a:bodyPr>
          <a:lstStyle/>
          <a:p>
            <a:pPr algn="l">
              <a:lnSpc>
                <a:spcPts val="3300"/>
              </a:lnSpc>
              <a:spcBef>
                <a:spcPct val="0"/>
              </a:spcBef>
            </a:pPr>
            <a:r>
              <a:rPr lang="en-US" sz="3000" b="1" dirty="0">
                <a:solidFill>
                  <a:srgbClr val="C6A237"/>
                </a:solidFill>
                <a:latin typeface="Montserrat Bold"/>
                <a:ea typeface="Montserrat Bold"/>
                <a:cs typeface="Montserrat Bold"/>
                <a:sym typeface="Montserrat Bold"/>
              </a:rPr>
              <a:t>Result</a:t>
            </a:r>
          </a:p>
          <a:p>
            <a:pPr algn="l">
              <a:lnSpc>
                <a:spcPts val="3300"/>
              </a:lnSpc>
              <a:spcBef>
                <a:spcPct val="0"/>
              </a:spcBef>
            </a:pPr>
            <a:r>
              <a:rPr lang="en-US" sz="3000" dirty="0">
                <a:solidFill>
                  <a:srgbClr val="FFFFFF"/>
                </a:solidFill>
                <a:latin typeface="Montserrat"/>
                <a:ea typeface="Montserrat"/>
                <a:cs typeface="Montserrat"/>
                <a:sym typeface="Montserrat"/>
              </a:rPr>
              <a:t>As a result, </a:t>
            </a:r>
            <a:r>
              <a:rPr lang="en-US" sz="3000" dirty="0">
                <a:solidFill>
                  <a:srgbClr val="95C740"/>
                </a:solidFill>
                <a:latin typeface="Montserrat"/>
                <a:ea typeface="Montserrat"/>
                <a:cs typeface="Montserrat"/>
                <a:sym typeface="Montserrat"/>
              </a:rPr>
              <a:t>[discuss results]</a:t>
            </a:r>
          </a:p>
          <a:p>
            <a:pPr algn="l">
              <a:lnSpc>
                <a:spcPts val="3300"/>
              </a:lnSpc>
              <a:spcBef>
                <a:spcPct val="0"/>
              </a:spcBef>
            </a:pPr>
            <a:r>
              <a:rPr lang="en-US" sz="3000" dirty="0">
                <a:solidFill>
                  <a:srgbClr val="FFFFFF"/>
                </a:solidFill>
                <a:latin typeface="Montserrat"/>
                <a:ea typeface="Montserrat"/>
                <a:cs typeface="Montserrat"/>
                <a:sym typeface="Montserrat"/>
              </a:rPr>
              <a:t>At the end, our decision was paid off </a:t>
            </a:r>
            <a:r>
              <a:rPr lang="en-US" sz="3000" dirty="0">
                <a:solidFill>
                  <a:srgbClr val="95C740"/>
                </a:solidFill>
                <a:latin typeface="Montserrat"/>
                <a:ea typeface="Montserrat"/>
                <a:cs typeface="Montserrat"/>
                <a:sym typeface="Montserrat"/>
              </a:rPr>
              <a:t>[describe results]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153853" y="542256"/>
            <a:ext cx="14939893" cy="1108141"/>
          </a:xfrm>
          <a:prstGeom prst="rect">
            <a:avLst/>
          </a:prstGeom>
        </p:spPr>
        <p:txBody>
          <a:bodyPr lIns="0" tIns="0" rIns="0" bIns="0" rtlCol="0" anchor="t">
            <a:spAutoFit/>
          </a:bodyPr>
          <a:lstStyle/>
          <a:p>
            <a:pPr algn="just">
              <a:lnSpc>
                <a:spcPts val="4399"/>
              </a:lnSpc>
            </a:pPr>
            <a:r>
              <a:rPr lang="en-US" sz="3999" b="1">
                <a:solidFill>
                  <a:srgbClr val="00B9EF"/>
                </a:solidFill>
                <a:latin typeface="Montserrat Bold"/>
                <a:ea typeface="Montserrat Bold"/>
                <a:cs typeface="Montserrat Bold"/>
                <a:sym typeface="Montserrat Bold"/>
              </a:rPr>
              <a:t>Variations of “Tell me about a tough decision you made during a project”</a:t>
            </a:r>
          </a:p>
        </p:txBody>
      </p:sp>
      <p:sp>
        <p:nvSpPr>
          <p:cNvPr id="3" name="Freeform 3"/>
          <p:cNvSpPr/>
          <p:nvPr/>
        </p:nvSpPr>
        <p:spPr>
          <a:xfrm>
            <a:off x="614469" y="639342"/>
            <a:ext cx="1121451" cy="1121451"/>
          </a:xfrm>
          <a:custGeom>
            <a:avLst/>
            <a:gdLst/>
            <a:ahLst/>
            <a:cxnLst/>
            <a:rect l="l" t="t" r="r" b="b"/>
            <a:pathLst>
              <a:path w="1121451" h="1121451">
                <a:moveTo>
                  <a:pt x="0" y="0"/>
                </a:moveTo>
                <a:lnTo>
                  <a:pt x="1121452" y="0"/>
                </a:lnTo>
                <a:lnTo>
                  <a:pt x="1121452" y="1121451"/>
                </a:lnTo>
                <a:lnTo>
                  <a:pt x="0" y="11214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175195" y="2352940"/>
            <a:ext cx="16370317" cy="6029094"/>
          </a:xfrm>
          <a:prstGeom prst="rect">
            <a:avLst/>
          </a:prstGeom>
        </p:spPr>
        <p:txBody>
          <a:bodyPr lIns="0" tIns="0" rIns="0" bIns="0" rtlCol="0" anchor="t">
            <a:spAutoFit/>
          </a:bodyPr>
          <a:lstStyle/>
          <a:p>
            <a:pPr marL="647700" lvl="1" indent="-323850" algn="l">
              <a:lnSpc>
                <a:spcPts val="6900"/>
              </a:lnSpc>
              <a:buFont typeface="Arial"/>
              <a:buChar char="•"/>
            </a:pPr>
            <a:r>
              <a:rPr lang="en-US" sz="3000">
                <a:solidFill>
                  <a:srgbClr val="FCFCFC"/>
                </a:solidFill>
                <a:latin typeface="Montserrat"/>
                <a:ea typeface="Montserrat"/>
                <a:cs typeface="Montserrat"/>
                <a:sym typeface="Montserrat"/>
              </a:rPr>
              <a:t> What are some difficult choices you have to make in your position?</a:t>
            </a:r>
          </a:p>
          <a:p>
            <a:pPr marL="647700" lvl="1" indent="-323850" algn="l">
              <a:lnSpc>
                <a:spcPts val="6900"/>
              </a:lnSpc>
              <a:buFont typeface="Arial"/>
              <a:buChar char="•"/>
            </a:pPr>
            <a:r>
              <a:rPr lang="en-US" sz="3000">
                <a:solidFill>
                  <a:srgbClr val="FCFCFC"/>
                </a:solidFill>
                <a:latin typeface="Montserrat"/>
                <a:ea typeface="Montserrat"/>
                <a:cs typeface="Montserrat"/>
                <a:sym typeface="Montserrat"/>
              </a:rPr>
              <a:t>Have you ever needed to make a very difficult decision at work? What was the decision?</a:t>
            </a:r>
          </a:p>
          <a:p>
            <a:pPr marL="647700" lvl="1" indent="-323850" algn="l">
              <a:lnSpc>
                <a:spcPts val="6900"/>
              </a:lnSpc>
              <a:buFont typeface="Arial"/>
              <a:buChar char="•"/>
            </a:pPr>
            <a:r>
              <a:rPr lang="en-US" sz="3000">
                <a:solidFill>
                  <a:srgbClr val="FCFCFC"/>
                </a:solidFill>
                <a:latin typeface="Montserrat"/>
                <a:ea typeface="Montserrat"/>
                <a:cs typeface="Montserrat"/>
                <a:sym typeface="Montserrat"/>
              </a:rPr>
              <a:t>In your position, what is the most difficult decision you remember making?</a:t>
            </a:r>
          </a:p>
          <a:p>
            <a:pPr marL="647700" lvl="1" indent="-323850" algn="l">
              <a:lnSpc>
                <a:spcPts val="6900"/>
              </a:lnSpc>
              <a:buFont typeface="Arial"/>
              <a:buChar char="•"/>
            </a:pPr>
            <a:r>
              <a:rPr lang="en-US" sz="3000">
                <a:solidFill>
                  <a:srgbClr val="FCFCFC"/>
                </a:solidFill>
                <a:latin typeface="Montserrat"/>
                <a:ea typeface="Montserrat"/>
                <a:cs typeface="Montserrat"/>
                <a:sym typeface="Montserrat"/>
              </a:rPr>
              <a:t>Tell me about a time when you had to make a hard decision that affected a project's outcome.</a:t>
            </a:r>
          </a:p>
          <a:p>
            <a:pPr marL="647700" lvl="1" indent="-323850" algn="l">
              <a:lnSpc>
                <a:spcPts val="6900"/>
              </a:lnSpc>
              <a:buFont typeface="Arial"/>
              <a:buChar char="•"/>
            </a:pPr>
            <a:r>
              <a:rPr lang="en-US" sz="3000">
                <a:solidFill>
                  <a:srgbClr val="FCFCFC"/>
                </a:solidFill>
                <a:latin typeface="Montserrat"/>
                <a:ea typeface="Montserrat"/>
                <a:cs typeface="Montserrat"/>
                <a:sym typeface="Montserrat"/>
              </a:rPr>
              <a:t>What was one of the toughest decisions you've made while leading a project?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6188994" y="7365830"/>
            <a:ext cx="5556275" cy="1406591"/>
          </a:xfrm>
          <a:prstGeom prst="rect">
            <a:avLst/>
          </a:prstGeom>
        </p:spPr>
        <p:txBody>
          <a:bodyPr lIns="0" tIns="0" rIns="0" bIns="0" rtlCol="0" anchor="t">
            <a:spAutoFit/>
          </a:bodyPr>
          <a:lstStyle/>
          <a:p>
            <a:pPr algn="ctr">
              <a:lnSpc>
                <a:spcPts val="5500"/>
              </a:lnSpc>
            </a:pPr>
            <a:r>
              <a:rPr lang="en-US" sz="5000">
                <a:solidFill>
                  <a:srgbClr val="00B9EF"/>
                </a:solidFill>
                <a:latin typeface="Poppins Bold"/>
                <a:ea typeface="Poppins Bold"/>
                <a:cs typeface="Poppins Bold"/>
                <a:sym typeface="Poppins Bold"/>
              </a:rPr>
              <a:t>BRAINSTORMING</a:t>
            </a:r>
          </a:p>
          <a:p>
            <a:pPr algn="ctr">
              <a:lnSpc>
                <a:spcPts val="5500"/>
              </a:lnSpc>
            </a:pPr>
            <a:r>
              <a:rPr lang="en-US" sz="5000">
                <a:solidFill>
                  <a:srgbClr val="00B9EF"/>
                </a:solidFill>
                <a:latin typeface="Poppins Bold"/>
                <a:ea typeface="Poppins Bold"/>
                <a:cs typeface="Poppins Bold"/>
                <a:sym typeface="Poppins Bold"/>
              </a:rPr>
              <a:t>Writing Time</a:t>
            </a:r>
          </a:p>
        </p:txBody>
      </p:sp>
      <p:sp>
        <p:nvSpPr>
          <p:cNvPr id="3" name="Freeform 3"/>
          <p:cNvSpPr/>
          <p:nvPr/>
        </p:nvSpPr>
        <p:spPr>
          <a:xfrm>
            <a:off x="6643279" y="2370922"/>
            <a:ext cx="4417378" cy="4411856"/>
          </a:xfrm>
          <a:custGeom>
            <a:avLst/>
            <a:gdLst/>
            <a:ahLst/>
            <a:cxnLst/>
            <a:rect l="l" t="t" r="r" b="b"/>
            <a:pathLst>
              <a:path w="4417378" h="4411856">
                <a:moveTo>
                  <a:pt x="0" y="0"/>
                </a:moveTo>
                <a:lnTo>
                  <a:pt x="4417379" y="0"/>
                </a:lnTo>
                <a:lnTo>
                  <a:pt x="4417379" y="4411856"/>
                </a:lnTo>
                <a:lnTo>
                  <a:pt x="0" y="4411856"/>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grpSp>
        <p:nvGrpSpPr>
          <p:cNvPr id="2" name="Group 2"/>
          <p:cNvGrpSpPr/>
          <p:nvPr/>
        </p:nvGrpSpPr>
        <p:grpSpPr>
          <a:xfrm>
            <a:off x="1450453" y="2147062"/>
            <a:ext cx="795045" cy="795045"/>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5E8C2"/>
            </a:solidFill>
          </p:spPr>
          <p:txBody>
            <a:bodyPr/>
            <a:lstStyle/>
            <a:p>
              <a:endParaRPr lang="en-US"/>
            </a:p>
          </p:txBody>
        </p:sp>
      </p:grpSp>
      <p:sp>
        <p:nvSpPr>
          <p:cNvPr id="4" name="Freeform 4"/>
          <p:cNvSpPr/>
          <p:nvPr/>
        </p:nvSpPr>
        <p:spPr>
          <a:xfrm>
            <a:off x="4784229" y="330603"/>
            <a:ext cx="819801" cy="995343"/>
          </a:xfrm>
          <a:custGeom>
            <a:avLst/>
            <a:gdLst/>
            <a:ahLst/>
            <a:cxnLst/>
            <a:rect l="l" t="t" r="r" b="b"/>
            <a:pathLst>
              <a:path w="819801" h="995343">
                <a:moveTo>
                  <a:pt x="0" y="0"/>
                </a:moveTo>
                <a:lnTo>
                  <a:pt x="819801" y="0"/>
                </a:lnTo>
                <a:lnTo>
                  <a:pt x="819801" y="995343"/>
                </a:lnTo>
                <a:lnTo>
                  <a:pt x="0" y="9953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2610598" y="2242511"/>
            <a:ext cx="14412163" cy="1216026"/>
          </a:xfrm>
          <a:prstGeom prst="rect">
            <a:avLst/>
          </a:prstGeom>
        </p:spPr>
        <p:txBody>
          <a:bodyPr lIns="0" tIns="0" rIns="0" bIns="0" rtlCol="0" anchor="t">
            <a:spAutoFit/>
          </a:bodyPr>
          <a:lstStyle/>
          <a:p>
            <a:pPr algn="l">
              <a:lnSpc>
                <a:spcPts val="4899"/>
              </a:lnSpc>
            </a:pPr>
            <a:r>
              <a:rPr lang="en-US" sz="3499" b="1" dirty="0">
                <a:solidFill>
                  <a:srgbClr val="FFFFFF"/>
                </a:solidFill>
                <a:latin typeface="Montserrat Bold"/>
                <a:ea typeface="Montserrat Bold"/>
                <a:cs typeface="Montserrat Bold"/>
                <a:sym typeface="Montserrat Bold"/>
              </a:rPr>
              <a:t>How do you prioritize if you have to work on 4 different projects?</a:t>
            </a:r>
          </a:p>
        </p:txBody>
      </p:sp>
      <p:sp>
        <p:nvSpPr>
          <p:cNvPr id="6" name="TextBox 6"/>
          <p:cNvSpPr txBox="1"/>
          <p:nvPr/>
        </p:nvSpPr>
        <p:spPr>
          <a:xfrm>
            <a:off x="5604030" y="549159"/>
            <a:ext cx="7116559" cy="596331"/>
          </a:xfrm>
          <a:prstGeom prst="rect">
            <a:avLst/>
          </a:prstGeom>
        </p:spPr>
        <p:txBody>
          <a:bodyPr lIns="0" tIns="0" rIns="0" bIns="0" rtlCol="0" anchor="t">
            <a:spAutoFit/>
          </a:bodyPr>
          <a:lstStyle/>
          <a:p>
            <a:pPr algn="ctr">
              <a:lnSpc>
                <a:spcPts val="4620"/>
              </a:lnSpc>
            </a:pPr>
            <a:r>
              <a:rPr lang="en-US" sz="4200">
                <a:solidFill>
                  <a:srgbClr val="00B9EF"/>
                </a:solidFill>
                <a:latin typeface="Poppins Bold"/>
                <a:ea typeface="Poppins Bold"/>
                <a:cs typeface="Poppins Bold"/>
                <a:sym typeface="Poppins Bold"/>
              </a:rPr>
              <a:t>ANALYZING QUESTIONS</a:t>
            </a:r>
          </a:p>
        </p:txBody>
      </p:sp>
      <p:sp>
        <p:nvSpPr>
          <p:cNvPr id="7" name="TextBox 7"/>
          <p:cNvSpPr txBox="1"/>
          <p:nvPr/>
        </p:nvSpPr>
        <p:spPr>
          <a:xfrm>
            <a:off x="1450453" y="2230641"/>
            <a:ext cx="795045" cy="615553"/>
          </a:xfrm>
          <a:prstGeom prst="rect">
            <a:avLst/>
          </a:prstGeom>
        </p:spPr>
        <p:txBody>
          <a:bodyPr lIns="0" tIns="0" rIns="0" bIns="0" rtlCol="0" anchor="t">
            <a:spAutoFit/>
          </a:bodyPr>
          <a:lstStyle/>
          <a:p>
            <a:pPr algn="ctr">
              <a:lnSpc>
                <a:spcPts val="4836"/>
              </a:lnSpc>
            </a:pPr>
            <a:r>
              <a:rPr lang="en-US" sz="3900" dirty="0">
                <a:solidFill>
                  <a:srgbClr val="900EED"/>
                </a:solidFill>
                <a:latin typeface="Poppins Bold"/>
                <a:ea typeface="Poppins Bold"/>
                <a:cs typeface="Poppins Bold"/>
                <a:sym typeface="Poppins Bold"/>
              </a:rPr>
              <a:t>3</a:t>
            </a:r>
          </a:p>
        </p:txBody>
      </p:sp>
      <p:sp>
        <p:nvSpPr>
          <p:cNvPr id="8" name="Freeform 8"/>
          <p:cNvSpPr/>
          <p:nvPr/>
        </p:nvSpPr>
        <p:spPr>
          <a:xfrm rot="5400000">
            <a:off x="8448014" y="4568479"/>
            <a:ext cx="1943694" cy="587967"/>
          </a:xfrm>
          <a:custGeom>
            <a:avLst/>
            <a:gdLst/>
            <a:ahLst/>
            <a:cxnLst/>
            <a:rect l="l" t="t" r="r" b="b"/>
            <a:pathLst>
              <a:path w="1943694" h="587967">
                <a:moveTo>
                  <a:pt x="0" y="0"/>
                </a:moveTo>
                <a:lnTo>
                  <a:pt x="1943694" y="0"/>
                </a:lnTo>
                <a:lnTo>
                  <a:pt x="1943694" y="587968"/>
                </a:lnTo>
                <a:lnTo>
                  <a:pt x="0" y="5879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TextBox 9"/>
          <p:cNvSpPr txBox="1"/>
          <p:nvPr/>
        </p:nvSpPr>
        <p:spPr>
          <a:xfrm>
            <a:off x="1741017" y="6294964"/>
            <a:ext cx="14769720" cy="847593"/>
          </a:xfrm>
          <a:prstGeom prst="rect">
            <a:avLst/>
          </a:prstGeom>
        </p:spPr>
        <p:txBody>
          <a:bodyPr lIns="0" tIns="0" rIns="0" bIns="0" rtlCol="0" anchor="t">
            <a:spAutoFit/>
          </a:bodyPr>
          <a:lstStyle/>
          <a:p>
            <a:pPr algn="ctr">
              <a:lnSpc>
                <a:spcPts val="3300"/>
              </a:lnSpc>
              <a:spcBef>
                <a:spcPct val="0"/>
              </a:spcBef>
            </a:pPr>
            <a:r>
              <a:rPr lang="en-US" sz="3000" dirty="0">
                <a:solidFill>
                  <a:srgbClr val="FFFFFF"/>
                </a:solidFill>
                <a:latin typeface="Montserrat"/>
                <a:ea typeface="Montserrat"/>
                <a:cs typeface="Montserrat"/>
                <a:sym typeface="Montserrat"/>
              </a:rPr>
              <a:t>to understand your ability to manage multiple tasks efficiently, handle stress and the unexpected, and ensure critical projects are completed on 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animBg="1"/>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grpSp>
        <p:nvGrpSpPr>
          <p:cNvPr id="2" name="Group 2"/>
          <p:cNvGrpSpPr/>
          <p:nvPr/>
        </p:nvGrpSpPr>
        <p:grpSpPr>
          <a:xfrm>
            <a:off x="5990687" y="1791415"/>
            <a:ext cx="5906269" cy="6226677"/>
            <a:chOff x="0" y="0"/>
            <a:chExt cx="7875026" cy="8302236"/>
          </a:xfrm>
        </p:grpSpPr>
        <p:sp>
          <p:nvSpPr>
            <p:cNvPr id="3" name="Freeform 3"/>
            <p:cNvSpPr/>
            <p:nvPr/>
          </p:nvSpPr>
          <p:spPr>
            <a:xfrm rot="-10800000">
              <a:off x="0" y="424583"/>
              <a:ext cx="5504510" cy="7877652"/>
            </a:xfrm>
            <a:custGeom>
              <a:avLst/>
              <a:gdLst/>
              <a:ahLst/>
              <a:cxnLst/>
              <a:rect l="l" t="t" r="r" b="b"/>
              <a:pathLst>
                <a:path w="5504510" h="7877652">
                  <a:moveTo>
                    <a:pt x="0" y="0"/>
                  </a:moveTo>
                  <a:lnTo>
                    <a:pt x="5504510" y="0"/>
                  </a:lnTo>
                  <a:lnTo>
                    <a:pt x="5504510" y="7877653"/>
                  </a:lnTo>
                  <a:lnTo>
                    <a:pt x="0" y="7877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10800000" flipH="1">
              <a:off x="2370516" y="424583"/>
              <a:ext cx="5504510" cy="7877652"/>
            </a:xfrm>
            <a:custGeom>
              <a:avLst/>
              <a:gdLst/>
              <a:ahLst/>
              <a:cxnLst/>
              <a:rect l="l" t="t" r="r" b="b"/>
              <a:pathLst>
                <a:path w="5504510" h="7877652">
                  <a:moveTo>
                    <a:pt x="5504510" y="0"/>
                  </a:moveTo>
                  <a:lnTo>
                    <a:pt x="0" y="0"/>
                  </a:lnTo>
                  <a:lnTo>
                    <a:pt x="0" y="7877653"/>
                  </a:lnTo>
                  <a:lnTo>
                    <a:pt x="5504510" y="7877653"/>
                  </a:lnTo>
                  <a:lnTo>
                    <a:pt x="550451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5" name="Group 5"/>
            <p:cNvGrpSpPr/>
            <p:nvPr/>
          </p:nvGrpSpPr>
          <p:grpSpPr>
            <a:xfrm rot="-7974226">
              <a:off x="4671152" y="465834"/>
              <a:ext cx="1555512" cy="2455709"/>
              <a:chOff x="0" y="0"/>
              <a:chExt cx="298953" cy="471961"/>
            </a:xfrm>
          </p:grpSpPr>
          <p:sp>
            <p:nvSpPr>
              <p:cNvPr id="6" name="Freeform 6"/>
              <p:cNvSpPr/>
              <p:nvPr/>
            </p:nvSpPr>
            <p:spPr>
              <a:xfrm>
                <a:off x="0" y="0"/>
                <a:ext cx="298953" cy="471961"/>
              </a:xfrm>
              <a:custGeom>
                <a:avLst/>
                <a:gdLst/>
                <a:ahLst/>
                <a:cxnLst/>
                <a:rect l="l" t="t" r="r" b="b"/>
                <a:pathLst>
                  <a:path w="298953" h="471961">
                    <a:moveTo>
                      <a:pt x="0" y="0"/>
                    </a:moveTo>
                    <a:lnTo>
                      <a:pt x="298953" y="0"/>
                    </a:lnTo>
                    <a:lnTo>
                      <a:pt x="298953" y="471961"/>
                    </a:lnTo>
                    <a:lnTo>
                      <a:pt x="0" y="471961"/>
                    </a:lnTo>
                    <a:close/>
                  </a:path>
                </a:pathLst>
              </a:custGeom>
              <a:solidFill>
                <a:srgbClr val="2B2A2A"/>
              </a:solidFill>
            </p:spPr>
            <p:txBody>
              <a:bodyPr/>
              <a:lstStyle/>
              <a:p>
                <a:endParaRPr lang="en-US"/>
              </a:p>
            </p:txBody>
          </p:sp>
          <p:sp>
            <p:nvSpPr>
              <p:cNvPr id="7" name="TextBox 7"/>
              <p:cNvSpPr txBox="1"/>
              <p:nvPr/>
            </p:nvSpPr>
            <p:spPr>
              <a:xfrm>
                <a:off x="0" y="-57150"/>
                <a:ext cx="298953" cy="529111"/>
              </a:xfrm>
              <a:prstGeom prst="rect">
                <a:avLst/>
              </a:prstGeom>
            </p:spPr>
            <p:txBody>
              <a:bodyPr lIns="52212" tIns="52212" rIns="52212" bIns="52212" rtlCol="0" anchor="ctr"/>
              <a:lstStyle/>
              <a:p>
                <a:pPr algn="ctr">
                  <a:lnSpc>
                    <a:spcPts val="3359"/>
                  </a:lnSpc>
                </a:pPr>
                <a:endParaRPr/>
              </a:p>
            </p:txBody>
          </p:sp>
        </p:grpSp>
        <p:grpSp>
          <p:nvGrpSpPr>
            <p:cNvPr id="8" name="Group 8"/>
            <p:cNvGrpSpPr/>
            <p:nvPr/>
          </p:nvGrpSpPr>
          <p:grpSpPr>
            <a:xfrm rot="10468371">
              <a:off x="2517437" y="69203"/>
              <a:ext cx="1555512" cy="2455709"/>
              <a:chOff x="0" y="0"/>
              <a:chExt cx="298953" cy="471961"/>
            </a:xfrm>
          </p:grpSpPr>
          <p:sp>
            <p:nvSpPr>
              <p:cNvPr id="9" name="Freeform 9"/>
              <p:cNvSpPr/>
              <p:nvPr/>
            </p:nvSpPr>
            <p:spPr>
              <a:xfrm>
                <a:off x="0" y="0"/>
                <a:ext cx="298953" cy="471961"/>
              </a:xfrm>
              <a:custGeom>
                <a:avLst/>
                <a:gdLst/>
                <a:ahLst/>
                <a:cxnLst/>
                <a:rect l="l" t="t" r="r" b="b"/>
                <a:pathLst>
                  <a:path w="298953" h="471961">
                    <a:moveTo>
                      <a:pt x="0" y="0"/>
                    </a:moveTo>
                    <a:lnTo>
                      <a:pt x="298953" y="0"/>
                    </a:lnTo>
                    <a:lnTo>
                      <a:pt x="298953" y="471961"/>
                    </a:lnTo>
                    <a:lnTo>
                      <a:pt x="0" y="471961"/>
                    </a:lnTo>
                    <a:close/>
                  </a:path>
                </a:pathLst>
              </a:custGeom>
              <a:solidFill>
                <a:srgbClr val="2B2A2A"/>
              </a:solidFill>
            </p:spPr>
            <p:txBody>
              <a:bodyPr/>
              <a:lstStyle/>
              <a:p>
                <a:endParaRPr lang="en-US"/>
              </a:p>
            </p:txBody>
          </p:sp>
          <p:sp>
            <p:nvSpPr>
              <p:cNvPr id="10" name="TextBox 10"/>
              <p:cNvSpPr txBox="1"/>
              <p:nvPr/>
            </p:nvSpPr>
            <p:spPr>
              <a:xfrm>
                <a:off x="0" y="-57150"/>
                <a:ext cx="298953" cy="529111"/>
              </a:xfrm>
              <a:prstGeom prst="rect">
                <a:avLst/>
              </a:prstGeom>
            </p:spPr>
            <p:txBody>
              <a:bodyPr lIns="52212" tIns="52212" rIns="52212" bIns="52212" rtlCol="0" anchor="ctr"/>
              <a:lstStyle/>
              <a:p>
                <a:pPr algn="ctr">
                  <a:lnSpc>
                    <a:spcPts val="3359"/>
                  </a:lnSpc>
                </a:pPr>
                <a:endParaRPr/>
              </a:p>
            </p:txBody>
          </p:sp>
        </p:grpSp>
        <p:grpSp>
          <p:nvGrpSpPr>
            <p:cNvPr id="11" name="Group 11"/>
            <p:cNvGrpSpPr/>
            <p:nvPr/>
          </p:nvGrpSpPr>
          <p:grpSpPr>
            <a:xfrm rot="-10216402">
              <a:off x="3822790" y="187643"/>
              <a:ext cx="1555512" cy="2455709"/>
              <a:chOff x="0" y="0"/>
              <a:chExt cx="298953" cy="471961"/>
            </a:xfrm>
          </p:grpSpPr>
          <p:sp>
            <p:nvSpPr>
              <p:cNvPr id="12" name="Freeform 12"/>
              <p:cNvSpPr/>
              <p:nvPr/>
            </p:nvSpPr>
            <p:spPr>
              <a:xfrm>
                <a:off x="0" y="0"/>
                <a:ext cx="298953" cy="471961"/>
              </a:xfrm>
              <a:custGeom>
                <a:avLst/>
                <a:gdLst/>
                <a:ahLst/>
                <a:cxnLst/>
                <a:rect l="l" t="t" r="r" b="b"/>
                <a:pathLst>
                  <a:path w="298953" h="471961">
                    <a:moveTo>
                      <a:pt x="0" y="0"/>
                    </a:moveTo>
                    <a:lnTo>
                      <a:pt x="298953" y="0"/>
                    </a:lnTo>
                    <a:lnTo>
                      <a:pt x="298953" y="471961"/>
                    </a:lnTo>
                    <a:lnTo>
                      <a:pt x="0" y="471961"/>
                    </a:lnTo>
                    <a:close/>
                  </a:path>
                </a:pathLst>
              </a:custGeom>
              <a:solidFill>
                <a:srgbClr val="2B2A2A"/>
              </a:solidFill>
            </p:spPr>
            <p:txBody>
              <a:bodyPr/>
              <a:lstStyle/>
              <a:p>
                <a:endParaRPr lang="en-US"/>
              </a:p>
            </p:txBody>
          </p:sp>
          <p:sp>
            <p:nvSpPr>
              <p:cNvPr id="13" name="TextBox 13"/>
              <p:cNvSpPr txBox="1"/>
              <p:nvPr/>
            </p:nvSpPr>
            <p:spPr>
              <a:xfrm>
                <a:off x="0" y="-57150"/>
                <a:ext cx="298953" cy="529111"/>
              </a:xfrm>
              <a:prstGeom prst="rect">
                <a:avLst/>
              </a:prstGeom>
            </p:spPr>
            <p:txBody>
              <a:bodyPr lIns="52212" tIns="52212" rIns="52212" bIns="52212" rtlCol="0" anchor="ctr"/>
              <a:lstStyle/>
              <a:p>
                <a:pPr algn="ctr">
                  <a:lnSpc>
                    <a:spcPts val="3359"/>
                  </a:lnSpc>
                </a:pPr>
                <a:endParaRPr/>
              </a:p>
            </p:txBody>
          </p:sp>
        </p:grpSp>
        <p:grpSp>
          <p:nvGrpSpPr>
            <p:cNvPr id="14" name="Group 14"/>
            <p:cNvGrpSpPr/>
            <p:nvPr/>
          </p:nvGrpSpPr>
          <p:grpSpPr>
            <a:xfrm rot="8226195">
              <a:off x="1625033" y="483151"/>
              <a:ext cx="1555512" cy="2455709"/>
              <a:chOff x="0" y="0"/>
              <a:chExt cx="298953" cy="471961"/>
            </a:xfrm>
          </p:grpSpPr>
          <p:sp>
            <p:nvSpPr>
              <p:cNvPr id="15" name="Freeform 15"/>
              <p:cNvSpPr/>
              <p:nvPr/>
            </p:nvSpPr>
            <p:spPr>
              <a:xfrm>
                <a:off x="0" y="0"/>
                <a:ext cx="298953" cy="471961"/>
              </a:xfrm>
              <a:custGeom>
                <a:avLst/>
                <a:gdLst/>
                <a:ahLst/>
                <a:cxnLst/>
                <a:rect l="l" t="t" r="r" b="b"/>
                <a:pathLst>
                  <a:path w="298953" h="471961">
                    <a:moveTo>
                      <a:pt x="0" y="0"/>
                    </a:moveTo>
                    <a:lnTo>
                      <a:pt x="298953" y="0"/>
                    </a:lnTo>
                    <a:lnTo>
                      <a:pt x="298953" y="471961"/>
                    </a:lnTo>
                    <a:lnTo>
                      <a:pt x="0" y="471961"/>
                    </a:lnTo>
                    <a:close/>
                  </a:path>
                </a:pathLst>
              </a:custGeom>
              <a:solidFill>
                <a:srgbClr val="2B2A2A"/>
              </a:solidFill>
            </p:spPr>
            <p:txBody>
              <a:bodyPr/>
              <a:lstStyle/>
              <a:p>
                <a:endParaRPr lang="en-US"/>
              </a:p>
            </p:txBody>
          </p:sp>
          <p:sp>
            <p:nvSpPr>
              <p:cNvPr id="16" name="TextBox 16"/>
              <p:cNvSpPr txBox="1"/>
              <p:nvPr/>
            </p:nvSpPr>
            <p:spPr>
              <a:xfrm>
                <a:off x="0" y="-57150"/>
                <a:ext cx="298953" cy="529111"/>
              </a:xfrm>
              <a:prstGeom prst="rect">
                <a:avLst/>
              </a:prstGeom>
            </p:spPr>
            <p:txBody>
              <a:bodyPr lIns="52212" tIns="52212" rIns="52212" bIns="52212" rtlCol="0" anchor="ctr"/>
              <a:lstStyle/>
              <a:p>
                <a:pPr algn="ctr">
                  <a:lnSpc>
                    <a:spcPts val="3359"/>
                  </a:lnSpc>
                </a:pPr>
                <a:endParaRPr/>
              </a:p>
            </p:txBody>
          </p:sp>
        </p:grpSp>
      </p:grpSp>
      <p:sp>
        <p:nvSpPr>
          <p:cNvPr id="17" name="Freeform 17"/>
          <p:cNvSpPr/>
          <p:nvPr/>
        </p:nvSpPr>
        <p:spPr>
          <a:xfrm>
            <a:off x="6441977" y="5461878"/>
            <a:ext cx="809625" cy="789312"/>
          </a:xfrm>
          <a:custGeom>
            <a:avLst/>
            <a:gdLst/>
            <a:ahLst/>
            <a:cxnLst/>
            <a:rect l="l" t="t" r="r" b="b"/>
            <a:pathLst>
              <a:path w="809625" h="789312">
                <a:moveTo>
                  <a:pt x="0" y="0"/>
                </a:moveTo>
                <a:lnTo>
                  <a:pt x="809625" y="0"/>
                </a:lnTo>
                <a:lnTo>
                  <a:pt x="809625" y="789312"/>
                </a:lnTo>
                <a:lnTo>
                  <a:pt x="0" y="789312"/>
                </a:lnTo>
                <a:lnTo>
                  <a:pt x="0" y="0"/>
                </a:lnTo>
                <a:close/>
              </a:path>
            </a:pathLst>
          </a:custGeom>
          <a:blipFill>
            <a:blip r:embed="rId6">
              <a:extLst>
                <a:ext uri="{96DAC541-7B7A-43D3-8B79-37D633B846F1}">
                  <asvg:svgBlip xmlns:asvg="http://schemas.microsoft.com/office/drawing/2016/SVG/main" r:embed="rId7"/>
                </a:ext>
              </a:extLst>
            </a:blip>
            <a:stretch>
              <a:fillRect l="-1579" t="-2076" r="-1362" b="-3514"/>
            </a:stretch>
          </a:blipFill>
          <a:ln cap="sq">
            <a:noFill/>
            <a:prstDash val="solid"/>
            <a:miter/>
          </a:ln>
        </p:spPr>
        <p:txBody>
          <a:bodyPr/>
          <a:lstStyle/>
          <a:p>
            <a:endParaRPr lang="en-US"/>
          </a:p>
        </p:txBody>
      </p:sp>
      <p:sp>
        <p:nvSpPr>
          <p:cNvPr id="18" name="Freeform 18"/>
          <p:cNvSpPr/>
          <p:nvPr/>
        </p:nvSpPr>
        <p:spPr>
          <a:xfrm>
            <a:off x="10638190" y="5449657"/>
            <a:ext cx="809625" cy="813756"/>
          </a:xfrm>
          <a:custGeom>
            <a:avLst/>
            <a:gdLst/>
            <a:ahLst/>
            <a:cxnLst/>
            <a:rect l="l" t="t" r="r" b="b"/>
            <a:pathLst>
              <a:path w="809625" h="813756">
                <a:moveTo>
                  <a:pt x="0" y="0"/>
                </a:moveTo>
                <a:lnTo>
                  <a:pt x="809625" y="0"/>
                </a:lnTo>
                <a:lnTo>
                  <a:pt x="809625" y="813755"/>
                </a:lnTo>
                <a:lnTo>
                  <a:pt x="0" y="813755"/>
                </a:lnTo>
                <a:lnTo>
                  <a:pt x="0" y="0"/>
                </a:lnTo>
                <a:close/>
              </a:path>
            </a:pathLst>
          </a:custGeom>
          <a:blipFill>
            <a:blip r:embed="rId8">
              <a:extLst>
                <a:ext uri="{96DAC541-7B7A-43D3-8B79-37D633B846F1}">
                  <asvg:svgBlip xmlns:asvg="http://schemas.microsoft.com/office/drawing/2016/SVG/main" r:embed="rId9"/>
                </a:ext>
              </a:extLst>
            </a:blip>
            <a:stretch>
              <a:fillRect l="-1742" t="-1421" r="-1872" b="-1668"/>
            </a:stretch>
          </a:blipFill>
          <a:ln cap="sq">
            <a:noFill/>
            <a:prstDash val="solid"/>
            <a:miter/>
          </a:ln>
        </p:spPr>
        <p:txBody>
          <a:bodyPr/>
          <a:lstStyle/>
          <a:p>
            <a:endParaRPr lang="en-US"/>
          </a:p>
        </p:txBody>
      </p:sp>
      <p:sp>
        <p:nvSpPr>
          <p:cNvPr id="19" name="Freeform 19"/>
          <p:cNvSpPr/>
          <p:nvPr/>
        </p:nvSpPr>
        <p:spPr>
          <a:xfrm rot="5400000">
            <a:off x="17797907" y="5199558"/>
            <a:ext cx="610232" cy="369953"/>
          </a:xfrm>
          <a:custGeom>
            <a:avLst/>
            <a:gdLst/>
            <a:ahLst/>
            <a:cxnLst/>
            <a:rect l="l" t="t" r="r" b="b"/>
            <a:pathLst>
              <a:path w="610232" h="369953">
                <a:moveTo>
                  <a:pt x="0" y="0"/>
                </a:moveTo>
                <a:lnTo>
                  <a:pt x="610232" y="0"/>
                </a:lnTo>
                <a:lnTo>
                  <a:pt x="610232" y="369953"/>
                </a:lnTo>
                <a:lnTo>
                  <a:pt x="0" y="36995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0" name="Freeform 20"/>
          <p:cNvSpPr/>
          <p:nvPr/>
        </p:nvSpPr>
        <p:spPr>
          <a:xfrm>
            <a:off x="6314115" y="3894458"/>
            <a:ext cx="937488" cy="937488"/>
          </a:xfrm>
          <a:custGeom>
            <a:avLst/>
            <a:gdLst/>
            <a:ahLst/>
            <a:cxnLst/>
            <a:rect l="l" t="t" r="r" b="b"/>
            <a:pathLst>
              <a:path w="937488" h="937488">
                <a:moveTo>
                  <a:pt x="0" y="0"/>
                </a:moveTo>
                <a:lnTo>
                  <a:pt x="937487" y="0"/>
                </a:lnTo>
                <a:lnTo>
                  <a:pt x="937487" y="937488"/>
                </a:lnTo>
                <a:lnTo>
                  <a:pt x="0" y="93748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21" name="Freeform 21"/>
          <p:cNvSpPr/>
          <p:nvPr/>
        </p:nvSpPr>
        <p:spPr>
          <a:xfrm>
            <a:off x="10613362" y="3812286"/>
            <a:ext cx="859281" cy="859281"/>
          </a:xfrm>
          <a:custGeom>
            <a:avLst/>
            <a:gdLst/>
            <a:ahLst/>
            <a:cxnLst/>
            <a:rect l="l" t="t" r="r" b="b"/>
            <a:pathLst>
              <a:path w="859281" h="859281">
                <a:moveTo>
                  <a:pt x="0" y="0"/>
                </a:moveTo>
                <a:lnTo>
                  <a:pt x="859281" y="0"/>
                </a:lnTo>
                <a:lnTo>
                  <a:pt x="859281" y="859280"/>
                </a:lnTo>
                <a:lnTo>
                  <a:pt x="0" y="85928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22" name="Freeform 22"/>
          <p:cNvSpPr/>
          <p:nvPr/>
        </p:nvSpPr>
        <p:spPr>
          <a:xfrm>
            <a:off x="9288211" y="6712077"/>
            <a:ext cx="985457" cy="917707"/>
          </a:xfrm>
          <a:custGeom>
            <a:avLst/>
            <a:gdLst/>
            <a:ahLst/>
            <a:cxnLst/>
            <a:rect l="l" t="t" r="r" b="b"/>
            <a:pathLst>
              <a:path w="985457" h="917707">
                <a:moveTo>
                  <a:pt x="0" y="0"/>
                </a:moveTo>
                <a:lnTo>
                  <a:pt x="985458" y="0"/>
                </a:lnTo>
                <a:lnTo>
                  <a:pt x="985458" y="917707"/>
                </a:lnTo>
                <a:lnTo>
                  <a:pt x="0" y="917707"/>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23" name="Freeform 23"/>
          <p:cNvSpPr/>
          <p:nvPr/>
        </p:nvSpPr>
        <p:spPr>
          <a:xfrm>
            <a:off x="7569471" y="6520666"/>
            <a:ext cx="896514" cy="1109118"/>
          </a:xfrm>
          <a:custGeom>
            <a:avLst/>
            <a:gdLst/>
            <a:ahLst/>
            <a:cxnLst/>
            <a:rect l="l" t="t" r="r" b="b"/>
            <a:pathLst>
              <a:path w="896514" h="1109118">
                <a:moveTo>
                  <a:pt x="0" y="0"/>
                </a:moveTo>
                <a:lnTo>
                  <a:pt x="896514" y="0"/>
                </a:lnTo>
                <a:lnTo>
                  <a:pt x="896514" y="1109118"/>
                </a:lnTo>
                <a:lnTo>
                  <a:pt x="0" y="110911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24" name="TextBox 24"/>
          <p:cNvSpPr txBox="1"/>
          <p:nvPr/>
        </p:nvSpPr>
        <p:spPr>
          <a:xfrm>
            <a:off x="1594987" y="3778685"/>
            <a:ext cx="4187240" cy="396174"/>
          </a:xfrm>
          <a:prstGeom prst="rect">
            <a:avLst/>
          </a:prstGeom>
        </p:spPr>
        <p:txBody>
          <a:bodyPr lIns="0" tIns="0" rIns="0" bIns="0" rtlCol="0" anchor="t">
            <a:spAutoFit/>
          </a:bodyPr>
          <a:lstStyle/>
          <a:p>
            <a:pPr algn="r">
              <a:lnSpc>
                <a:spcPts val="3359"/>
              </a:lnSpc>
            </a:pPr>
            <a:r>
              <a:rPr lang="en-US" sz="2400" b="1">
                <a:solidFill>
                  <a:srgbClr val="3EDAD8"/>
                </a:solidFill>
                <a:latin typeface="Montserrat Semi-Bold"/>
                <a:ea typeface="Montserrat Semi-Bold"/>
                <a:cs typeface="Montserrat Semi-Bold"/>
                <a:sym typeface="Montserrat Semi-Bold"/>
              </a:rPr>
              <a:t>Urgency vs Importance:</a:t>
            </a:r>
          </a:p>
        </p:txBody>
      </p:sp>
      <p:sp>
        <p:nvSpPr>
          <p:cNvPr id="25" name="TextBox 25"/>
          <p:cNvSpPr txBox="1"/>
          <p:nvPr/>
        </p:nvSpPr>
        <p:spPr>
          <a:xfrm>
            <a:off x="1469979" y="5651550"/>
            <a:ext cx="4312247" cy="1234242"/>
          </a:xfrm>
          <a:prstGeom prst="rect">
            <a:avLst/>
          </a:prstGeom>
        </p:spPr>
        <p:txBody>
          <a:bodyPr lIns="0" tIns="0" rIns="0" bIns="0" rtlCol="0" anchor="t">
            <a:spAutoFit/>
          </a:bodyPr>
          <a:lstStyle/>
          <a:p>
            <a:pPr algn="r">
              <a:lnSpc>
                <a:spcPts val="3359"/>
              </a:lnSpc>
            </a:pPr>
            <a:r>
              <a:rPr lang="en-US" sz="2400" b="1">
                <a:solidFill>
                  <a:srgbClr val="3EDAD8"/>
                </a:solidFill>
                <a:latin typeface="Montserrat Semi-Bold"/>
                <a:ea typeface="Montserrat Semi-Bold"/>
                <a:cs typeface="Montserrat Semi-Bold"/>
                <a:sym typeface="Montserrat Semi-Bold"/>
              </a:rPr>
              <a:t>Daily and Weekly Planning and Time Blocking </a:t>
            </a:r>
          </a:p>
          <a:p>
            <a:pPr algn="r">
              <a:lnSpc>
                <a:spcPts val="3359"/>
              </a:lnSpc>
            </a:pPr>
            <a:endParaRPr lang="en-US" sz="2400" b="1">
              <a:solidFill>
                <a:srgbClr val="3EDAD8"/>
              </a:solidFill>
              <a:latin typeface="Montserrat Semi-Bold"/>
              <a:ea typeface="Montserrat Semi-Bold"/>
              <a:cs typeface="Montserrat Semi-Bold"/>
              <a:sym typeface="Montserrat Semi-Bold"/>
            </a:endParaRPr>
          </a:p>
        </p:txBody>
      </p:sp>
      <p:sp>
        <p:nvSpPr>
          <p:cNvPr id="26" name="TextBox 26"/>
          <p:cNvSpPr txBox="1"/>
          <p:nvPr/>
        </p:nvSpPr>
        <p:spPr>
          <a:xfrm>
            <a:off x="2554058" y="7979992"/>
            <a:ext cx="5015412" cy="1234242"/>
          </a:xfrm>
          <a:prstGeom prst="rect">
            <a:avLst/>
          </a:prstGeom>
        </p:spPr>
        <p:txBody>
          <a:bodyPr lIns="0" tIns="0" rIns="0" bIns="0" rtlCol="0" anchor="t">
            <a:spAutoFit/>
          </a:bodyPr>
          <a:lstStyle/>
          <a:p>
            <a:pPr algn="r">
              <a:lnSpc>
                <a:spcPts val="3359"/>
              </a:lnSpc>
            </a:pPr>
            <a:r>
              <a:rPr lang="en-US" sz="2400" b="1">
                <a:solidFill>
                  <a:srgbClr val="3EDAD8"/>
                </a:solidFill>
                <a:latin typeface="Montserrat Semi-Bold"/>
                <a:ea typeface="Montserrat Semi-Bold"/>
                <a:cs typeface="Montserrat Semi-Bold"/>
                <a:sym typeface="Montserrat Semi-Bold"/>
              </a:rPr>
              <a:t>Project Management Software, Prioritization Frameworks </a:t>
            </a:r>
          </a:p>
          <a:p>
            <a:pPr algn="r">
              <a:lnSpc>
                <a:spcPts val="3359"/>
              </a:lnSpc>
            </a:pPr>
            <a:endParaRPr lang="en-US" sz="2400" b="1">
              <a:solidFill>
                <a:srgbClr val="3EDAD8"/>
              </a:solidFill>
              <a:latin typeface="Montserrat Semi-Bold"/>
              <a:ea typeface="Montserrat Semi-Bold"/>
              <a:cs typeface="Montserrat Semi-Bold"/>
              <a:sym typeface="Montserrat Semi-Bold"/>
            </a:endParaRPr>
          </a:p>
        </p:txBody>
      </p:sp>
      <p:sp>
        <p:nvSpPr>
          <p:cNvPr id="27" name="TextBox 27"/>
          <p:cNvSpPr txBox="1"/>
          <p:nvPr/>
        </p:nvSpPr>
        <p:spPr>
          <a:xfrm>
            <a:off x="10183769" y="8024058"/>
            <a:ext cx="5043437" cy="1234242"/>
          </a:xfrm>
          <a:prstGeom prst="rect">
            <a:avLst/>
          </a:prstGeom>
        </p:spPr>
        <p:txBody>
          <a:bodyPr lIns="0" tIns="0" rIns="0" bIns="0" rtlCol="0" anchor="t">
            <a:spAutoFit/>
          </a:bodyPr>
          <a:lstStyle/>
          <a:p>
            <a:pPr algn="l">
              <a:lnSpc>
                <a:spcPts val="3359"/>
              </a:lnSpc>
            </a:pPr>
            <a:r>
              <a:rPr lang="en-US" sz="2400" b="1">
                <a:solidFill>
                  <a:srgbClr val="3EDAD8"/>
                </a:solidFill>
                <a:latin typeface="Montserrat Semi-Bold"/>
                <a:ea typeface="Montserrat Semi-Bold"/>
                <a:cs typeface="Montserrat Semi-Bold"/>
                <a:sym typeface="Montserrat Semi-Bold"/>
              </a:rPr>
              <a:t>Stakeholder Engagement, Team Coordination</a:t>
            </a:r>
          </a:p>
          <a:p>
            <a:pPr algn="l">
              <a:lnSpc>
                <a:spcPts val="3359"/>
              </a:lnSpc>
            </a:pPr>
            <a:endParaRPr lang="en-US" sz="2400" b="1">
              <a:solidFill>
                <a:srgbClr val="3EDAD8"/>
              </a:solidFill>
              <a:latin typeface="Montserrat Semi-Bold"/>
              <a:ea typeface="Montserrat Semi-Bold"/>
              <a:cs typeface="Montserrat Semi-Bold"/>
              <a:sym typeface="Montserrat Semi-Bold"/>
            </a:endParaRPr>
          </a:p>
        </p:txBody>
      </p:sp>
      <p:sp>
        <p:nvSpPr>
          <p:cNvPr id="28" name="TextBox 28"/>
          <p:cNvSpPr txBox="1"/>
          <p:nvPr/>
        </p:nvSpPr>
        <p:spPr>
          <a:xfrm>
            <a:off x="12086902" y="5945446"/>
            <a:ext cx="3140305" cy="396174"/>
          </a:xfrm>
          <a:prstGeom prst="rect">
            <a:avLst/>
          </a:prstGeom>
        </p:spPr>
        <p:txBody>
          <a:bodyPr lIns="0" tIns="0" rIns="0" bIns="0" rtlCol="0" anchor="t">
            <a:spAutoFit/>
          </a:bodyPr>
          <a:lstStyle/>
          <a:p>
            <a:pPr algn="l">
              <a:lnSpc>
                <a:spcPts val="3359"/>
              </a:lnSpc>
            </a:pPr>
            <a:r>
              <a:rPr lang="en-US" sz="2400" b="1">
                <a:solidFill>
                  <a:srgbClr val="3EDAD8"/>
                </a:solidFill>
                <a:latin typeface="Montserrat Semi-Bold"/>
                <a:ea typeface="Montserrat Semi-Bold"/>
                <a:cs typeface="Montserrat Semi-Bold"/>
                <a:sym typeface="Montserrat Semi-Bold"/>
              </a:rPr>
              <a:t>Coping Strategies</a:t>
            </a:r>
          </a:p>
        </p:txBody>
      </p:sp>
      <p:sp>
        <p:nvSpPr>
          <p:cNvPr id="29" name="TextBox 29"/>
          <p:cNvSpPr txBox="1"/>
          <p:nvPr/>
        </p:nvSpPr>
        <p:spPr>
          <a:xfrm>
            <a:off x="12106506" y="3856358"/>
            <a:ext cx="3140305" cy="815208"/>
          </a:xfrm>
          <a:prstGeom prst="rect">
            <a:avLst/>
          </a:prstGeom>
        </p:spPr>
        <p:txBody>
          <a:bodyPr lIns="0" tIns="0" rIns="0" bIns="0" rtlCol="0" anchor="t">
            <a:spAutoFit/>
          </a:bodyPr>
          <a:lstStyle/>
          <a:p>
            <a:pPr algn="l">
              <a:lnSpc>
                <a:spcPts val="3359"/>
              </a:lnSpc>
            </a:pPr>
            <a:r>
              <a:rPr lang="en-US" sz="2400" b="1">
                <a:solidFill>
                  <a:srgbClr val="3EDAD8"/>
                </a:solidFill>
                <a:latin typeface="Montserrat Semi-Bold"/>
                <a:ea typeface="Montserrat Semi-Bold"/>
                <a:cs typeface="Montserrat Semi-Bold"/>
                <a:sym typeface="Montserrat Semi-Bold"/>
              </a:rPr>
              <a:t>Examples and Results</a:t>
            </a:r>
          </a:p>
        </p:txBody>
      </p:sp>
      <p:sp>
        <p:nvSpPr>
          <p:cNvPr id="30" name="TextBox 30"/>
          <p:cNvSpPr txBox="1"/>
          <p:nvPr/>
        </p:nvSpPr>
        <p:spPr>
          <a:xfrm>
            <a:off x="5577274" y="1014109"/>
            <a:ext cx="6751836" cy="596331"/>
          </a:xfrm>
          <a:prstGeom prst="rect">
            <a:avLst/>
          </a:prstGeom>
        </p:spPr>
        <p:txBody>
          <a:bodyPr lIns="0" tIns="0" rIns="0" bIns="0" rtlCol="0" anchor="t">
            <a:spAutoFit/>
          </a:bodyPr>
          <a:lstStyle/>
          <a:p>
            <a:pPr algn="ctr">
              <a:lnSpc>
                <a:spcPts val="4620"/>
              </a:lnSpc>
              <a:spcBef>
                <a:spcPct val="0"/>
              </a:spcBef>
            </a:pPr>
            <a:r>
              <a:rPr lang="en-US" sz="4200" b="1">
                <a:solidFill>
                  <a:srgbClr val="18B5D9"/>
                </a:solidFill>
                <a:latin typeface="Poppins Bold"/>
                <a:ea typeface="Poppins Bold"/>
                <a:cs typeface="Poppins Bold"/>
                <a:sym typeface="Poppins Bold"/>
              </a:rPr>
              <a:t>STRUCTURING ANSWERS</a:t>
            </a:r>
          </a:p>
        </p:txBody>
      </p:sp>
      <p:sp>
        <p:nvSpPr>
          <p:cNvPr id="31" name="TextBox 31"/>
          <p:cNvSpPr txBox="1"/>
          <p:nvPr/>
        </p:nvSpPr>
        <p:spPr>
          <a:xfrm>
            <a:off x="7569471" y="4700141"/>
            <a:ext cx="2767442" cy="947464"/>
          </a:xfrm>
          <a:prstGeom prst="rect">
            <a:avLst/>
          </a:prstGeom>
        </p:spPr>
        <p:txBody>
          <a:bodyPr lIns="0" tIns="0" rIns="0" bIns="0" rtlCol="0" anchor="t">
            <a:spAutoFit/>
          </a:bodyPr>
          <a:lstStyle/>
          <a:p>
            <a:pPr algn="ctr">
              <a:lnSpc>
                <a:spcPts val="3700"/>
              </a:lnSpc>
              <a:spcBef>
                <a:spcPct val="0"/>
              </a:spcBef>
            </a:pPr>
            <a:r>
              <a:rPr lang="en-US" sz="3363" b="1">
                <a:solidFill>
                  <a:srgbClr val="15E8C2"/>
                </a:solidFill>
                <a:latin typeface="Poppins Bold"/>
                <a:ea typeface="Poppins Bold"/>
                <a:cs typeface="Poppins Bold"/>
                <a:sym typeface="Poppins Bold"/>
              </a:rPr>
              <a:t>P</a:t>
            </a:r>
            <a:r>
              <a:rPr lang="en-US" sz="3363" b="1">
                <a:solidFill>
                  <a:srgbClr val="AA0FF0"/>
                </a:solidFill>
                <a:latin typeface="Poppins Bold"/>
                <a:ea typeface="Poppins Bold"/>
                <a:cs typeface="Poppins Bold"/>
                <a:sym typeface="Poppins Bold"/>
              </a:rPr>
              <a:t>A</a:t>
            </a:r>
            <a:r>
              <a:rPr lang="en-US" sz="3363" b="1">
                <a:solidFill>
                  <a:srgbClr val="C6A237"/>
                </a:solidFill>
                <a:latin typeface="Poppins Bold"/>
                <a:ea typeface="Poppins Bold"/>
                <a:cs typeface="Poppins Bold"/>
                <a:sym typeface="Poppins Bold"/>
              </a:rPr>
              <a:t>R</a:t>
            </a:r>
            <a:r>
              <a:rPr lang="en-US" sz="3363" b="1">
                <a:solidFill>
                  <a:srgbClr val="15E8C2"/>
                </a:solidFill>
                <a:latin typeface="Poppins Bold"/>
                <a:ea typeface="Poppins Bold"/>
                <a:cs typeface="Poppins Bold"/>
                <a:sym typeface="Poppins Bold"/>
              </a:rPr>
              <a:t>/ </a:t>
            </a:r>
            <a:r>
              <a:rPr lang="en-US" sz="3363" b="1">
                <a:solidFill>
                  <a:srgbClr val="FF5757"/>
                </a:solidFill>
                <a:latin typeface="Poppins Bold"/>
                <a:ea typeface="Poppins Bold"/>
                <a:cs typeface="Poppins Bold"/>
                <a:sym typeface="Poppins Bold"/>
              </a:rPr>
              <a:t>S</a:t>
            </a:r>
            <a:r>
              <a:rPr lang="en-US" sz="3363" b="1">
                <a:solidFill>
                  <a:srgbClr val="CB6CE6"/>
                </a:solidFill>
                <a:latin typeface="Poppins Bold"/>
                <a:ea typeface="Poppins Bold"/>
                <a:cs typeface="Poppins Bold"/>
                <a:sym typeface="Poppins Bold"/>
              </a:rPr>
              <a:t>T</a:t>
            </a:r>
            <a:r>
              <a:rPr lang="en-US" sz="3363" b="1">
                <a:solidFill>
                  <a:srgbClr val="95C740"/>
                </a:solidFill>
                <a:latin typeface="Poppins Bold"/>
                <a:ea typeface="Poppins Bold"/>
                <a:cs typeface="Poppins Bold"/>
                <a:sym typeface="Poppins Bold"/>
              </a:rPr>
              <a:t>A</a:t>
            </a:r>
            <a:r>
              <a:rPr lang="en-US" sz="3363" b="1">
                <a:solidFill>
                  <a:srgbClr val="1E1E1E"/>
                </a:solidFill>
                <a:latin typeface="Poppins Bold"/>
                <a:ea typeface="Poppins Bold"/>
                <a:cs typeface="Poppins Bold"/>
                <a:sym typeface="Poppins Bold"/>
              </a:rPr>
              <a:t>R</a:t>
            </a:r>
            <a:r>
              <a:rPr lang="en-US" sz="3363" b="1">
                <a:solidFill>
                  <a:srgbClr val="15E8C2"/>
                </a:solidFill>
                <a:latin typeface="Poppins Bold"/>
                <a:ea typeface="Poppins Bold"/>
                <a:cs typeface="Poppins Bold"/>
                <a:sym typeface="Poppins Bold"/>
              </a:rPr>
              <a:t> </a:t>
            </a:r>
            <a:r>
              <a:rPr lang="en-US" sz="3363" b="1">
                <a:solidFill>
                  <a:srgbClr val="2B2A2A"/>
                </a:solidFill>
                <a:latin typeface="Poppins Bold"/>
                <a:ea typeface="Poppins Bold"/>
                <a:cs typeface="Poppins Bold"/>
                <a:sym typeface="Poppins Bold"/>
              </a:rPr>
              <a:t>FORMAT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099010" y="506074"/>
            <a:ext cx="5232025"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SAMPLE ANSWER</a:t>
            </a:r>
          </a:p>
        </p:txBody>
      </p:sp>
      <p:sp>
        <p:nvSpPr>
          <p:cNvPr id="3" name="Freeform 3"/>
          <p:cNvSpPr/>
          <p:nvPr/>
        </p:nvSpPr>
        <p:spPr>
          <a:xfrm>
            <a:off x="641992" y="22446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859563" y="1804136"/>
            <a:ext cx="16247438" cy="7982942"/>
          </a:xfrm>
          <a:prstGeom prst="rect">
            <a:avLst/>
          </a:prstGeom>
        </p:spPr>
        <p:txBody>
          <a:bodyPr lIns="0" tIns="0" rIns="0" bIns="0" rtlCol="0" anchor="t">
            <a:spAutoFit/>
          </a:bodyPr>
          <a:lstStyle/>
          <a:p>
            <a:pPr algn="just">
              <a:lnSpc>
                <a:spcPts val="4200"/>
              </a:lnSpc>
            </a:pPr>
            <a:r>
              <a:rPr lang="en-US" sz="3000">
                <a:solidFill>
                  <a:srgbClr val="BF4949"/>
                </a:solidFill>
                <a:latin typeface="Montserrat"/>
                <a:ea typeface="Montserrat"/>
                <a:cs typeface="Montserrat"/>
                <a:sym typeface="Montserrat"/>
              </a:rPr>
              <a:t>I was once assigned to work on different projects at the same time</a:t>
            </a:r>
            <a:r>
              <a:rPr lang="en-US" sz="3000">
                <a:solidFill>
                  <a:srgbClr val="FCFCFC"/>
                </a:solidFill>
                <a:latin typeface="Montserrat"/>
                <a:ea typeface="Montserrat"/>
                <a:cs typeface="Montserrat"/>
                <a:sym typeface="Montserrat"/>
              </a:rPr>
              <a:t>. Each project had its own deadlines and requirements. I knew that I had to manage my time and prioritize these projects to ensure that all of them were completed on time and met quality standards.</a:t>
            </a:r>
          </a:p>
          <a:p>
            <a:pPr algn="just">
              <a:lnSpc>
                <a:spcPts val="4200"/>
              </a:lnSpc>
            </a:pPr>
            <a:r>
              <a:rPr lang="en-US" sz="3000">
                <a:solidFill>
                  <a:srgbClr val="BF4949"/>
                </a:solidFill>
                <a:latin typeface="Montserrat"/>
                <a:ea typeface="Montserrat"/>
                <a:cs typeface="Montserrat"/>
                <a:sym typeface="Montserrat"/>
              </a:rPr>
              <a:t>For me, making a list of all projects and listing out their deadlines are the first things I have to do. I then</a:t>
            </a:r>
            <a:r>
              <a:rPr lang="en-US" sz="3000">
                <a:solidFill>
                  <a:srgbClr val="FCFCFC"/>
                </a:solidFill>
                <a:latin typeface="Montserrat"/>
                <a:ea typeface="Montserrat"/>
                <a:cs typeface="Montserrat"/>
                <a:sym typeface="Montserrat"/>
              </a:rPr>
              <a:t> assessed the importance of each project based on factors like urgency and impact on the team. </a:t>
            </a:r>
            <a:r>
              <a:rPr lang="en-US" sz="3000">
                <a:solidFill>
                  <a:srgbClr val="BF4949"/>
                </a:solidFill>
                <a:latin typeface="Montserrat"/>
                <a:ea typeface="Montserrat"/>
                <a:cs typeface="Montserrat"/>
                <a:sym typeface="Montserrat"/>
              </a:rPr>
              <a:t>I used a simple system such as</a:t>
            </a:r>
            <a:r>
              <a:rPr lang="en-US" sz="3000">
                <a:solidFill>
                  <a:srgbClr val="FCFCFC"/>
                </a:solidFill>
                <a:latin typeface="Montserrat"/>
                <a:ea typeface="Montserrat"/>
                <a:cs typeface="Montserrat"/>
                <a:sym typeface="Montserrat"/>
              </a:rPr>
              <a:t> the GGle calender: I marked urgent tasks that needed immediate attention and scheduled time blocks for each project. </a:t>
            </a:r>
            <a:r>
              <a:rPr lang="en-US" sz="3000">
                <a:solidFill>
                  <a:srgbClr val="BF4949"/>
                </a:solidFill>
                <a:latin typeface="Montserrat"/>
                <a:ea typeface="Montserrat"/>
                <a:cs typeface="Montserrat"/>
                <a:sym typeface="Montserrat"/>
              </a:rPr>
              <a:t>Communication with my team is a key factor in</a:t>
            </a:r>
            <a:r>
              <a:rPr lang="en-US" sz="3000">
                <a:solidFill>
                  <a:srgbClr val="FCFCFC"/>
                </a:solidFill>
                <a:latin typeface="Montserrat"/>
                <a:ea typeface="Montserrat"/>
                <a:cs typeface="Montserrat"/>
                <a:sym typeface="Montserrat"/>
              </a:rPr>
              <a:t> completing effectively my task because I can understand their priorities and any dependencies. In this way, I could adjust my focus as needed.</a:t>
            </a:r>
          </a:p>
          <a:p>
            <a:pPr algn="just">
              <a:lnSpc>
                <a:spcPts val="4200"/>
              </a:lnSpc>
            </a:pPr>
            <a:r>
              <a:rPr lang="en-US" sz="3000">
                <a:solidFill>
                  <a:srgbClr val="BF4949"/>
                </a:solidFill>
                <a:latin typeface="Montserrat"/>
                <a:ea typeface="Montserrat"/>
                <a:cs typeface="Montserrat"/>
                <a:sym typeface="Montserrat"/>
              </a:rPr>
              <a:t>I was able to </a:t>
            </a:r>
            <a:r>
              <a:rPr lang="en-US" sz="3000">
                <a:solidFill>
                  <a:srgbClr val="FCFCFC"/>
                </a:solidFill>
                <a:latin typeface="Montserrat"/>
                <a:ea typeface="Montserrat"/>
                <a:cs typeface="Montserrat"/>
                <a:sym typeface="Montserrat"/>
              </a:rPr>
              <a:t>complete all projects on time. By clearly prioritizing and managing my time, I helped ensure that we met our goals without sacrificing quality. </a:t>
            </a:r>
            <a:r>
              <a:rPr lang="en-US" sz="3000">
                <a:solidFill>
                  <a:srgbClr val="BF4949"/>
                </a:solidFill>
                <a:latin typeface="Montserrat"/>
                <a:ea typeface="Montserrat"/>
                <a:cs typeface="Montserrat"/>
                <a:sym typeface="Montserrat"/>
              </a:rPr>
              <a:t>This experience taught me the importance of effective prioritization in handling multiple tasks.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11088801"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SENTENCE STRUCTURE TEMPLATES</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891801" y="1902535"/>
            <a:ext cx="16830754" cy="8118132"/>
          </a:xfrm>
          <a:prstGeom prst="rect">
            <a:avLst/>
          </a:prstGeom>
        </p:spPr>
        <p:txBody>
          <a:bodyPr lIns="0" tIns="0" rIns="0" bIns="0" rtlCol="0" anchor="t">
            <a:spAutoFit/>
          </a:bodyPr>
          <a:lstStyle/>
          <a:p>
            <a:pPr marL="712470" lvl="1" indent="-356235" algn="l">
              <a:lnSpc>
                <a:spcPts val="4620"/>
              </a:lnSpc>
              <a:buFont typeface="Arial"/>
              <a:buChar char="•"/>
            </a:pPr>
            <a:r>
              <a:rPr lang="en-US" sz="3300" dirty="0">
                <a:solidFill>
                  <a:srgbClr val="FFFFFF"/>
                </a:solidFill>
                <a:latin typeface="Montserrat"/>
                <a:ea typeface="Montserrat"/>
                <a:cs typeface="Montserrat"/>
                <a:sym typeface="Montserrat"/>
              </a:rPr>
              <a:t>[skills/ system] is crucial in my prioritization process.</a:t>
            </a:r>
          </a:p>
          <a:p>
            <a:pPr marL="712470" lvl="1" indent="-356235" algn="l">
              <a:lnSpc>
                <a:spcPts val="4620"/>
              </a:lnSpc>
              <a:buFont typeface="Arial"/>
              <a:buChar char="•"/>
            </a:pPr>
            <a:r>
              <a:rPr lang="en-US" sz="3300" dirty="0">
                <a:solidFill>
                  <a:srgbClr val="FFFFFF"/>
                </a:solidFill>
                <a:latin typeface="Montserrat"/>
                <a:ea typeface="Montserrat"/>
                <a:cs typeface="Montserrat"/>
                <a:sym typeface="Montserrat"/>
              </a:rPr>
              <a:t>This ensures my priorities align with </a:t>
            </a:r>
            <a:r>
              <a:rPr lang="en-US" sz="3300" dirty="0">
                <a:solidFill>
                  <a:srgbClr val="95C740"/>
                </a:solidFill>
                <a:latin typeface="Montserrat"/>
                <a:ea typeface="Montserrat"/>
                <a:cs typeface="Montserrat"/>
                <a:sym typeface="Montserrat"/>
              </a:rPr>
              <a:t>[describe your expected goals/ project’s goals]</a:t>
            </a:r>
          </a:p>
          <a:p>
            <a:pPr marL="712470" lvl="1" indent="-356235" algn="l">
              <a:lnSpc>
                <a:spcPts val="4620"/>
              </a:lnSpc>
              <a:buFont typeface="Arial"/>
              <a:buChar char="•"/>
            </a:pPr>
            <a:r>
              <a:rPr lang="en-US" sz="3300" dirty="0">
                <a:solidFill>
                  <a:srgbClr val="FFFFFF"/>
                </a:solidFill>
                <a:latin typeface="Montserrat"/>
                <a:ea typeface="Montserrat"/>
                <a:cs typeface="Montserrat"/>
                <a:sym typeface="Montserrat"/>
              </a:rPr>
              <a:t>By prioritizing tasks based on their impact and deadlines, I </a:t>
            </a:r>
            <a:r>
              <a:rPr lang="en-US" sz="3300" dirty="0">
                <a:solidFill>
                  <a:srgbClr val="95C740"/>
                </a:solidFill>
                <a:latin typeface="Montserrat"/>
                <a:ea typeface="Montserrat"/>
                <a:cs typeface="Montserrat"/>
                <a:sym typeface="Montserrat"/>
              </a:rPr>
              <a:t>[what you can achieve]</a:t>
            </a:r>
          </a:p>
          <a:p>
            <a:pPr marL="712470" lvl="1" indent="-356235" algn="l">
              <a:lnSpc>
                <a:spcPts val="4620"/>
              </a:lnSpc>
              <a:buFont typeface="Arial"/>
              <a:buChar char="•"/>
            </a:pPr>
            <a:r>
              <a:rPr lang="en-US" sz="3300" dirty="0">
                <a:solidFill>
                  <a:srgbClr val="FFFFFF"/>
                </a:solidFill>
                <a:latin typeface="Montserrat"/>
                <a:ea typeface="Montserrat"/>
                <a:cs typeface="Montserrat"/>
                <a:sym typeface="Montserrat"/>
              </a:rPr>
              <a:t>Use </a:t>
            </a:r>
            <a:r>
              <a:rPr lang="en-US" sz="3300" dirty="0">
                <a:solidFill>
                  <a:srgbClr val="95C740"/>
                </a:solidFill>
                <a:latin typeface="Montserrat"/>
                <a:ea typeface="Montserrat"/>
                <a:cs typeface="Montserrat"/>
                <a:sym typeface="Montserrat"/>
              </a:rPr>
              <a:t>[tools]</a:t>
            </a:r>
            <a:r>
              <a:rPr lang="en-US" sz="3300" dirty="0">
                <a:solidFill>
                  <a:srgbClr val="FFFFFF"/>
                </a:solidFill>
                <a:latin typeface="Montserrat"/>
                <a:ea typeface="Montserrat"/>
                <a:cs typeface="Montserrat"/>
                <a:sym typeface="Montserrat"/>
              </a:rPr>
              <a:t> to keep track of all my tasks and deadlines</a:t>
            </a:r>
          </a:p>
          <a:p>
            <a:pPr marL="712470" lvl="1" indent="-356235" algn="l">
              <a:lnSpc>
                <a:spcPts val="4620"/>
              </a:lnSpc>
              <a:buFont typeface="Arial"/>
              <a:buChar char="•"/>
            </a:pPr>
            <a:r>
              <a:rPr lang="en-US" sz="3300" dirty="0">
                <a:solidFill>
                  <a:srgbClr val="FFFFFF"/>
                </a:solidFill>
                <a:latin typeface="Montserrat"/>
                <a:ea typeface="Montserrat"/>
                <a:cs typeface="Montserrat"/>
                <a:sym typeface="Montserrat"/>
              </a:rPr>
              <a:t>I make it a point to keep lines of communication open with my manager and co-workers. </a:t>
            </a:r>
          </a:p>
          <a:p>
            <a:pPr marL="712470" lvl="1" indent="-356235" algn="l">
              <a:lnSpc>
                <a:spcPts val="4620"/>
              </a:lnSpc>
              <a:buFont typeface="Arial"/>
              <a:buChar char="•"/>
            </a:pPr>
            <a:r>
              <a:rPr lang="en-US" sz="3300" dirty="0">
                <a:solidFill>
                  <a:srgbClr val="FFFFFF"/>
                </a:solidFill>
                <a:latin typeface="Montserrat"/>
                <a:ea typeface="Montserrat"/>
                <a:cs typeface="Montserrat"/>
                <a:sym typeface="Montserrat"/>
              </a:rPr>
              <a:t>I try to give a heads-up to my team as soon as possible. </a:t>
            </a:r>
          </a:p>
          <a:p>
            <a:pPr marL="712470" lvl="1" indent="-356235" algn="l">
              <a:lnSpc>
                <a:spcPts val="4620"/>
              </a:lnSpc>
              <a:buFont typeface="Arial"/>
              <a:buChar char="•"/>
            </a:pPr>
            <a:r>
              <a:rPr lang="en-US" sz="3300" dirty="0">
                <a:solidFill>
                  <a:srgbClr val="FFFFFF"/>
                </a:solidFill>
                <a:latin typeface="Montserrat"/>
                <a:ea typeface="Montserrat"/>
                <a:cs typeface="Montserrat"/>
                <a:sym typeface="Montserrat"/>
              </a:rPr>
              <a:t>If my workload gets to be unmanageable, I check in with </a:t>
            </a:r>
            <a:r>
              <a:rPr lang="en-US" sz="3300" dirty="0">
                <a:solidFill>
                  <a:srgbClr val="95C740"/>
                </a:solidFill>
                <a:latin typeface="Montserrat"/>
                <a:ea typeface="Montserrat"/>
                <a:cs typeface="Montserrat"/>
                <a:sym typeface="Montserrat"/>
              </a:rPr>
              <a:t>[team/ manager/ boss]</a:t>
            </a:r>
            <a:r>
              <a:rPr lang="en-US" sz="3300" dirty="0">
                <a:solidFill>
                  <a:srgbClr val="FFFFFF"/>
                </a:solidFill>
                <a:latin typeface="Montserrat"/>
                <a:ea typeface="Montserrat"/>
                <a:cs typeface="Montserrat"/>
                <a:sym typeface="Montserrat"/>
              </a:rPr>
              <a:t> about which items can drop to the bottom of the priority list, and then I try to reset expectations about different deadlines.”</a:t>
            </a:r>
          </a:p>
          <a:p>
            <a:pPr marL="712470" lvl="1" indent="-356235" algn="l">
              <a:lnSpc>
                <a:spcPts val="4620"/>
              </a:lnSpc>
              <a:buFont typeface="Arial"/>
              <a:buChar char="•"/>
            </a:pPr>
            <a:r>
              <a:rPr lang="en-US" sz="3300" dirty="0">
                <a:solidFill>
                  <a:srgbClr val="FFFFFF"/>
                </a:solidFill>
                <a:latin typeface="Montserrat"/>
                <a:ea typeface="Montserrat"/>
                <a:cs typeface="Montserrat"/>
                <a:sym typeface="Montserrat"/>
              </a:rPr>
              <a:t>This allows me to </a:t>
            </a:r>
            <a:r>
              <a:rPr lang="en-US" sz="3300" dirty="0">
                <a:solidFill>
                  <a:srgbClr val="95C740"/>
                </a:solidFill>
                <a:latin typeface="Montserrat"/>
                <a:ea typeface="Montserrat"/>
                <a:cs typeface="Montserrat"/>
                <a:sym typeface="Montserrat"/>
              </a:rPr>
              <a:t>[Do something]</a:t>
            </a:r>
          </a:p>
          <a:p>
            <a:pPr algn="l">
              <a:lnSpc>
                <a:spcPts val="4620"/>
              </a:lnSpc>
            </a:pPr>
            <a:endParaRPr lang="en-US" sz="3300" dirty="0">
              <a:solidFill>
                <a:srgbClr val="95C740"/>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B2A2A"/>
        </a:solidFill>
        <a:effectLst/>
      </p:bgPr>
    </p:bg>
    <p:spTree>
      <p:nvGrpSpPr>
        <p:cNvPr id="1" name=""/>
        <p:cNvGrpSpPr/>
        <p:nvPr/>
      </p:nvGrpSpPr>
      <p:grpSpPr>
        <a:xfrm>
          <a:off x="0" y="0"/>
          <a:ext cx="0" cy="0"/>
          <a:chOff x="0" y="0"/>
          <a:chExt cx="0" cy="0"/>
        </a:xfrm>
      </p:grpSpPr>
      <p:sp>
        <p:nvSpPr>
          <p:cNvPr id="2" name="TextBox 2"/>
          <p:cNvSpPr txBox="1"/>
          <p:nvPr/>
        </p:nvSpPr>
        <p:spPr>
          <a:xfrm>
            <a:off x="2153853" y="542256"/>
            <a:ext cx="14939893" cy="1108141"/>
          </a:xfrm>
          <a:prstGeom prst="rect">
            <a:avLst/>
          </a:prstGeom>
        </p:spPr>
        <p:txBody>
          <a:bodyPr lIns="0" tIns="0" rIns="0" bIns="0" rtlCol="0" anchor="t">
            <a:spAutoFit/>
          </a:bodyPr>
          <a:lstStyle/>
          <a:p>
            <a:pPr algn="just">
              <a:lnSpc>
                <a:spcPts val="4399"/>
              </a:lnSpc>
            </a:pPr>
            <a:r>
              <a:rPr lang="en-US" sz="3999" b="1">
                <a:solidFill>
                  <a:srgbClr val="00B9EF"/>
                </a:solidFill>
                <a:latin typeface="Montserrat Bold"/>
                <a:ea typeface="Montserrat Bold"/>
                <a:cs typeface="Montserrat Bold"/>
                <a:sym typeface="Montserrat Bold"/>
              </a:rPr>
              <a:t>Variations of “Tell me about a tough decision you made during a project”</a:t>
            </a:r>
          </a:p>
        </p:txBody>
      </p:sp>
      <p:sp>
        <p:nvSpPr>
          <p:cNvPr id="3" name="Freeform 3"/>
          <p:cNvSpPr/>
          <p:nvPr/>
        </p:nvSpPr>
        <p:spPr>
          <a:xfrm>
            <a:off x="614469" y="639342"/>
            <a:ext cx="1121451" cy="1121451"/>
          </a:xfrm>
          <a:custGeom>
            <a:avLst/>
            <a:gdLst/>
            <a:ahLst/>
            <a:cxnLst/>
            <a:rect l="l" t="t" r="r" b="b"/>
            <a:pathLst>
              <a:path w="1121451" h="1121451">
                <a:moveTo>
                  <a:pt x="0" y="0"/>
                </a:moveTo>
                <a:lnTo>
                  <a:pt x="1121452" y="0"/>
                </a:lnTo>
                <a:lnTo>
                  <a:pt x="1121452" y="1121451"/>
                </a:lnTo>
                <a:lnTo>
                  <a:pt x="0" y="11214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175195" y="2352940"/>
            <a:ext cx="16370317" cy="6905360"/>
          </a:xfrm>
          <a:prstGeom prst="rect">
            <a:avLst/>
          </a:prstGeom>
        </p:spPr>
        <p:txBody>
          <a:bodyPr lIns="0" tIns="0" rIns="0" bIns="0" rtlCol="0" anchor="t">
            <a:spAutoFit/>
          </a:bodyPr>
          <a:lstStyle/>
          <a:p>
            <a:pPr marL="647700" lvl="1" indent="-323850" algn="l">
              <a:lnSpc>
                <a:spcPts val="6900"/>
              </a:lnSpc>
              <a:buFont typeface="Arial"/>
              <a:buChar char="•"/>
            </a:pPr>
            <a:r>
              <a:rPr lang="en-US" sz="3000">
                <a:solidFill>
                  <a:srgbClr val="FCFCFC"/>
                </a:solidFill>
                <a:latin typeface="Montserrat"/>
                <a:ea typeface="Montserrat"/>
                <a:cs typeface="Montserrat"/>
                <a:sym typeface="Montserrat"/>
              </a:rPr>
              <a:t>When you have too much on your plate to complete all the projects in the necessary timeframe, how do you decide what to tackle first?</a:t>
            </a:r>
          </a:p>
          <a:p>
            <a:pPr marL="647700" lvl="1" indent="-323850" algn="l">
              <a:lnSpc>
                <a:spcPts val="6900"/>
              </a:lnSpc>
              <a:buFont typeface="Arial"/>
              <a:buChar char="•"/>
            </a:pPr>
            <a:r>
              <a:rPr lang="en-US" sz="3000">
                <a:solidFill>
                  <a:srgbClr val="FCFCFC"/>
                </a:solidFill>
                <a:latin typeface="Montserrat"/>
                <a:ea typeface="Montserrat"/>
                <a:cs typeface="Montserrat"/>
                <a:sym typeface="Montserrat"/>
              </a:rPr>
              <a:t>What specifically goes into your thought process when determining how to prioritize various tasks?</a:t>
            </a:r>
          </a:p>
          <a:p>
            <a:pPr marL="647700" lvl="1" indent="-323850" algn="l">
              <a:lnSpc>
                <a:spcPts val="6900"/>
              </a:lnSpc>
              <a:buFont typeface="Arial"/>
              <a:buChar char="•"/>
            </a:pPr>
            <a:r>
              <a:rPr lang="en-US" sz="3000">
                <a:solidFill>
                  <a:srgbClr val="FCFCFC"/>
                </a:solidFill>
                <a:latin typeface="Montserrat"/>
                <a:ea typeface="Montserrat"/>
                <a:cs typeface="Montserrat"/>
                <a:sym typeface="Montserrat"/>
              </a:rPr>
              <a:t>What steps do you take when a top-priority project is looking like it won’t be completed by the deadline? How do you handle that?</a:t>
            </a:r>
          </a:p>
          <a:p>
            <a:pPr marL="647700" lvl="1" indent="-323850" algn="l">
              <a:lnSpc>
                <a:spcPts val="6900"/>
              </a:lnSpc>
              <a:buFont typeface="Arial"/>
              <a:buChar char="•"/>
            </a:pPr>
            <a:r>
              <a:rPr lang="en-US" sz="3000">
                <a:solidFill>
                  <a:srgbClr val="FCFCFC"/>
                </a:solidFill>
                <a:latin typeface="Montserrat"/>
                <a:ea typeface="Montserrat"/>
                <a:cs typeface="Montserrat"/>
                <a:sym typeface="Montserrat"/>
              </a:rPr>
              <a:t>How do you communicate the news that a project has slipped and might miss the deadline?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6188994" y="7365830"/>
            <a:ext cx="5556275" cy="1406591"/>
          </a:xfrm>
          <a:prstGeom prst="rect">
            <a:avLst/>
          </a:prstGeom>
        </p:spPr>
        <p:txBody>
          <a:bodyPr lIns="0" tIns="0" rIns="0" bIns="0" rtlCol="0" anchor="t">
            <a:spAutoFit/>
          </a:bodyPr>
          <a:lstStyle/>
          <a:p>
            <a:pPr algn="ctr">
              <a:lnSpc>
                <a:spcPts val="5500"/>
              </a:lnSpc>
            </a:pPr>
            <a:r>
              <a:rPr lang="en-US" sz="5000">
                <a:solidFill>
                  <a:srgbClr val="00B9EF"/>
                </a:solidFill>
                <a:latin typeface="Poppins Bold"/>
                <a:ea typeface="Poppins Bold"/>
                <a:cs typeface="Poppins Bold"/>
                <a:sym typeface="Poppins Bold"/>
              </a:rPr>
              <a:t>BRAINSTORMING</a:t>
            </a:r>
          </a:p>
          <a:p>
            <a:pPr algn="ctr">
              <a:lnSpc>
                <a:spcPts val="5500"/>
              </a:lnSpc>
            </a:pPr>
            <a:r>
              <a:rPr lang="en-US" sz="5000">
                <a:solidFill>
                  <a:srgbClr val="00B9EF"/>
                </a:solidFill>
                <a:latin typeface="Poppins Bold"/>
                <a:ea typeface="Poppins Bold"/>
                <a:cs typeface="Poppins Bold"/>
                <a:sym typeface="Poppins Bold"/>
              </a:rPr>
              <a:t>Writing Time</a:t>
            </a:r>
          </a:p>
        </p:txBody>
      </p:sp>
      <p:sp>
        <p:nvSpPr>
          <p:cNvPr id="3" name="Freeform 3"/>
          <p:cNvSpPr/>
          <p:nvPr/>
        </p:nvSpPr>
        <p:spPr>
          <a:xfrm>
            <a:off x="6643279" y="2370922"/>
            <a:ext cx="4417378" cy="4411856"/>
          </a:xfrm>
          <a:custGeom>
            <a:avLst/>
            <a:gdLst/>
            <a:ahLst/>
            <a:cxnLst/>
            <a:rect l="l" t="t" r="r" b="b"/>
            <a:pathLst>
              <a:path w="4417378" h="4411856">
                <a:moveTo>
                  <a:pt x="0" y="0"/>
                </a:moveTo>
                <a:lnTo>
                  <a:pt x="4417379" y="0"/>
                </a:lnTo>
                <a:lnTo>
                  <a:pt x="4417379" y="4411856"/>
                </a:lnTo>
                <a:lnTo>
                  <a:pt x="0" y="4411856"/>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Freeform 2"/>
          <p:cNvSpPr/>
          <p:nvPr/>
        </p:nvSpPr>
        <p:spPr>
          <a:xfrm>
            <a:off x="6683478" y="2470108"/>
            <a:ext cx="4156364" cy="4114800"/>
          </a:xfrm>
          <a:custGeom>
            <a:avLst/>
            <a:gdLst/>
            <a:ahLst/>
            <a:cxnLst/>
            <a:rect l="l" t="t" r="r" b="b"/>
            <a:pathLst>
              <a:path w="4156364" h="4114800">
                <a:moveTo>
                  <a:pt x="0" y="0"/>
                </a:moveTo>
                <a:lnTo>
                  <a:pt x="4156364" y="0"/>
                </a:lnTo>
                <a:lnTo>
                  <a:pt x="41563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6188994" y="7365830"/>
            <a:ext cx="5556275" cy="1406591"/>
          </a:xfrm>
          <a:prstGeom prst="rect">
            <a:avLst/>
          </a:prstGeom>
        </p:spPr>
        <p:txBody>
          <a:bodyPr lIns="0" tIns="0" rIns="0" bIns="0" rtlCol="0" anchor="t">
            <a:spAutoFit/>
          </a:bodyPr>
          <a:lstStyle/>
          <a:p>
            <a:pPr algn="ctr">
              <a:lnSpc>
                <a:spcPts val="5500"/>
              </a:lnSpc>
            </a:pPr>
            <a:r>
              <a:rPr lang="en-US" sz="5000">
                <a:solidFill>
                  <a:srgbClr val="00B9EF"/>
                </a:solidFill>
                <a:latin typeface="Poppins Bold"/>
                <a:ea typeface="Poppins Bold"/>
                <a:cs typeface="Poppins Bold"/>
                <a:sym typeface="Poppins Bold"/>
              </a:rPr>
              <a:t>KEY POINTS TO TAKEAWAY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4443458" y="3368188"/>
            <a:ext cx="9401084" cy="4238625"/>
          </a:xfrm>
          <a:prstGeom prst="rect">
            <a:avLst/>
          </a:prstGeom>
        </p:spPr>
        <p:txBody>
          <a:bodyPr lIns="0" tIns="0" rIns="0" bIns="0" rtlCol="0" anchor="t">
            <a:spAutoFit/>
          </a:bodyPr>
          <a:lstStyle/>
          <a:p>
            <a:pPr algn="ctr">
              <a:lnSpc>
                <a:spcPts val="16500"/>
              </a:lnSpc>
            </a:pPr>
            <a:r>
              <a:rPr lang="en-US" sz="15000" b="1">
                <a:solidFill>
                  <a:srgbClr val="00B9EF"/>
                </a:solidFill>
                <a:latin typeface="Montserrat Bold"/>
                <a:ea typeface="Montserrat Bold"/>
                <a:cs typeface="Montserrat Bold"/>
                <a:sym typeface="Montserra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TotalTime>
  <Words>1676</Words>
  <Application>Microsoft Office PowerPoint</Application>
  <PresentationFormat>Custom</PresentationFormat>
  <Paragraphs>133</Paragraphs>
  <Slides>25</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25</vt:i4>
      </vt:variant>
    </vt:vector>
  </HeadingPairs>
  <TitlesOfParts>
    <vt:vector size="37" baseType="lpstr">
      <vt:lpstr>Montserrat Classic Bold</vt:lpstr>
      <vt:lpstr>Calibri</vt:lpstr>
      <vt:lpstr>Montserrat Bold</vt:lpstr>
      <vt:lpstr>Montserrat</vt:lpstr>
      <vt:lpstr>Inter Bold</vt:lpstr>
      <vt:lpstr>Arial</vt:lpstr>
      <vt:lpstr>Open Sans Bold</vt:lpstr>
      <vt:lpstr>Montserrat Classic</vt:lpstr>
      <vt:lpstr>Poppins Bold</vt:lpstr>
      <vt:lpstr>Inter</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BEHAVIORAL INTERVIEW - LESSON 7</dc:title>
  <cp:lastModifiedBy>Truyen Le</cp:lastModifiedBy>
  <cp:revision>4</cp:revision>
  <dcterms:created xsi:type="dcterms:W3CDTF">2006-08-16T00:00:00Z</dcterms:created>
  <dcterms:modified xsi:type="dcterms:W3CDTF">2025-07-07T14:35:13Z</dcterms:modified>
  <dc:identifier>DAGZctokUVo</dc:identifier>
</cp:coreProperties>
</file>